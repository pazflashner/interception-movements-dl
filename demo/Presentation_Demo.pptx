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n = 3</c:v>
          </c:tx>
          <c:spPr>
            <a:solidFill>
              <a:srgbClr val="8395A3"/>
            </a:solidFill>
          </c:spPr>
          <c:invertIfNegative val="1"/>
          <c:dLbls>
            <c:dLbl>
              <c:idx val="0"/>
              <c:tx>
                <c:rich>
                  <a:bodyPr/>
                  <a:lstStyle/>
                  <a:p>
                    <a:r>
                      <a:rPr sz="1425">
                        <a:solidFill>
                          <a:srgbClr val="161E2E"/>
                        </a:solidFill>
                        <a:latin typeface="Calibri"/>
                        <a:ea typeface="Calibri"/>
                        <a:cs typeface="Calibri"/>
                      </a:rPr>
                      <a:t> </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A2F-4311-A049-F22D40C36CC7}"/>
                </c:ext>
              </c:extLst>
            </c:dLbl>
            <c:dLbl>
              <c:idx val="1"/>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A2F-4311-A049-F22D40C36CC7}"/>
                </c:ext>
              </c:extLst>
            </c:dLbl>
            <c:dLbl>
              <c:idx val="2"/>
              <c:tx>
                <c:rich>
                  <a:bodyPr/>
                  <a:lstStyle/>
                  <a:p>
                    <a:r>
                      <a:rPr sz="1425">
                        <a:solidFill>
                          <a:srgbClr val="161E2E"/>
                        </a:solidFill>
                        <a:latin typeface="Calibri"/>
                        <a:ea typeface="Calibri"/>
                        <a:cs typeface="Calibri"/>
                      </a:rPr>
                      <a:t>ns</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A2F-4311-A049-F22D40C36CC7}"/>
                </c:ext>
              </c:extLst>
            </c:dLbl>
            <c:dLbl>
              <c:idx val="3"/>
              <c:tx>
                <c:rich>
                  <a:bodyPr/>
                  <a:lstStyle/>
                  <a:p>
                    <a:r>
                      <a:rPr sz="1425">
                        <a:solidFill>
                          <a:srgbClr val="161E2E"/>
                        </a:solidFill>
                        <a:latin typeface="Calibri"/>
                        <a:ea typeface="Calibri"/>
                        <a:cs typeface="Calibri"/>
                      </a:rPr>
                      <a:t>ns</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A2F-4311-A049-F22D40C36CC7}"/>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Data'!$A$2:$A$5</c:f>
              <c:strCache>
                <c:ptCount val="4"/>
                <c:pt idx="0">
                  <c:v>Spline</c:v>
                </c:pt>
                <c:pt idx="1">
                  <c:v>CAE</c:v>
                </c:pt>
                <c:pt idx="2">
                  <c:v>CVAE</c:v>
                </c:pt>
                <c:pt idx="3">
                  <c:v>VAE</c:v>
                </c:pt>
              </c:strCache>
            </c:strRef>
          </c:cat>
          <c:val>
            <c:numRef>
              <c:f>'Chart Data'!$B$2:$B$5</c:f>
              <c:numCache>
                <c:formatCode>0.00</c:formatCode>
                <c:ptCount val="4"/>
                <c:pt idx="0">
                  <c:v>0.10677200000000001</c:v>
                </c:pt>
                <c:pt idx="1">
                  <c:v>0.12718099999999999</c:v>
                </c:pt>
                <c:pt idx="2">
                  <c:v>0.102368</c:v>
                </c:pt>
                <c:pt idx="3">
                  <c:v>0.100478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BA2F-4311-A049-F22D40C36CC7}"/>
            </c:ext>
          </c:extLst>
        </c:ser>
        <c:ser>
          <c:idx val="1"/>
          <c:order val="1"/>
          <c:tx>
            <c:v>n = 8</c:v>
          </c:tx>
          <c:spPr>
            <a:solidFill>
              <a:srgbClr val="087C83"/>
            </a:solidFill>
          </c:spPr>
          <c:invertIfNegative val="1"/>
          <c:dLbls>
            <c:dLbl>
              <c:idx val="0"/>
              <c:tx>
                <c:rich>
                  <a:bodyPr/>
                  <a:lstStyle/>
                  <a:p>
                    <a:r>
                      <a:rPr sz="1425">
                        <a:solidFill>
                          <a:srgbClr val="161E2E"/>
                        </a:solidFill>
                        <a:latin typeface="Calibri"/>
                        <a:ea typeface="Calibri"/>
                        <a:cs typeface="Calibri"/>
                      </a:rPr>
                      <a:t> </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A2F-4311-A049-F22D40C36CC7}"/>
                </c:ext>
              </c:extLst>
            </c:dLbl>
            <c:dLbl>
              <c:idx val="1"/>
              <c:tx>
                <c:rich>
                  <a:bodyPr/>
                  <a:lstStyle/>
                  <a:p>
                    <a:r>
                      <a:rPr sz="1425">
                        <a:solidFill>
                          <a:srgbClr val="161E2E"/>
                        </a:solidFill>
                        <a:latin typeface="Calibri"/>
                        <a:ea typeface="Calibri"/>
                        <a:cs typeface="Calibri"/>
                      </a:rPr>
                      <a:t>ns</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BA2F-4311-A049-F22D40C36CC7}"/>
                </c:ext>
              </c:extLst>
            </c:dLbl>
            <c:dLbl>
              <c:idx val="2"/>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BA2F-4311-A049-F22D40C36CC7}"/>
                </c:ext>
              </c:extLst>
            </c:dLbl>
            <c:dLbl>
              <c:idx val="3"/>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BA2F-4311-A049-F22D40C36CC7}"/>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Data'!$C$2:$C$5</c:f>
              <c:strCache>
                <c:ptCount val="4"/>
                <c:pt idx="0">
                  <c:v>Spline</c:v>
                </c:pt>
                <c:pt idx="1">
                  <c:v>CAE</c:v>
                </c:pt>
                <c:pt idx="2">
                  <c:v>CVAE</c:v>
                </c:pt>
                <c:pt idx="3">
                  <c:v>VAE</c:v>
                </c:pt>
              </c:strCache>
            </c:strRef>
          </c:cat>
          <c:val>
            <c:numRef>
              <c:f>'Chart Data'!$D$2:$D$5</c:f>
              <c:numCache>
                <c:formatCode>0.00</c:formatCode>
                <c:ptCount val="4"/>
                <c:pt idx="0">
                  <c:v>9.8113000000000006E-2</c:v>
                </c:pt>
                <c:pt idx="1">
                  <c:v>9.4698000000000004E-2</c:v>
                </c:pt>
                <c:pt idx="2">
                  <c:v>5.4924000000000001E-2</c:v>
                </c:pt>
                <c:pt idx="3">
                  <c:v>5.4767999999999997E-2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BA2F-4311-A049-F22D40C36CC7}"/>
            </c:ext>
          </c:extLst>
        </c:ser>
        <c:dLbls>
          <c:showLegendKey val="0"/>
          <c:showVal val="0"/>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EE8"/>
            </a:solidFill>
          </a:ln>
        </c:spPr>
        <c:txPr>
          <a:bodyPr anchorCtr="1"/>
          <a:lstStyle/>
          <a:p>
            <a:pPr>
              <a:defRPr sz="1425">
                <a:solidFill>
                  <a:srgbClr val="161E2E"/>
                </a:solidFill>
                <a:latin typeface="Calibri"/>
                <a:ea typeface="Calibri"/>
                <a:cs typeface="Calibri"/>
              </a:defRPr>
            </a:pPr>
            <a:endParaRPr lang="LID4096"/>
          </a:p>
        </c:txPr>
        <c:crossAx val="48672768"/>
        <c:crosses val="autoZero"/>
        <c:auto val="1"/>
        <c:lblAlgn val="ctr"/>
        <c:lblOffset val="100"/>
        <c:noMultiLvlLbl val="1"/>
      </c:catAx>
      <c:valAx>
        <c:axId val="48672768"/>
        <c:scaling>
          <c:orientation val="minMax"/>
          <c:max val="0.16"/>
          <c:min val="0"/>
        </c:scaling>
        <c:delete val="0"/>
        <c:axPos val="l"/>
        <c:majorGridlines>
          <c:spPr>
            <a:ln w="9525">
              <a:solidFill>
                <a:srgbClr val="DFE5EE"/>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350">
                <a:solidFill>
                  <a:srgbClr val="161E2E"/>
                </a:solidFill>
                <a:latin typeface="Calibri"/>
                <a:ea typeface="Calibri"/>
                <a:cs typeface="Calibri"/>
              </a:defRPr>
            </a:pPr>
            <a:endParaRPr lang="LID4096"/>
          </a:p>
        </c:txPr>
        <c:crossAx val="48650112"/>
        <c:crosses val="autoZero"/>
        <c:crossBetween val="between"/>
      </c:valAx>
      <c:spPr>
        <a:solidFill>
          <a:srgbClr val="FFFFFF"/>
        </a:solidFill>
      </c:spPr>
    </c:plotArea>
    <c:legend>
      <c:legendPos val="b"/>
      <c:overlay val="0"/>
      <c:txPr>
        <a:bodyPr anchorCtr="1"/>
        <a:lstStyle/>
        <a:p>
          <a:pPr>
            <a:defRPr sz="1425">
              <a:solidFill>
                <a:srgbClr val="161E2E"/>
              </a:solidFill>
              <a:latin typeface="Calibri"/>
              <a:ea typeface="Calibri"/>
              <a:cs typeface="Calibri"/>
            </a:defRPr>
          </a:pPr>
          <a:endParaRPr lang="LID4096"/>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n = 3</c:v>
          </c:tx>
          <c:spPr>
            <a:solidFill>
              <a:srgbClr val="8395A3"/>
            </a:solidFill>
          </c:spPr>
          <c:invertIfNegative val="1"/>
          <c:dLbls>
            <c:dLbl>
              <c:idx val="0"/>
              <c:tx>
                <c:rich>
                  <a:bodyPr/>
                  <a:lstStyle/>
                  <a:p>
                    <a:r>
                      <a:rPr sz="1425">
                        <a:solidFill>
                          <a:srgbClr val="161E2E"/>
                        </a:solidFill>
                        <a:latin typeface="Calibri"/>
                        <a:ea typeface="Calibri"/>
                        <a:cs typeface="Calibri"/>
                      </a:rPr>
                      <a:t> </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3BD-4CCF-B445-D8E3CDD73556}"/>
                </c:ext>
              </c:extLst>
            </c:dLbl>
            <c:dLbl>
              <c:idx val="1"/>
              <c:tx>
                <c:rich>
                  <a:bodyPr/>
                  <a:lstStyle/>
                  <a:p>
                    <a:r>
                      <a:rPr sz="1425">
                        <a:solidFill>
                          <a:srgbClr val="161E2E"/>
                        </a:solidFill>
                        <a:latin typeface="Calibri"/>
                        <a:ea typeface="Calibri"/>
                        <a:cs typeface="Calibri"/>
                      </a:rPr>
                      <a:t>ns</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3BD-4CCF-B445-D8E3CDD73556}"/>
                </c:ext>
              </c:extLst>
            </c:dLbl>
            <c:dLbl>
              <c:idx val="2"/>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3BD-4CCF-B445-D8E3CDD73556}"/>
                </c:ext>
              </c:extLst>
            </c:dLbl>
            <c:dLbl>
              <c:idx val="3"/>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3BD-4CCF-B445-D8E3CDD73556}"/>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Data'!$A$2:$A$5</c:f>
              <c:strCache>
                <c:ptCount val="4"/>
                <c:pt idx="0">
                  <c:v>Spline</c:v>
                </c:pt>
                <c:pt idx="1">
                  <c:v>CAE</c:v>
                </c:pt>
                <c:pt idx="2">
                  <c:v>CVAE</c:v>
                </c:pt>
                <c:pt idx="3">
                  <c:v>VAE</c:v>
                </c:pt>
              </c:strCache>
            </c:strRef>
          </c:cat>
          <c:val>
            <c:numRef>
              <c:f>'Chart Data'!$B$2:$B$5</c:f>
              <c:numCache>
                <c:formatCode>0.00</c:formatCode>
                <c:ptCount val="4"/>
                <c:pt idx="0">
                  <c:v>7.7684000000000003E-2</c:v>
                </c:pt>
                <c:pt idx="1">
                  <c:v>8.1831000000000001E-2</c:v>
                </c:pt>
                <c:pt idx="2">
                  <c:v>5.7768E-2</c:v>
                </c:pt>
                <c:pt idx="3">
                  <c:v>5.7186000000000001E-2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13BD-4CCF-B445-D8E3CDD73556}"/>
            </c:ext>
          </c:extLst>
        </c:ser>
        <c:ser>
          <c:idx val="1"/>
          <c:order val="1"/>
          <c:tx>
            <c:v>n = 8</c:v>
          </c:tx>
          <c:spPr>
            <a:solidFill>
              <a:srgbClr val="087C83"/>
            </a:solidFill>
          </c:spPr>
          <c:invertIfNegative val="1"/>
          <c:dLbls>
            <c:dLbl>
              <c:idx val="0"/>
              <c:tx>
                <c:rich>
                  <a:bodyPr/>
                  <a:lstStyle/>
                  <a:p>
                    <a:r>
                      <a:rPr sz="1425">
                        <a:solidFill>
                          <a:srgbClr val="161E2E"/>
                        </a:solidFill>
                        <a:latin typeface="Calibri"/>
                        <a:ea typeface="Calibri"/>
                        <a:cs typeface="Calibri"/>
                      </a:rPr>
                      <a:t> </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3BD-4CCF-B445-D8E3CDD73556}"/>
                </c:ext>
              </c:extLst>
            </c:dLbl>
            <c:dLbl>
              <c:idx val="1"/>
              <c:tx>
                <c:rich>
                  <a:bodyPr/>
                  <a:lstStyle/>
                  <a:p>
                    <a:r>
                      <a:rPr sz="1425">
                        <a:solidFill>
                          <a:srgbClr val="161E2E"/>
                        </a:solidFill>
                        <a:latin typeface="Calibri"/>
                        <a:ea typeface="Calibri"/>
                        <a:cs typeface="Calibri"/>
                      </a:rPr>
                      <a:t>ns</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3BD-4CCF-B445-D8E3CDD73556}"/>
                </c:ext>
              </c:extLst>
            </c:dLbl>
            <c:dLbl>
              <c:idx val="2"/>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3BD-4CCF-B445-D8E3CDD73556}"/>
                </c:ext>
              </c:extLst>
            </c:dLbl>
            <c:dLbl>
              <c:idx val="3"/>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13BD-4CCF-B445-D8E3CDD73556}"/>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Data'!$C$2:$C$5</c:f>
              <c:strCache>
                <c:ptCount val="4"/>
                <c:pt idx="0">
                  <c:v>Spline</c:v>
                </c:pt>
                <c:pt idx="1">
                  <c:v>CAE</c:v>
                </c:pt>
                <c:pt idx="2">
                  <c:v>CVAE</c:v>
                </c:pt>
                <c:pt idx="3">
                  <c:v>VAE</c:v>
                </c:pt>
              </c:strCache>
            </c:strRef>
          </c:cat>
          <c:val>
            <c:numRef>
              <c:f>'Chart Data'!$D$2:$D$5</c:f>
              <c:numCache>
                <c:formatCode>0.00</c:formatCode>
                <c:ptCount val="4"/>
                <c:pt idx="0">
                  <c:v>7.0463999999999999E-2</c:v>
                </c:pt>
                <c:pt idx="1">
                  <c:v>6.5198999999999993E-2</c:v>
                </c:pt>
                <c:pt idx="2">
                  <c:v>2.4419E-2</c:v>
                </c:pt>
                <c:pt idx="3">
                  <c:v>2.3807999999999999E-2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13BD-4CCF-B445-D8E3CDD73556}"/>
            </c:ext>
          </c:extLst>
        </c:ser>
        <c:dLbls>
          <c:showLegendKey val="0"/>
          <c:showVal val="0"/>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EE8"/>
            </a:solidFill>
          </a:ln>
        </c:spPr>
        <c:txPr>
          <a:bodyPr anchorCtr="1"/>
          <a:lstStyle/>
          <a:p>
            <a:pPr>
              <a:defRPr sz="1425">
                <a:solidFill>
                  <a:srgbClr val="161E2E"/>
                </a:solidFill>
                <a:latin typeface="Calibri"/>
                <a:ea typeface="Calibri"/>
                <a:cs typeface="Calibri"/>
              </a:defRPr>
            </a:pPr>
            <a:endParaRPr lang="LID4096"/>
          </a:p>
        </c:txPr>
        <c:crossAx val="48672768"/>
        <c:crosses val="autoZero"/>
        <c:auto val="1"/>
        <c:lblAlgn val="ctr"/>
        <c:lblOffset val="100"/>
        <c:noMultiLvlLbl val="1"/>
      </c:catAx>
      <c:valAx>
        <c:axId val="48672768"/>
        <c:scaling>
          <c:orientation val="minMax"/>
          <c:max val="0.1"/>
          <c:min val="0"/>
        </c:scaling>
        <c:delete val="0"/>
        <c:axPos val="l"/>
        <c:majorGridlines>
          <c:spPr>
            <a:ln w="9525">
              <a:solidFill>
                <a:srgbClr val="DFE5EE"/>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350">
                <a:solidFill>
                  <a:srgbClr val="161E2E"/>
                </a:solidFill>
                <a:latin typeface="Calibri"/>
                <a:ea typeface="Calibri"/>
                <a:cs typeface="Calibri"/>
              </a:defRPr>
            </a:pPr>
            <a:endParaRPr lang="LID4096"/>
          </a:p>
        </c:txPr>
        <c:crossAx val="48650112"/>
        <c:crosses val="autoZero"/>
        <c:crossBetween val="between"/>
      </c:valAx>
      <c:spPr>
        <a:solidFill>
          <a:srgbClr val="FFFFFF"/>
        </a:solidFill>
      </c:spPr>
    </c:plotArea>
    <c:legend>
      <c:legendPos val="b"/>
      <c:overlay val="0"/>
      <c:txPr>
        <a:bodyPr anchorCtr="1"/>
        <a:lstStyle/>
        <a:p>
          <a:pPr>
            <a:defRPr sz="1425">
              <a:solidFill>
                <a:srgbClr val="161E2E"/>
              </a:solidFill>
              <a:latin typeface="Calibri"/>
              <a:ea typeface="Calibri"/>
              <a:cs typeface="Calibri"/>
            </a:defRPr>
          </a:pPr>
          <a:endParaRPr lang="LID4096"/>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Own</c:v>
          </c:tx>
          <c:spPr>
            <a:solidFill>
              <a:srgbClr val="087C83"/>
            </a:solidFill>
          </c:spPr>
          <c:invertIfNegative val="1"/>
          <c:dLbls>
            <c:dLbl>
              <c:idx val="0"/>
              <c:tx>
                <c:rich>
                  <a:bodyPr/>
                  <a:lstStyle/>
                  <a:p>
                    <a:r>
                      <a:rPr sz="1425">
                        <a:solidFill>
                          <a:srgbClr val="161E2E"/>
                        </a:solidFill>
                        <a:latin typeface="Calibri"/>
                        <a:ea typeface="Calibri"/>
                        <a:cs typeface="Calibri"/>
                      </a:rPr>
                      <a:t> </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684-459C-9312-E0C6049C09C4}"/>
                </c:ext>
              </c:extLst>
            </c:dLbl>
            <c:dLbl>
              <c:idx val="1"/>
              <c:tx>
                <c:rich>
                  <a:bodyPr/>
                  <a:lstStyle/>
                  <a:p>
                    <a:r>
                      <a:rPr sz="1425">
                        <a:solidFill>
                          <a:srgbClr val="161E2E"/>
                        </a:solidFill>
                        <a:latin typeface="Calibri"/>
                        <a:ea typeface="Calibri"/>
                        <a:cs typeface="Calibri"/>
                      </a:rPr>
                      <a:t> </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684-459C-9312-E0C6049C09C4}"/>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Data'!$A$2:$A$3</c:f>
              <c:strCache>
                <c:ptCount val="2"/>
                <c:pt idx="0">
                  <c:v>CVAE n=8</c:v>
                </c:pt>
                <c:pt idx="1">
                  <c:v>VAE n=8</c:v>
                </c:pt>
              </c:strCache>
            </c:strRef>
          </c:cat>
          <c:val>
            <c:numRef>
              <c:f>'Chart Data'!$B$2:$B$3</c:f>
              <c:numCache>
                <c:formatCode>0.00</c:formatCode>
                <c:ptCount val="2"/>
                <c:pt idx="0">
                  <c:v>0.21940399999999999</c:v>
                </c:pt>
                <c:pt idx="1">
                  <c:v>0.21512100000000001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684-459C-9312-E0C6049C09C4}"/>
            </c:ext>
          </c:extLst>
        </c:ser>
        <c:ser>
          <c:idx val="1"/>
          <c:order val="1"/>
          <c:tx>
            <c:v>Population</c:v>
          </c:tx>
          <c:spPr>
            <a:solidFill>
              <a:srgbClr val="8395A3"/>
            </a:solidFill>
          </c:spPr>
          <c:invertIfNegative val="1"/>
          <c:dLbls>
            <c:dLbl>
              <c:idx val="0"/>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684-459C-9312-E0C6049C09C4}"/>
                </c:ext>
              </c:extLst>
            </c:dLbl>
            <c:dLbl>
              <c:idx val="1"/>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684-459C-9312-E0C6049C09C4}"/>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Data'!$C$2:$C$3</c:f>
              <c:strCache>
                <c:ptCount val="2"/>
                <c:pt idx="0">
                  <c:v>CVAE n=8</c:v>
                </c:pt>
                <c:pt idx="1">
                  <c:v>VAE n=8</c:v>
                </c:pt>
              </c:strCache>
            </c:strRef>
          </c:cat>
          <c:val>
            <c:numRef>
              <c:f>'Chart Data'!$D$2:$D$3</c:f>
              <c:numCache>
                <c:formatCode>0.00</c:formatCode>
                <c:ptCount val="2"/>
                <c:pt idx="0">
                  <c:v>0.289636</c:v>
                </c:pt>
                <c:pt idx="1">
                  <c:v>0.28412599999999999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1684-459C-9312-E0C6049C09C4}"/>
            </c:ext>
          </c:extLst>
        </c:ser>
        <c:ser>
          <c:idx val="2"/>
          <c:order val="2"/>
          <c:tx>
            <c:v>Other people</c:v>
          </c:tx>
          <c:spPr>
            <a:solidFill>
              <a:srgbClr val="B38349"/>
            </a:solidFill>
          </c:spPr>
          <c:invertIfNegative val="1"/>
          <c:dLbls>
            <c:dLbl>
              <c:idx val="0"/>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684-459C-9312-E0C6049C09C4}"/>
                </c:ext>
              </c:extLst>
            </c:dLbl>
            <c:dLbl>
              <c:idx val="1"/>
              <c:tx>
                <c:rich>
                  <a:bodyPr/>
                  <a:lstStyle/>
                  <a:p>
                    <a:r>
                      <a:rPr sz="1425">
                        <a:solidFill>
                          <a:srgbClr val="161E2E"/>
                        </a:solidFill>
                        <a:latin typeface="Calibri"/>
                        <a:ea typeface="Calibri"/>
                        <a:cs typeface="Calibri"/>
                      </a:rPr>
                      <a:t>*</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684-459C-9312-E0C6049C09C4}"/>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Data'!$E$2:$E$3</c:f>
              <c:strCache>
                <c:ptCount val="2"/>
                <c:pt idx="0">
                  <c:v>CVAE n=8</c:v>
                </c:pt>
                <c:pt idx="1">
                  <c:v>VAE n=8</c:v>
                </c:pt>
              </c:strCache>
            </c:strRef>
          </c:cat>
          <c:val>
            <c:numRef>
              <c:f>'Chart Data'!$F$2:$F$3</c:f>
              <c:numCache>
                <c:formatCode>0.00</c:formatCode>
                <c:ptCount val="2"/>
                <c:pt idx="0">
                  <c:v>0.31720300000000001</c:v>
                </c:pt>
                <c:pt idx="1">
                  <c:v>0.31440499999999999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1684-459C-9312-E0C6049C09C4}"/>
            </c:ext>
          </c:extLst>
        </c:ser>
        <c:dLbls>
          <c:showLegendKey val="0"/>
          <c:showVal val="0"/>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6DEE8"/>
            </a:solidFill>
          </a:ln>
        </c:spPr>
        <c:txPr>
          <a:bodyPr anchorCtr="1"/>
          <a:lstStyle/>
          <a:p>
            <a:pPr>
              <a:defRPr sz="1425">
                <a:solidFill>
                  <a:srgbClr val="161E2E"/>
                </a:solidFill>
                <a:latin typeface="Calibri"/>
                <a:ea typeface="Calibri"/>
                <a:cs typeface="Calibri"/>
              </a:defRPr>
            </a:pPr>
            <a:endParaRPr lang="LID4096"/>
          </a:p>
        </c:txPr>
        <c:crossAx val="48672768"/>
        <c:crosses val="autoZero"/>
        <c:auto val="1"/>
        <c:lblAlgn val="ctr"/>
        <c:lblOffset val="100"/>
        <c:noMultiLvlLbl val="1"/>
      </c:catAx>
      <c:valAx>
        <c:axId val="48672768"/>
        <c:scaling>
          <c:orientation val="minMax"/>
          <c:max val="0.38"/>
          <c:min val="0"/>
        </c:scaling>
        <c:delete val="0"/>
        <c:axPos val="l"/>
        <c:majorGridlines>
          <c:spPr>
            <a:ln w="9525">
              <a:solidFill>
                <a:srgbClr val="DFE5EE"/>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350">
                <a:solidFill>
                  <a:srgbClr val="161E2E"/>
                </a:solidFill>
                <a:latin typeface="Calibri"/>
                <a:ea typeface="Calibri"/>
                <a:cs typeface="Calibri"/>
              </a:defRPr>
            </a:pPr>
            <a:endParaRPr lang="LID4096"/>
          </a:p>
        </c:txPr>
        <c:crossAx val="48650112"/>
        <c:crosses val="autoZero"/>
        <c:crossBetween val="between"/>
      </c:valAx>
      <c:spPr>
        <a:solidFill>
          <a:srgbClr val="FFFFFF"/>
        </a:solidFill>
      </c:spPr>
    </c:plotArea>
    <c:legend>
      <c:legendPos val="b"/>
      <c:overlay val="0"/>
      <c:txPr>
        <a:bodyPr anchorCtr="1"/>
        <a:lstStyle/>
        <a:p>
          <a:pPr>
            <a:defRPr sz="1425">
              <a:solidFill>
                <a:srgbClr val="161E2E"/>
              </a:solidFill>
              <a:latin typeface="Calibri"/>
              <a:ea typeface="Calibri"/>
              <a:cs typeface="Calibri"/>
            </a:defRPr>
          </a:pPr>
          <a:endParaRPr lang="LID4096"/>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DC5B5A-12B0-4C01-8FD8-A1394BFFB4F0}" type="datetimeFigureOut">
              <a:rPr lang="LID4096" smtClean="0"/>
              <a:t>09/16/2026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0BD399-28D9-477A-B44F-E0B13036A6F2}" type="slidenum">
              <a:rPr lang="LID4096" smtClean="0"/>
              <a:t>‹#›</a:t>
            </a:fld>
            <a:endParaRPr lang="LID4096"/>
          </a:p>
        </p:txBody>
      </p:sp>
    </p:spTree>
    <p:extLst>
      <p:ext uri="{BB962C8B-B14F-4D97-AF65-F5344CB8AC3E}">
        <p14:creationId xmlns:p14="http://schemas.microsoft.com/office/powerpoint/2010/main" val="4010517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Planned: 50 seconds. Slide 2 of 11.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Planned: 40 seconds. Slide 3 of 11.</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Planned: 65 seconds. Slide 4 of 11.</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Planned: 45 seconds. Slide 5 of 11.</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Planned: 60 seconds. Slide 6 of 11.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Planned: 30 seconds. Slide 7 of 11.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Planned: 55 seconds. Slide 8 of 11.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new central analysis. We flatten each whole phase-normalized path and divide by square root of 200. Euclidean distance then means RMS coordinate difference. Energy and MMD compare the generated set with the held-out set and also account for within-set variation. At eight dimensions both variational models improve on spline, and this survives both multiple-testing corrections and equalizing the training variation of the two axes. Their difference from each other is not significant. At three dimensions, raw MMD favors them over spline, but raw energy does not, and balanced-axis MMD no longer passes BH. This is why the eight-dimensional conclusion is stronger. These are phase-path results, not a validation of physical timing. Source: production/trajectory_distribution_2026_09_13/summary.csv, paired_comparisons.csv and protocol.json. Bars show participant-balanced means after seed averaging. Markers compare each bar with the reference named above the chart, using the saved adjusted paired tests. In model-comparison charts, * means BH and Holm both pass .05; dagger means BH only; ns means neither. The personal-center chart uses its original BH-corrected control family. There are no error bars, and no p-value has been converted into an uncertainty interval.</a:t>
            </a:r>
          </a:p>
          <a:p>
            <a:r>
              <a:t>Explain: each generated path and each recorded query path is a 200-coordinate vector. This is a set-to-set comparison, not pairing trial 1 with trial 1. Each participant contributes one score per model after averaging training seeds. The bars give equal weight to each of the 28 participants. A significance marker indicates a difference, not automatically an improvement; lower bars are better. Three-dimensional CAE energy is significantly worse under BH only. Exact values and adjusted p-values are in the source course_slides.json and the trajectory_distribution_2026_09_13 CSVs. The selected plot uses raw RMS coordinates, so energy has units cm and MMD² is dimensionless. A smaller distance does not by itself prove absolute physiological realism.</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63021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direct check that the personal center helps the generator. Replacing it by a population center or another person’s center makes the feature distributions worse. We keep random draws and other inputs fixed, so the center is what changes. This supports useful information about this participant’s session. It does not give a name to each latent axis or show the same fingerprint would remain stable on another day. The control uses feature endpoints; we have not repeated it on the new full-trajectory endpoints. Source: frozen laboratory report section on personal fingerprints; course report Figure 3 and appendix A4. Bars show participant-balanced means after seed averaging. Markers compare each bar with the reference named above the chart, using the saved adjusted paired tests. In model-comparison charts, * means BH and Holm both pass .05; dagger means BH only; ns means neither. The personal-center chart uses its original BH-corrected control family. There are no error bars, and no p-value has been converted into an uncertainty interval.</a:t>
            </a:r>
          </a:p>
          <a:p>
            <a:r>
              <a:t>The 27/28 count is specifically VAE n=8 mean feature KS, own center versus population center. It is not an identification accuracy and not a claim of individual significance for 27 people. Mean KS: CVAE8 own .219404, population .289636, wrong .317203; VAE8 own .215121, population .284126, wrong .314405. CVAE mean-KS control BH q: population 3.397464752e-7, wrong 2.086162567e-7. VAE both 2.980232239e-8. Each wrong-person result averages alternative test-person centers. CVAE adjustment family has 12 contrasts; VAE n=8 has 6. Sources: studies/review_corrected_evaluation/results/review_controls/fingerprint_paired.csv and production/audit_2026_09_08/uvae8_fingerprint_paired.csv.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58059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demo, under construction. Double-click demo/START_DEMO.cmd to open Chrome. The original research dashboard is unchanged. Start with VAE n=8, move a latent offset, then optionally switch to n=3 or another model. Each move decodes one latent vector and separately predicts movement and initiation times. It does not sample a distribution or predict one particular future trial. The selected center is the training-population center or a saved context fingerprint. Offsets are measured in training-latent standard deviations; latent axes do not have established psychological meanings. VAE ignores task-condition controls; spline + PCA uses conditions for timing only. All live references are fold 0, seed 42 for neural models. Source: demo/app.py; src/confirmatory_dashboard.py decode; src/dashboard_models.py. Screenshot: the actual locally running demo.</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06400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7141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17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104847" cy="77724"/>
          </a:xfrm>
          <a:prstGeom prst="rect">
            <a:avLst/>
          </a:prstGeom>
          <a:gradFill rotWithShape="1">
            <a:gsLst>
              <a:gs pos="0">
                <a:srgbClr val="1B6FEA"/>
              </a:gs>
              <a:gs pos="100000">
                <a:srgbClr val="17A2A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783080"/>
            <a:ext cx="10637215" cy="1554480"/>
          </a:xfrm>
          <a:prstGeom prst="rect">
            <a:avLst/>
          </a:prstGeom>
          <a:noFill/>
        </p:spPr>
        <p:txBody>
          <a:bodyPr wrap="square" lIns="0" tIns="0" rIns="0" bIns="0">
            <a:spAutoFit/>
          </a:bodyPr>
          <a:lstStyle/>
          <a:p>
            <a:pPr algn="ctr"/>
            <a:r>
              <a:rPr sz="3800" b="1">
                <a:solidFill>
                  <a:srgbClr val="FFFFFF"/>
                </a:solidFill>
                <a:latin typeface="Calibri"/>
              </a:rPr>
              <a:t>Compact Representations of Human Interception Movements</a:t>
            </a:r>
          </a:p>
        </p:txBody>
      </p:sp>
      <p:sp>
        <p:nvSpPr>
          <p:cNvPr id="6" name="TextBox 5"/>
          <p:cNvSpPr txBox="1"/>
          <p:nvPr/>
        </p:nvSpPr>
        <p:spPr>
          <a:xfrm>
            <a:off x="777240" y="3154680"/>
            <a:ext cx="10637215" cy="548640"/>
          </a:xfrm>
          <a:prstGeom prst="rect">
            <a:avLst/>
          </a:prstGeom>
          <a:noFill/>
        </p:spPr>
        <p:txBody>
          <a:bodyPr wrap="square" lIns="0" tIns="0" rIns="0" bIns="0">
            <a:spAutoFit/>
          </a:bodyPr>
          <a:lstStyle/>
          <a:p>
            <a:pPr algn="ctr"/>
            <a:r>
              <a:rPr sz="1600" b="0">
                <a:solidFill>
                  <a:srgbClr val="9AA6B5"/>
                </a:solidFill>
                <a:latin typeface="Calibri"/>
              </a:rPr>
              <a:t>Low-dimensional models for representing and generating human interception movement</a:t>
            </a:r>
          </a:p>
        </p:txBody>
      </p:sp>
      <p:sp>
        <p:nvSpPr>
          <p:cNvPr id="7" name="TextBox 6"/>
          <p:cNvSpPr txBox="1"/>
          <p:nvPr/>
        </p:nvSpPr>
        <p:spPr>
          <a:xfrm>
            <a:off x="777240" y="3977639"/>
            <a:ext cx="10637215" cy="411480"/>
          </a:xfrm>
          <a:prstGeom prst="rect">
            <a:avLst/>
          </a:prstGeom>
          <a:noFill/>
        </p:spPr>
        <p:txBody>
          <a:bodyPr wrap="square" lIns="0" tIns="0" rIns="0" bIns="0">
            <a:spAutoFit/>
          </a:bodyPr>
          <a:lstStyle/>
          <a:p>
            <a:pPr algn="ctr"/>
            <a:r>
              <a:rPr sz="1800" b="1">
                <a:solidFill>
                  <a:srgbClr val="3EB1EC"/>
                </a:solidFill>
                <a:latin typeface="Calibri"/>
              </a:rPr>
              <a:t>Seman Libbiss  &amp;  Paz Flashner</a:t>
            </a:r>
          </a:p>
        </p:txBody>
      </p:sp>
      <p:sp>
        <p:nvSpPr>
          <p:cNvPr id="8" name="TextBox 7"/>
          <p:cNvSpPr txBox="1"/>
          <p:nvPr/>
        </p:nvSpPr>
        <p:spPr>
          <a:xfrm>
            <a:off x="777240" y="4483100"/>
            <a:ext cx="10637215" cy="369332"/>
          </a:xfrm>
          <a:prstGeom prst="rect">
            <a:avLst/>
          </a:prstGeom>
          <a:noFill/>
        </p:spPr>
        <p:txBody>
          <a:bodyPr wrap="square" lIns="0" tIns="0" rIns="0" bIns="0">
            <a:spAutoFit/>
          </a:bodyPr>
          <a:lstStyle/>
          <a:p>
            <a:pPr algn="ctr"/>
            <a:r>
              <a:rPr lang="en-US" sz="1200" b="0">
                <a:solidFill>
                  <a:srgbClr val="8A95A4"/>
                </a:solidFill>
                <a:latin typeface="Calibri"/>
              </a:rPr>
              <a:t>Research supervisor: Prof. Jason Friedman   |   Course advisor: Shimon Shahar</a:t>
            </a:r>
          </a:p>
          <a:p>
            <a:pPr algn="ctr"/>
            <a:r>
              <a:rPr lang="en-US" sz="1200" b="0">
                <a:solidFill>
                  <a:srgbClr val="8A95A4"/>
                </a:solidFill>
                <a:latin typeface="Calibri"/>
              </a:rPr>
              <a:t>Course lecturer: Prof. Nadav Cohen   |   Teaching assistant: Yonatan Slutzky</a:t>
            </a:r>
            <a:endParaRPr sz="1200" b="0">
              <a:solidFill>
                <a:srgbClr val="8A95A4"/>
              </a:solidFill>
              <a:latin typeface="Calibri"/>
            </a:endParaRPr>
          </a:p>
        </p:txBody>
      </p:sp>
      <p:sp>
        <p:nvSpPr>
          <p:cNvPr id="9" name="TextBox 8"/>
          <p:cNvSpPr txBox="1"/>
          <p:nvPr/>
        </p:nvSpPr>
        <p:spPr>
          <a:xfrm>
            <a:off x="777240" y="5092700"/>
            <a:ext cx="10637215" cy="184666"/>
          </a:xfrm>
          <a:prstGeom prst="rect">
            <a:avLst/>
          </a:prstGeom>
          <a:noFill/>
        </p:spPr>
        <p:txBody>
          <a:bodyPr wrap="square" lIns="0" tIns="0" rIns="0" bIns="0">
            <a:spAutoFit/>
          </a:bodyPr>
          <a:lstStyle/>
          <a:p>
            <a:pPr algn="ctr"/>
            <a:r>
              <a:rPr lang="en-US" sz="1200" b="0">
                <a:solidFill>
                  <a:srgbClr val="8A95A4"/>
                </a:solidFill>
                <a:latin typeface="Calibri"/>
              </a:rPr>
              <a:t>Workshop on Deep Learning  |  03683538  |  Tel Aviv University</a:t>
            </a:r>
            <a:endParaRPr sz="1200" b="0">
              <a:solidFill>
                <a:srgbClr val="8A95A4"/>
              </a:solidFill>
              <a:latin typeface="Calibri"/>
            </a:endParaRPr>
          </a:p>
        </p:txBody>
      </p:sp>
      <p:sp>
        <p:nvSpPr>
          <p:cNvPr id="10" name="Rounded Rectangle 9"/>
          <p:cNvSpPr/>
          <p:nvPr/>
        </p:nvSpPr>
        <p:spPr>
          <a:xfrm>
            <a:off x="3570579" y="5532120"/>
            <a:ext cx="5050536" cy="344424"/>
          </a:xfrm>
          <a:prstGeom prst="roundRect">
            <a:avLst>
              <a:gd name="adj" fmla="val 50000"/>
            </a:avLst>
          </a:prstGeom>
          <a:solidFill>
            <a:srgbClr val="202A3A"/>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1200" b="1">
                <a:solidFill>
                  <a:srgbClr val="C8D2DE"/>
                </a:solidFill>
                <a:latin typeface="Calibri"/>
              </a:rPr>
              <a:t>10-minute presentation and live demo</a:t>
            </a:r>
            <a:endParaRPr sz="1200" b="1">
              <a:solidFill>
                <a:srgbClr val="C8D2DE"/>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104847" cy="77724"/>
          </a:xfrm>
          <a:prstGeom prst="rect">
            <a:avLst/>
          </a:prstGeom>
          <a:gradFill rotWithShape="1">
            <a:gsLst>
              <a:gs pos="0">
                <a:srgbClr val="1B6FEA"/>
              </a:gs>
              <a:gs pos="100000">
                <a:srgbClr val="17A2A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92608"/>
            <a:ext cx="8716975" cy="566928"/>
          </a:xfrm>
          <a:prstGeom prst="rect">
            <a:avLst/>
          </a:prstGeom>
          <a:noFill/>
        </p:spPr>
        <p:txBody>
          <a:bodyPr wrap="square" lIns="0" tIns="0" rIns="0" bIns="0">
            <a:spAutoFit/>
          </a:bodyPr>
          <a:lstStyle/>
          <a:p>
            <a:pPr algn="l"/>
            <a:r>
              <a:rPr sz="2400" b="1">
                <a:solidFill>
                  <a:srgbClr val="161E2E"/>
                </a:solidFill>
                <a:latin typeface="Calibri"/>
              </a:rPr>
              <a:t>The experimental task and the data structure</a:t>
            </a:r>
          </a:p>
        </p:txBody>
      </p:sp>
      <p:sp>
        <p:nvSpPr>
          <p:cNvPr id="6" name="Rounded Rectangle 5"/>
          <p:cNvSpPr/>
          <p:nvPr/>
        </p:nvSpPr>
        <p:spPr>
          <a:xfrm>
            <a:off x="10086162" y="347472"/>
            <a:ext cx="1328293"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100" b="1">
                <a:solidFill>
                  <a:srgbClr val="1B6FEA"/>
                </a:solidFill>
                <a:latin typeface="Calibri"/>
              </a:rPr>
              <a:t>50 s  |  2/11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ask_schematic.png"/>
          <p:cNvPicPr>
            <a:picLocks noChangeAspect="1"/>
          </p:cNvPicPr>
          <p:nvPr/>
        </p:nvPicPr>
        <p:blipFill>
          <a:blip r:embed="rId3"/>
          <a:stretch>
            <a:fillRect/>
          </a:stretch>
        </p:blipFill>
        <p:spPr>
          <a:xfrm>
            <a:off x="777240" y="1188720"/>
            <a:ext cx="5116756" cy="3999620"/>
          </a:xfrm>
          <a:prstGeom prst="rect">
            <a:avLst/>
          </a:prstGeom>
        </p:spPr>
      </p:pic>
      <p:sp>
        <p:nvSpPr>
          <p:cNvPr id="9" name="TextBox 8"/>
          <p:cNvSpPr txBox="1"/>
          <p:nvPr/>
        </p:nvSpPr>
        <p:spPr>
          <a:xfrm>
            <a:off x="6297699" y="1960320"/>
            <a:ext cx="5116756" cy="255118"/>
          </a:xfrm>
          <a:prstGeom prst="rect">
            <a:avLst/>
          </a:prstGeom>
          <a:noFill/>
        </p:spPr>
        <p:txBody>
          <a:bodyPr wrap="square" lIns="0" tIns="0" rIns="0" bIns="0">
            <a:spAutoFit/>
          </a:bodyPr>
          <a:lstStyle/>
          <a:p>
            <a:pPr algn="l"/>
            <a:r>
              <a:rPr sz="1545" b="1">
                <a:solidFill>
                  <a:srgbClr val="161E2E"/>
                </a:solidFill>
                <a:latin typeface="Calibri"/>
              </a:rPr>
              <a:t>The experimental task</a:t>
            </a:r>
          </a:p>
        </p:txBody>
      </p:sp>
      <p:sp>
        <p:nvSpPr>
          <p:cNvPr id="10" name="TextBox 9"/>
          <p:cNvSpPr txBox="1"/>
          <p:nvPr/>
        </p:nvSpPr>
        <p:spPr>
          <a:xfrm>
            <a:off x="6297699" y="2356734"/>
            <a:ext cx="5116756" cy="628683"/>
          </a:xfrm>
          <a:prstGeom prst="rect">
            <a:avLst/>
          </a:prstGeom>
          <a:noFill/>
        </p:spPr>
        <p:txBody>
          <a:bodyPr wrap="square" lIns="0" tIns="0" rIns="0" bIns="0">
            <a:spAutoFit/>
          </a:bodyPr>
          <a:lstStyle/>
          <a:p>
            <a:pPr algn="l"/>
            <a:r>
              <a:rPr sz="1269" b="1">
                <a:solidFill>
                  <a:srgbClr val="3D4756"/>
                </a:solidFill>
                <a:latin typeface="Calibri"/>
              </a:rPr>
              <a:t>•  Participant's task: </a:t>
            </a:r>
            <a:r>
              <a:rPr sz="1269" b="0">
                <a:solidFill>
                  <a:srgbClr val="3D4756"/>
                </a:solidFill>
                <a:latin typeface="Calibri"/>
              </a:rPr>
              <a:t>move the finger from the lower start zone into the upper interception square exactly as the ball passes through it.</a:t>
            </a:r>
          </a:p>
        </p:txBody>
      </p:sp>
      <p:sp>
        <p:nvSpPr>
          <p:cNvPr id="11" name="TextBox 10"/>
          <p:cNvSpPr txBox="1"/>
          <p:nvPr/>
        </p:nvSpPr>
        <p:spPr>
          <a:xfrm>
            <a:off x="6297699" y="3167083"/>
            <a:ext cx="5116756" cy="628683"/>
          </a:xfrm>
          <a:prstGeom prst="rect">
            <a:avLst/>
          </a:prstGeom>
          <a:noFill/>
        </p:spPr>
        <p:txBody>
          <a:bodyPr wrap="square" lIns="0" tIns="0" rIns="0" bIns="0">
            <a:spAutoFit/>
          </a:bodyPr>
          <a:lstStyle/>
          <a:p>
            <a:pPr algn="l"/>
            <a:r>
              <a:rPr sz="1269" b="1">
                <a:solidFill>
                  <a:srgbClr val="3D4756"/>
                </a:solidFill>
                <a:latin typeface="Calibri"/>
              </a:rPr>
              <a:t>•  Conditions: </a:t>
            </a:r>
            <a:r>
              <a:rPr sz="1269" b="0">
                <a:solidFill>
                  <a:srgbClr val="3D4756"/>
                </a:solidFill>
                <a:latin typeface="Calibri"/>
              </a:rPr>
              <a:t>the free eye-movement condition is analysed. Six target start locations (3 right, 3 left) over a continuous speed range.</a:t>
            </a:r>
          </a:p>
        </p:txBody>
      </p:sp>
      <p:sp>
        <p:nvSpPr>
          <p:cNvPr id="12" name="TextBox 11"/>
          <p:cNvSpPr txBox="1"/>
          <p:nvPr/>
        </p:nvSpPr>
        <p:spPr>
          <a:xfrm>
            <a:off x="6297699" y="3977432"/>
            <a:ext cx="5116756" cy="419122"/>
          </a:xfrm>
          <a:prstGeom prst="rect">
            <a:avLst/>
          </a:prstGeom>
          <a:noFill/>
        </p:spPr>
        <p:txBody>
          <a:bodyPr wrap="square" lIns="0" tIns="0" rIns="0" bIns="0">
            <a:spAutoFit/>
          </a:bodyPr>
          <a:lstStyle/>
          <a:p>
            <a:pPr algn="l"/>
            <a:r>
              <a:rPr sz="1269" b="1">
                <a:solidFill>
                  <a:srgbClr val="3D4756"/>
                </a:solidFill>
                <a:latin typeface="Calibri"/>
              </a:rPr>
              <a:t>•  Sample: </a:t>
            </a:r>
            <a:r>
              <a:rPr sz="1269" b="0">
                <a:solidFill>
                  <a:srgbClr val="3D4756"/>
                </a:solidFill>
                <a:latin typeface="Calibri"/>
              </a:rPr>
              <a:t>4,732 valid trials from 28 participants, measured in 3D at 240 Hz with a Polhemus system.</a:t>
            </a:r>
          </a:p>
        </p:txBody>
      </p:sp>
      <p:sp>
        <p:nvSpPr>
          <p:cNvPr id="13" name="Rectangle 12"/>
          <p:cNvSpPr/>
          <p:nvPr/>
        </p:nvSpPr>
        <p:spPr>
          <a:xfrm>
            <a:off x="777240" y="5349821"/>
            <a:ext cx="10637215" cy="88337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5349821"/>
            <a:ext cx="60555" cy="88337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19462" y="5511302"/>
            <a:ext cx="10051846" cy="218672"/>
          </a:xfrm>
          <a:prstGeom prst="rect">
            <a:avLst/>
          </a:prstGeom>
          <a:noFill/>
        </p:spPr>
        <p:txBody>
          <a:bodyPr wrap="square" lIns="0" tIns="0" rIns="0" bIns="0">
            <a:spAutoFit/>
          </a:bodyPr>
          <a:lstStyle/>
          <a:p>
            <a:pPr algn="l"/>
            <a:r>
              <a:rPr sz="1324" b="1">
                <a:solidFill>
                  <a:srgbClr val="1B6FEA"/>
                </a:solidFill>
                <a:latin typeface="Calibri"/>
              </a:rPr>
              <a:t>A strict split that prevents information leakage</a:t>
            </a:r>
          </a:p>
        </p:txBody>
      </p:sp>
      <p:sp>
        <p:nvSpPr>
          <p:cNvPr id="16" name="TextBox 15"/>
          <p:cNvSpPr txBox="1"/>
          <p:nvPr/>
        </p:nvSpPr>
        <p:spPr>
          <a:xfrm>
            <a:off x="1019462" y="5830899"/>
            <a:ext cx="10051846" cy="200449"/>
          </a:xfrm>
          <a:prstGeom prst="rect">
            <a:avLst/>
          </a:prstGeom>
          <a:noFill/>
        </p:spPr>
        <p:txBody>
          <a:bodyPr wrap="square" lIns="0" tIns="0" rIns="0" bIns="0">
            <a:spAutoFit/>
          </a:bodyPr>
          <a:lstStyle/>
          <a:p>
            <a:pPr algn="l"/>
            <a:r>
              <a:rPr sz="1214" b="0">
                <a:solidFill>
                  <a:srgbClr val="3D4756"/>
                </a:solidFill>
                <a:latin typeface="Calibri"/>
              </a:rPr>
              <a:t>Four fixed folds: 17 training participants, 4 validation and 7 test. Every participant appears in a test fold exactly once.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104847" cy="77724"/>
          </a:xfrm>
          <a:prstGeom prst="rect">
            <a:avLst/>
          </a:prstGeom>
          <a:gradFill rotWithShape="1">
            <a:gsLst>
              <a:gs pos="0">
                <a:srgbClr val="1B6FEA"/>
              </a:gs>
              <a:gs pos="100000">
                <a:srgbClr val="17A2A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92608"/>
            <a:ext cx="8716975" cy="566928"/>
          </a:xfrm>
          <a:prstGeom prst="rect">
            <a:avLst/>
          </a:prstGeom>
          <a:noFill/>
        </p:spPr>
        <p:txBody>
          <a:bodyPr wrap="square" lIns="0" tIns="0" rIns="0" bIns="0">
            <a:spAutoFit/>
          </a:bodyPr>
          <a:lstStyle/>
          <a:p>
            <a:pPr algn="l"/>
            <a:r>
              <a:rPr sz="2400" b="1">
                <a:solidFill>
                  <a:srgbClr val="161E2E"/>
                </a:solidFill>
                <a:latin typeface="Calibri"/>
              </a:rPr>
              <a:t>What we set out to answer</a:t>
            </a:r>
          </a:p>
        </p:txBody>
      </p:sp>
      <p:sp>
        <p:nvSpPr>
          <p:cNvPr id="6" name="Rounded Rectangle 5"/>
          <p:cNvSpPr/>
          <p:nvPr/>
        </p:nvSpPr>
        <p:spPr>
          <a:xfrm>
            <a:off x="10086162" y="347472"/>
            <a:ext cx="1328293"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100" b="1">
                <a:solidFill>
                  <a:srgbClr val="1B6FEA"/>
                </a:solidFill>
                <a:latin typeface="Calibri"/>
              </a:rPr>
              <a:t>40 s  |  3/11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188720"/>
            <a:ext cx="5749125" cy="234400"/>
          </a:xfrm>
          <a:prstGeom prst="rect">
            <a:avLst/>
          </a:prstGeom>
          <a:noFill/>
        </p:spPr>
        <p:txBody>
          <a:bodyPr wrap="square" lIns="0" tIns="0" rIns="0" bIns="0">
            <a:spAutoFit/>
          </a:bodyPr>
          <a:lstStyle/>
          <a:p>
            <a:pPr algn="l"/>
            <a:r>
              <a:rPr sz="1419" b="1">
                <a:solidFill>
                  <a:srgbClr val="161E2E"/>
                </a:solidFill>
                <a:latin typeface="Calibri"/>
              </a:rPr>
              <a:t>The core question</a:t>
            </a:r>
          </a:p>
        </p:txBody>
      </p:sp>
      <p:sp>
        <p:nvSpPr>
          <p:cNvPr id="9" name="TextBox 8"/>
          <p:cNvSpPr txBox="1"/>
          <p:nvPr/>
        </p:nvSpPr>
        <p:spPr>
          <a:xfrm>
            <a:off x="777240" y="1552941"/>
            <a:ext cx="5749125" cy="577629"/>
          </a:xfrm>
          <a:prstGeom prst="rect">
            <a:avLst/>
          </a:prstGeom>
          <a:noFill/>
        </p:spPr>
        <p:txBody>
          <a:bodyPr wrap="square" lIns="0" tIns="0" rIns="0" bIns="0">
            <a:spAutoFit/>
          </a:bodyPr>
          <a:lstStyle/>
          <a:p>
            <a:pPr algn="l"/>
            <a:r>
              <a:rPr sz="1166" b="0">
                <a:solidFill>
                  <a:srgbClr val="3D4756"/>
                </a:solidFill>
                <a:latin typeface="Calibri"/>
              </a:rPr>
              <a:t>Human movement is stochastic: perception and motor control vary from trial to trial. One participant, one target - and every trial takes a different path.</a:t>
            </a:r>
          </a:p>
        </p:txBody>
      </p:sp>
      <p:sp>
        <p:nvSpPr>
          <p:cNvPr id="10" name="TextBox 9"/>
          <p:cNvSpPr txBox="1"/>
          <p:nvPr/>
        </p:nvSpPr>
        <p:spPr>
          <a:xfrm>
            <a:off x="777240" y="2278937"/>
            <a:ext cx="5749125" cy="234400"/>
          </a:xfrm>
          <a:prstGeom prst="rect">
            <a:avLst/>
          </a:prstGeom>
          <a:noFill/>
        </p:spPr>
        <p:txBody>
          <a:bodyPr wrap="square" lIns="0" tIns="0" rIns="0" bIns="0">
            <a:spAutoFit/>
          </a:bodyPr>
          <a:lstStyle/>
          <a:p>
            <a:pPr algn="l"/>
            <a:r>
              <a:rPr sz="1419" b="1">
                <a:solidFill>
                  <a:srgbClr val="7A5CF0"/>
                </a:solidFill>
                <a:latin typeface="Calibri"/>
              </a:rPr>
              <a:t>Can a compact fingerprint capture that spread?</a:t>
            </a:r>
          </a:p>
        </p:txBody>
      </p:sp>
      <p:sp>
        <p:nvSpPr>
          <p:cNvPr id="11" name="TextBox 10"/>
          <p:cNvSpPr txBox="1"/>
          <p:nvPr/>
        </p:nvSpPr>
        <p:spPr>
          <a:xfrm>
            <a:off x="777240" y="2643158"/>
            <a:ext cx="5749125" cy="385086"/>
          </a:xfrm>
          <a:prstGeom prst="rect">
            <a:avLst/>
          </a:prstGeom>
          <a:noFill/>
        </p:spPr>
        <p:txBody>
          <a:bodyPr wrap="square" lIns="0" tIns="0" rIns="0" bIns="0">
            <a:spAutoFit/>
          </a:bodyPr>
          <a:lstStyle/>
          <a:p>
            <a:pPr algn="l"/>
            <a:r>
              <a:rPr sz="1166" b="0">
                <a:solidFill>
                  <a:srgbClr val="3D4756"/>
                </a:solidFill>
                <a:latin typeface="Calibri"/>
              </a:rPr>
              <a:t>Compress 200 numbers - the 100 × 2 path - into a 3-to-8 dimensional fingerprint of an individual's movement distribution.</a:t>
            </a:r>
          </a:p>
        </p:txBody>
      </p:sp>
      <p:sp>
        <p:nvSpPr>
          <p:cNvPr id="12" name="Rounded Rectangle 11"/>
          <p:cNvSpPr/>
          <p:nvPr/>
        </p:nvSpPr>
        <p:spPr>
          <a:xfrm>
            <a:off x="777240" y="3176611"/>
            <a:ext cx="5749125" cy="806232"/>
          </a:xfrm>
          <a:prstGeom prst="roundRect">
            <a:avLst/>
          </a:prstGeom>
          <a:solidFill>
            <a:srgbClr val="FAFBFD"/>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2699" y="3362070"/>
            <a:ext cx="5378206" cy="435314"/>
          </a:xfrm>
          <a:prstGeom prst="rect">
            <a:avLst/>
          </a:prstGeom>
          <a:noFill/>
        </p:spPr>
        <p:txBody>
          <a:bodyPr wrap="square" lIns="0" tIns="0" rIns="0" bIns="0">
            <a:spAutoFit/>
          </a:bodyPr>
          <a:lstStyle/>
          <a:p>
            <a:pPr algn="ctr"/>
            <a:r>
              <a:rPr sz="1318" b="0">
                <a:solidFill>
                  <a:srgbClr val="161E2E"/>
                </a:solidFill>
                <a:latin typeface="Calibri"/>
              </a:rPr>
              <a:t>100 × 2 coordinates   ———&gt;   n = 3 or 8 latent numbers   (durations predicted)</a:t>
            </a:r>
          </a:p>
        </p:txBody>
      </p:sp>
      <p:pic>
        <p:nvPicPr>
          <p:cNvPr id="14" name="Picture 13" descr="real_trajectories.png"/>
          <p:cNvPicPr>
            <a:picLocks noChangeAspect="1"/>
          </p:cNvPicPr>
          <p:nvPr/>
        </p:nvPicPr>
        <p:blipFill>
          <a:blip r:embed="rId3"/>
          <a:stretch>
            <a:fillRect/>
          </a:stretch>
        </p:blipFill>
        <p:spPr>
          <a:xfrm>
            <a:off x="7681250" y="1389567"/>
            <a:ext cx="2949238" cy="2410974"/>
          </a:xfrm>
          <a:prstGeom prst="rect">
            <a:avLst/>
          </a:prstGeom>
        </p:spPr>
      </p:pic>
      <p:sp>
        <p:nvSpPr>
          <p:cNvPr id="15" name="TextBox 14"/>
          <p:cNvSpPr txBox="1"/>
          <p:nvPr/>
        </p:nvSpPr>
        <p:spPr>
          <a:xfrm>
            <a:off x="777240" y="4149756"/>
            <a:ext cx="10637215" cy="284628"/>
          </a:xfrm>
          <a:prstGeom prst="rect">
            <a:avLst/>
          </a:prstGeom>
          <a:noFill/>
        </p:spPr>
        <p:txBody>
          <a:bodyPr wrap="square" lIns="0" tIns="0" rIns="0" bIns="0">
            <a:spAutoFit/>
          </a:bodyPr>
          <a:lstStyle/>
          <a:p>
            <a:pPr algn="ctr"/>
            <a:r>
              <a:rPr sz="1723" b="1">
                <a:solidFill>
                  <a:srgbClr val="161E2E"/>
                </a:solidFill>
                <a:latin typeface="Calibri"/>
              </a:rPr>
              <a:t>What would count as success, evaluated on participants the model never trained on</a:t>
            </a:r>
          </a:p>
        </p:txBody>
      </p:sp>
      <p:sp>
        <p:nvSpPr>
          <p:cNvPr id="16" name="Rounded Rectangle 15"/>
          <p:cNvSpPr/>
          <p:nvPr/>
        </p:nvSpPr>
        <p:spPr>
          <a:xfrm>
            <a:off x="777240" y="4619843"/>
            <a:ext cx="3335551" cy="1513165"/>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18337" y="4860940"/>
            <a:ext cx="2853357" cy="175800"/>
          </a:xfrm>
          <a:prstGeom prst="rect">
            <a:avLst/>
          </a:prstGeom>
          <a:noFill/>
        </p:spPr>
        <p:txBody>
          <a:bodyPr wrap="square" lIns="0" tIns="0" rIns="0" bIns="0">
            <a:spAutoFit/>
          </a:bodyPr>
          <a:lstStyle/>
          <a:p>
            <a:pPr algn="l"/>
            <a:r>
              <a:rPr sz="1064" b="1">
                <a:solidFill>
                  <a:srgbClr val="1B6FEA"/>
                </a:solidFill>
                <a:latin typeface="Calibri"/>
              </a:rPr>
              <a:t>SUCCESS TEST 1</a:t>
            </a:r>
          </a:p>
        </p:txBody>
      </p:sp>
      <p:sp>
        <p:nvSpPr>
          <p:cNvPr id="18" name="TextBox 17"/>
          <p:cNvSpPr txBox="1"/>
          <p:nvPr/>
        </p:nvSpPr>
        <p:spPr>
          <a:xfrm>
            <a:off x="1018337" y="5110923"/>
            <a:ext cx="2853357" cy="301371"/>
          </a:xfrm>
          <a:prstGeom prst="rect">
            <a:avLst/>
          </a:prstGeom>
          <a:noFill/>
        </p:spPr>
        <p:txBody>
          <a:bodyPr wrap="square" lIns="0" tIns="0" rIns="0" bIns="0">
            <a:spAutoFit/>
          </a:bodyPr>
          <a:lstStyle/>
          <a:p>
            <a:pPr algn="l"/>
            <a:r>
              <a:rPr sz="1825" b="1">
                <a:solidFill>
                  <a:srgbClr val="161E2E"/>
                </a:solidFill>
                <a:latin typeface="Calibri"/>
              </a:rPr>
              <a:t>Reconstruct</a:t>
            </a:r>
          </a:p>
        </p:txBody>
      </p:sp>
      <p:sp>
        <p:nvSpPr>
          <p:cNvPr id="19" name="TextBox 18"/>
          <p:cNvSpPr txBox="1"/>
          <p:nvPr/>
        </p:nvSpPr>
        <p:spPr>
          <a:xfrm>
            <a:off x="1018337" y="5523569"/>
            <a:ext cx="2853357" cy="368342"/>
          </a:xfrm>
          <a:prstGeom prst="rect">
            <a:avLst/>
          </a:prstGeom>
          <a:noFill/>
        </p:spPr>
        <p:txBody>
          <a:bodyPr wrap="square" lIns="0" tIns="0" rIns="0" bIns="0">
            <a:spAutoFit/>
          </a:bodyPr>
          <a:lstStyle/>
          <a:p>
            <a:pPr algn="l"/>
            <a:r>
              <a:rPr sz="1115" b="0">
                <a:solidFill>
                  <a:srgbClr val="3D4756"/>
                </a:solidFill>
                <a:latin typeface="Calibri"/>
              </a:rPr>
              <a:t>Rebuild specific recorded trajectories from the compressed code.</a:t>
            </a:r>
          </a:p>
        </p:txBody>
      </p:sp>
      <p:sp>
        <p:nvSpPr>
          <p:cNvPr id="20" name="Rounded Rectangle 19"/>
          <p:cNvSpPr/>
          <p:nvPr/>
        </p:nvSpPr>
        <p:spPr>
          <a:xfrm>
            <a:off x="4428072" y="4619843"/>
            <a:ext cx="3335551" cy="1513165"/>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669169" y="4860940"/>
            <a:ext cx="2853357" cy="175800"/>
          </a:xfrm>
          <a:prstGeom prst="rect">
            <a:avLst/>
          </a:prstGeom>
          <a:noFill/>
        </p:spPr>
        <p:txBody>
          <a:bodyPr wrap="square" lIns="0" tIns="0" rIns="0" bIns="0">
            <a:spAutoFit/>
          </a:bodyPr>
          <a:lstStyle/>
          <a:p>
            <a:pPr algn="l"/>
            <a:r>
              <a:rPr sz="1064" b="1">
                <a:solidFill>
                  <a:srgbClr val="1D7A3E"/>
                </a:solidFill>
                <a:latin typeface="Calibri"/>
              </a:rPr>
              <a:t>SUCCESS TEST 2</a:t>
            </a:r>
          </a:p>
        </p:txBody>
      </p:sp>
      <p:sp>
        <p:nvSpPr>
          <p:cNvPr id="22" name="TextBox 21"/>
          <p:cNvSpPr txBox="1"/>
          <p:nvPr/>
        </p:nvSpPr>
        <p:spPr>
          <a:xfrm>
            <a:off x="4669169" y="5110923"/>
            <a:ext cx="2853357" cy="301371"/>
          </a:xfrm>
          <a:prstGeom prst="rect">
            <a:avLst/>
          </a:prstGeom>
          <a:noFill/>
        </p:spPr>
        <p:txBody>
          <a:bodyPr wrap="square" lIns="0" tIns="0" rIns="0" bIns="0">
            <a:spAutoFit/>
          </a:bodyPr>
          <a:lstStyle/>
          <a:p>
            <a:pPr algn="l"/>
            <a:r>
              <a:rPr sz="1825" b="1">
                <a:solidFill>
                  <a:srgbClr val="161E2E"/>
                </a:solidFill>
                <a:latin typeface="Calibri"/>
              </a:rPr>
              <a:t>Generate</a:t>
            </a:r>
          </a:p>
        </p:txBody>
      </p:sp>
      <p:sp>
        <p:nvSpPr>
          <p:cNvPr id="23" name="TextBox 22"/>
          <p:cNvSpPr txBox="1"/>
          <p:nvPr/>
        </p:nvSpPr>
        <p:spPr>
          <a:xfrm>
            <a:off x="4669169" y="5523569"/>
            <a:ext cx="2853357" cy="368342"/>
          </a:xfrm>
          <a:prstGeom prst="rect">
            <a:avLst/>
          </a:prstGeom>
          <a:noFill/>
        </p:spPr>
        <p:txBody>
          <a:bodyPr wrap="square" lIns="0" tIns="0" rIns="0" bIns="0">
            <a:spAutoFit/>
          </a:bodyPr>
          <a:lstStyle/>
          <a:p>
            <a:pPr algn="l"/>
            <a:r>
              <a:rPr sz="1115" b="0">
                <a:solidFill>
                  <a:srgbClr val="3D4756"/>
                </a:solidFill>
                <a:latin typeface="Calibri"/>
              </a:rPr>
              <a:t>Sample new trajectories matching that person's stochastic distribution.</a:t>
            </a:r>
          </a:p>
        </p:txBody>
      </p:sp>
      <p:sp>
        <p:nvSpPr>
          <p:cNvPr id="24" name="Rounded Rectangle 23"/>
          <p:cNvSpPr/>
          <p:nvPr/>
        </p:nvSpPr>
        <p:spPr>
          <a:xfrm>
            <a:off x="8078904" y="4619843"/>
            <a:ext cx="3335551" cy="1513165"/>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0001" y="4860940"/>
            <a:ext cx="2853357" cy="175800"/>
          </a:xfrm>
          <a:prstGeom prst="rect">
            <a:avLst/>
          </a:prstGeom>
          <a:noFill/>
        </p:spPr>
        <p:txBody>
          <a:bodyPr wrap="square" lIns="0" tIns="0" rIns="0" bIns="0">
            <a:spAutoFit/>
          </a:bodyPr>
          <a:lstStyle/>
          <a:p>
            <a:pPr algn="l"/>
            <a:r>
              <a:rPr sz="1064" b="1">
                <a:solidFill>
                  <a:srgbClr val="1B6FEA"/>
                </a:solidFill>
                <a:latin typeface="Calibri"/>
              </a:rPr>
              <a:t>SUCCESS TEST 3</a:t>
            </a:r>
          </a:p>
        </p:txBody>
      </p:sp>
      <p:sp>
        <p:nvSpPr>
          <p:cNvPr id="26" name="TextBox 25"/>
          <p:cNvSpPr txBox="1"/>
          <p:nvPr/>
        </p:nvSpPr>
        <p:spPr>
          <a:xfrm>
            <a:off x="8320001" y="5110923"/>
            <a:ext cx="2853357" cy="301371"/>
          </a:xfrm>
          <a:prstGeom prst="rect">
            <a:avLst/>
          </a:prstGeom>
          <a:noFill/>
        </p:spPr>
        <p:txBody>
          <a:bodyPr wrap="square" lIns="0" tIns="0" rIns="0" bIns="0">
            <a:spAutoFit/>
          </a:bodyPr>
          <a:lstStyle/>
          <a:p>
            <a:pPr algn="l"/>
            <a:r>
              <a:rPr sz="1825" b="1">
                <a:solidFill>
                  <a:srgbClr val="161E2E"/>
                </a:solidFill>
                <a:latin typeface="Calibri"/>
              </a:rPr>
              <a:t>Stay personal</a:t>
            </a:r>
          </a:p>
        </p:txBody>
      </p:sp>
      <p:sp>
        <p:nvSpPr>
          <p:cNvPr id="27" name="TextBox 26"/>
          <p:cNvSpPr txBox="1"/>
          <p:nvPr/>
        </p:nvSpPr>
        <p:spPr>
          <a:xfrm>
            <a:off x="8320001" y="5523569"/>
            <a:ext cx="2853357" cy="368342"/>
          </a:xfrm>
          <a:prstGeom prst="rect">
            <a:avLst/>
          </a:prstGeom>
          <a:noFill/>
        </p:spPr>
        <p:txBody>
          <a:bodyPr wrap="square" lIns="0" tIns="0" rIns="0" bIns="0">
            <a:spAutoFit/>
          </a:bodyPr>
          <a:lstStyle/>
          <a:p>
            <a:pPr algn="l"/>
            <a:r>
              <a:rPr sz="1115" b="0">
                <a:solidFill>
                  <a:srgbClr val="3D4756"/>
                </a:solidFill>
                <a:latin typeface="Calibri"/>
              </a:rPr>
              <a:t>The fit must come from that person's own fingerprint, not a generic 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104847" cy="77724"/>
          </a:xfrm>
          <a:prstGeom prst="rect">
            <a:avLst/>
          </a:prstGeom>
          <a:gradFill rotWithShape="1">
            <a:gsLst>
              <a:gs pos="0">
                <a:srgbClr val="1B6FEA"/>
              </a:gs>
              <a:gs pos="100000">
                <a:srgbClr val="17A2A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92608"/>
            <a:ext cx="8716975" cy="566928"/>
          </a:xfrm>
          <a:prstGeom prst="rect">
            <a:avLst/>
          </a:prstGeom>
          <a:noFill/>
        </p:spPr>
        <p:txBody>
          <a:bodyPr wrap="square" lIns="0" tIns="0" rIns="0" bIns="0">
            <a:spAutoFit/>
          </a:bodyPr>
          <a:lstStyle/>
          <a:p>
            <a:pPr algn="l"/>
            <a:r>
              <a:rPr sz="2400" b="1">
                <a:solidFill>
                  <a:srgbClr val="161E2E"/>
                </a:solidFill>
                <a:latin typeface="Calibri"/>
              </a:rPr>
              <a:t>Trajectory processing and the compression architectures</a:t>
            </a:r>
          </a:p>
        </p:txBody>
      </p:sp>
      <p:sp>
        <p:nvSpPr>
          <p:cNvPr id="6" name="Rounded Rectangle 5"/>
          <p:cNvSpPr/>
          <p:nvPr/>
        </p:nvSpPr>
        <p:spPr>
          <a:xfrm>
            <a:off x="10086162" y="347472"/>
            <a:ext cx="1328293"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100" b="1">
                <a:solidFill>
                  <a:srgbClr val="1B6FEA"/>
                </a:solidFill>
                <a:latin typeface="Calibri"/>
              </a:rPr>
              <a:t>65 s  |  4/11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777240" y="1188720"/>
          <a:ext cx="10637213" cy="3613276"/>
        </p:xfrm>
        <a:graphic>
          <a:graphicData uri="http://schemas.openxmlformats.org/drawingml/2006/table">
            <a:tbl>
              <a:tblPr firstRow="1" bandRow="1">
                <a:tableStyleId>{5C22544A-7EE6-4342-B048-85BDC9FD1C3A}</a:tableStyleId>
              </a:tblPr>
              <a:tblGrid>
                <a:gridCol w="1814583">
                  <a:extLst>
                    <a:ext uri="{9D8B030D-6E8A-4147-A177-3AD203B41FA5}">
                      <a16:colId xmlns:a16="http://schemas.microsoft.com/office/drawing/2014/main" val="20000"/>
                    </a:ext>
                  </a:extLst>
                </a:gridCol>
                <a:gridCol w="3942026">
                  <a:extLst>
                    <a:ext uri="{9D8B030D-6E8A-4147-A177-3AD203B41FA5}">
                      <a16:colId xmlns:a16="http://schemas.microsoft.com/office/drawing/2014/main" val="20001"/>
                    </a:ext>
                  </a:extLst>
                </a:gridCol>
                <a:gridCol w="4880604">
                  <a:extLst>
                    <a:ext uri="{9D8B030D-6E8A-4147-A177-3AD203B41FA5}">
                      <a16:colId xmlns:a16="http://schemas.microsoft.com/office/drawing/2014/main" val="20002"/>
                    </a:ext>
                  </a:extLst>
                </a:gridCol>
              </a:tblGrid>
              <a:tr h="473353">
                <a:tc>
                  <a:txBody>
                    <a:bodyPr/>
                    <a:lstStyle/>
                    <a:p>
                      <a:r>
                        <a:rPr sz="1240" b="1">
                          <a:solidFill>
                            <a:srgbClr val="FFFFFF"/>
                          </a:solidFill>
                          <a:latin typeface="Calibri"/>
                        </a:rPr>
                        <a:t>Stage in the model</a:t>
                      </a:r>
                    </a:p>
                  </a:txBody>
                  <a:tcPr marL="88753" marR="88753" marT="29584" marB="29584" anchor="ctr">
                    <a:solidFill>
                      <a:srgbClr val="0E1729"/>
                    </a:solidFill>
                  </a:tcPr>
                </a:tc>
                <a:tc>
                  <a:txBody>
                    <a:bodyPr/>
                    <a:lstStyle/>
                    <a:p>
                      <a:r>
                        <a:rPr sz="1240" b="1">
                          <a:solidFill>
                            <a:srgbClr val="FFFFFF"/>
                          </a:solidFill>
                          <a:latin typeface="Calibri"/>
                        </a:rPr>
                        <a:t>Spline + PCA  (linear baseline)</a:t>
                      </a:r>
                    </a:p>
                  </a:txBody>
                  <a:tcPr marL="88753" marR="88753" marT="29584" marB="29584" anchor="ctr">
                    <a:solidFill>
                      <a:srgbClr val="0E1729"/>
                    </a:solidFill>
                  </a:tcPr>
                </a:tc>
                <a:tc>
                  <a:txBody>
                    <a:bodyPr/>
                    <a:lstStyle/>
                    <a:p>
                      <a:r>
                        <a:rPr sz="1240" b="1">
                          <a:solidFill>
                            <a:srgbClr val="FFFFFF"/>
                          </a:solidFill>
                          <a:latin typeface="Calibri"/>
                        </a:rPr>
                        <a:t>Neural models  (VAE / CVAE / CAE)</a:t>
                      </a:r>
                    </a:p>
                  </a:txBody>
                  <a:tcPr marL="88753" marR="88753" marT="29584" marB="29584" anchor="ctr">
                    <a:solidFill>
                      <a:srgbClr val="0E1729"/>
                    </a:solidFill>
                  </a:tcPr>
                </a:tc>
                <a:extLst>
                  <a:ext uri="{0D108BD9-81ED-4DB2-BD59-A6C34878D82A}">
                    <a16:rowId xmlns:a16="http://schemas.microsoft.com/office/drawing/2014/main" val="10000"/>
                  </a:ext>
                </a:extLst>
              </a:tr>
              <a:tr h="587032">
                <a:tc>
                  <a:txBody>
                    <a:bodyPr/>
                    <a:lstStyle/>
                    <a:p>
                      <a:r>
                        <a:rPr sz="1240" b="1">
                          <a:solidFill>
                            <a:srgbClr val="161E2E"/>
                          </a:solidFill>
                          <a:latin typeface="Calibri"/>
                        </a:rPr>
                        <a:t>Primary input</a:t>
                      </a:r>
                    </a:p>
                  </a:txBody>
                  <a:tcPr marL="88753" marR="88753" marT="29584" marB="29584" anchor="ctr">
                    <a:solidFill>
                      <a:srgbClr val="FFFFFF"/>
                    </a:solidFill>
                  </a:tcPr>
                </a:tc>
                <a:tc>
                  <a:txBody>
                    <a:bodyPr/>
                    <a:lstStyle/>
                    <a:p>
                      <a:r>
                        <a:rPr sz="1240" b="0">
                          <a:solidFill>
                            <a:srgbClr val="3D4756"/>
                          </a:solidFill>
                          <a:latin typeface="Calibri"/>
                        </a:rPr>
                        <a:t>The same 100 × 2 normalised trajectory</a:t>
                      </a:r>
                    </a:p>
                  </a:txBody>
                  <a:tcPr marL="88753" marR="88753" marT="29584" marB="29584" anchor="ctr">
                    <a:solidFill>
                      <a:srgbClr val="FFFFFF"/>
                    </a:solidFill>
                  </a:tcPr>
                </a:tc>
                <a:tc>
                  <a:txBody>
                    <a:bodyPr/>
                    <a:lstStyle/>
                    <a:p>
                      <a:r>
                        <a:rPr sz="1240" b="0">
                          <a:solidFill>
                            <a:srgbClr val="3D4756"/>
                          </a:solidFill>
                          <a:latin typeface="Calibri"/>
                        </a:rPr>
                        <a:t>The same 100 × 2 trajectory; CVAE and CAE add 5 task conditions</a:t>
                      </a:r>
                    </a:p>
                  </a:txBody>
                  <a:tcPr marL="88753" marR="88753" marT="29584" marB="29584" anchor="ctr">
                    <a:solidFill>
                      <a:srgbClr val="FFFFFF"/>
                    </a:solidFill>
                  </a:tcPr>
                </a:tc>
                <a:extLst>
                  <a:ext uri="{0D108BD9-81ED-4DB2-BD59-A6C34878D82A}">
                    <a16:rowId xmlns:a16="http://schemas.microsoft.com/office/drawing/2014/main" val="10001"/>
                  </a:ext>
                </a:extLst>
              </a:tr>
              <a:tr h="791795">
                <a:tc>
                  <a:txBody>
                    <a:bodyPr/>
                    <a:lstStyle/>
                    <a:p>
                      <a:r>
                        <a:rPr sz="1240" b="1">
                          <a:solidFill>
                            <a:srgbClr val="161E2E"/>
                          </a:solidFill>
                          <a:latin typeface="Calibri"/>
                        </a:rPr>
                        <a:t>Where standardisation happens</a:t>
                      </a:r>
                    </a:p>
                  </a:txBody>
                  <a:tcPr marL="88753" marR="88753" marT="29584" marB="29584" anchor="ctr">
                    <a:solidFill>
                      <a:srgbClr val="F8FAFC"/>
                    </a:solidFill>
                  </a:tcPr>
                </a:tc>
                <a:tc>
                  <a:txBody>
                    <a:bodyPr/>
                    <a:lstStyle/>
                    <a:p>
                      <a:r>
                        <a:rPr sz="1240" b="0">
                          <a:solidFill>
                            <a:srgbClr val="3D4756"/>
                          </a:solidFill>
                          <a:latin typeface="Calibri"/>
                        </a:rPr>
                        <a:t>On the 18 spline coefficients, after fitting</a:t>
                      </a:r>
                    </a:p>
                  </a:txBody>
                  <a:tcPr marL="88753" marR="88753" marT="29584" marB="29584" anchor="ctr">
                    <a:solidFill>
                      <a:srgbClr val="F8FAFC"/>
                    </a:solidFill>
                  </a:tcPr>
                </a:tc>
                <a:tc>
                  <a:txBody>
                    <a:bodyPr/>
                    <a:lstStyle/>
                    <a:p>
                      <a:r>
                        <a:rPr sz="1240" b="0">
                          <a:solidFill>
                            <a:srgbClr val="3D4756"/>
                          </a:solidFill>
                          <a:latin typeface="Calibri"/>
                        </a:rPr>
                        <a:t>On the 200 coordinates, with train-set constants</a:t>
                      </a:r>
                    </a:p>
                  </a:txBody>
                  <a:tcPr marL="88753" marR="88753" marT="29584" marB="29584" anchor="ctr">
                    <a:solidFill>
                      <a:srgbClr val="F8FAFC"/>
                    </a:solidFill>
                  </a:tcPr>
                </a:tc>
                <a:extLst>
                  <a:ext uri="{0D108BD9-81ED-4DB2-BD59-A6C34878D82A}">
                    <a16:rowId xmlns:a16="http://schemas.microsoft.com/office/drawing/2014/main" val="10002"/>
                  </a:ext>
                </a:extLst>
              </a:tr>
              <a:tr h="587032">
                <a:tc>
                  <a:txBody>
                    <a:bodyPr/>
                    <a:lstStyle/>
                    <a:p>
                      <a:r>
                        <a:rPr sz="1240" b="1">
                          <a:solidFill>
                            <a:srgbClr val="161E2E"/>
                          </a:solidFill>
                          <a:latin typeface="Calibri"/>
                        </a:rPr>
                        <a:t>Encoder / compression</a:t>
                      </a:r>
                    </a:p>
                  </a:txBody>
                  <a:tcPr marL="88753" marR="88753" marT="29584" marB="29584" anchor="ctr">
                    <a:solidFill>
                      <a:srgbClr val="FFFFFF"/>
                    </a:solidFill>
                  </a:tcPr>
                </a:tc>
                <a:tc>
                  <a:txBody>
                    <a:bodyPr/>
                    <a:lstStyle/>
                    <a:p>
                      <a:r>
                        <a:rPr sz="1240" b="0">
                          <a:solidFill>
                            <a:srgbClr val="3D4756"/>
                          </a:solidFill>
                          <a:latin typeface="Calibri"/>
                        </a:rPr>
                        <a:t>Cubic B-spline fit, 9 coefficients per axis -&gt; PCA to n latents</a:t>
                      </a:r>
                    </a:p>
                  </a:txBody>
                  <a:tcPr marL="88753" marR="88753" marT="29584" marB="29584" anchor="ctr">
                    <a:solidFill>
                      <a:srgbClr val="FFFFFF"/>
                    </a:solidFill>
                  </a:tcPr>
                </a:tc>
                <a:tc>
                  <a:txBody>
                    <a:bodyPr/>
                    <a:lstStyle/>
                    <a:p>
                      <a:r>
                        <a:rPr sz="1240" b="0">
                          <a:solidFill>
                            <a:srgbClr val="3D4756"/>
                          </a:solidFill>
                          <a:latin typeface="Calibri"/>
                        </a:rPr>
                        <a:t>Two fully connected 256-unit ReLU layers -&gt; latent n</a:t>
                      </a:r>
                    </a:p>
                  </a:txBody>
                  <a:tcPr marL="88753" marR="88753" marT="29584" marB="29584" anchor="ctr">
                    <a:solidFill>
                      <a:srgbClr val="FFFFFF"/>
                    </a:solidFill>
                  </a:tcPr>
                </a:tc>
                <a:extLst>
                  <a:ext uri="{0D108BD9-81ED-4DB2-BD59-A6C34878D82A}">
                    <a16:rowId xmlns:a16="http://schemas.microsoft.com/office/drawing/2014/main" val="10003"/>
                  </a:ext>
                </a:extLst>
              </a:tr>
              <a:tr h="587032">
                <a:tc>
                  <a:txBody>
                    <a:bodyPr/>
                    <a:lstStyle/>
                    <a:p>
                      <a:r>
                        <a:rPr sz="1240" b="1">
                          <a:solidFill>
                            <a:srgbClr val="161E2E"/>
                          </a:solidFill>
                          <a:latin typeface="Calibri"/>
                        </a:rPr>
                        <a:t>Decoder / reconstruction</a:t>
                      </a:r>
                    </a:p>
                  </a:txBody>
                  <a:tcPr marL="88753" marR="88753" marT="29584" marB="29584" anchor="ctr">
                    <a:solidFill>
                      <a:srgbClr val="F8FAFC"/>
                    </a:solidFill>
                  </a:tcPr>
                </a:tc>
                <a:tc>
                  <a:txBody>
                    <a:bodyPr/>
                    <a:lstStyle/>
                    <a:p>
                      <a:r>
                        <a:rPr sz="1240" b="0">
                          <a:solidFill>
                            <a:srgbClr val="3D4756"/>
                          </a:solidFill>
                          <a:latin typeface="Calibri"/>
                        </a:rPr>
                        <a:t>Inverse PCA -&gt; multiply by the spline basis for the full path</a:t>
                      </a:r>
                    </a:p>
                  </a:txBody>
                  <a:tcPr marL="88753" marR="88753" marT="29584" marB="29584" anchor="ctr">
                    <a:solidFill>
                      <a:srgbClr val="F8FAFC"/>
                    </a:solidFill>
                  </a:tcPr>
                </a:tc>
                <a:tc>
                  <a:txBody>
                    <a:bodyPr/>
                    <a:lstStyle/>
                    <a:p>
                      <a:r>
                        <a:rPr sz="1240" b="0">
                          <a:solidFill>
                            <a:srgbClr val="3D4756"/>
                          </a:solidFill>
                          <a:latin typeface="Calibri"/>
                        </a:rPr>
                        <a:t>Two 256-unit ReLU layers -&gt; separate heads for 200 coordinates and 2 durations</a:t>
                      </a:r>
                    </a:p>
                  </a:txBody>
                  <a:tcPr marL="88753" marR="88753" marT="29584" marB="29584" anchor="ctr">
                    <a:solidFill>
                      <a:srgbClr val="F8FAFC"/>
                    </a:solidFill>
                  </a:tcPr>
                </a:tc>
                <a:extLst>
                  <a:ext uri="{0D108BD9-81ED-4DB2-BD59-A6C34878D82A}">
                    <a16:rowId xmlns:a16="http://schemas.microsoft.com/office/drawing/2014/main" val="10004"/>
                  </a:ext>
                </a:extLst>
              </a:tr>
              <a:tr h="587032">
                <a:tc>
                  <a:txBody>
                    <a:bodyPr/>
                    <a:lstStyle/>
                    <a:p>
                      <a:r>
                        <a:rPr sz="1240" b="1">
                          <a:solidFill>
                            <a:srgbClr val="161E2E"/>
                          </a:solidFill>
                          <a:latin typeface="Calibri"/>
                        </a:rPr>
                        <a:t>Timing prediction</a:t>
                      </a:r>
                    </a:p>
                  </a:txBody>
                  <a:tcPr marL="88753" marR="88753" marT="29584" marB="29584" anchor="ctr">
                    <a:solidFill>
                      <a:srgbClr val="FFFFFF"/>
                    </a:solidFill>
                  </a:tcPr>
                </a:tc>
                <a:tc>
                  <a:txBody>
                    <a:bodyPr/>
                    <a:lstStyle/>
                    <a:p>
                      <a:r>
                        <a:rPr sz="1240" b="0">
                          <a:solidFill>
                            <a:srgbClr val="3D4756"/>
                          </a:solidFill>
                          <a:latin typeface="Calibri"/>
                        </a:rPr>
                        <a:t>Separate Ridge regression on the PCA scores + conditions</a:t>
                      </a:r>
                    </a:p>
                  </a:txBody>
                  <a:tcPr marL="88753" marR="88753" marT="29584" marB="29584" anchor="ctr">
                    <a:solidFill>
                      <a:srgbClr val="FFFFFF"/>
                    </a:solidFill>
                  </a:tcPr>
                </a:tc>
                <a:tc>
                  <a:txBody>
                    <a:bodyPr/>
                    <a:lstStyle/>
                    <a:p>
                      <a:r>
                        <a:rPr sz="1240" b="0">
                          <a:solidFill>
                            <a:srgbClr val="3D4756"/>
                          </a:solidFill>
                          <a:latin typeface="Calibri"/>
                        </a:rPr>
                        <a:t>Dedicated head predicting initiation and movement time</a:t>
                      </a:r>
                    </a:p>
                  </a:txBody>
                  <a:tcPr marL="88753" marR="88753" marT="29584" marB="29584" anchor="ctr">
                    <a:solidFill>
                      <a:srgbClr val="FFFFFF"/>
                    </a:solidFill>
                  </a:tcPr>
                </a:tc>
                <a:extLst>
                  <a:ext uri="{0D108BD9-81ED-4DB2-BD59-A6C34878D82A}">
                    <a16:rowId xmlns:a16="http://schemas.microsoft.com/office/drawing/2014/main" val="10005"/>
                  </a:ext>
                </a:extLst>
              </a:tr>
            </a:tbl>
          </a:graphicData>
        </a:graphic>
      </p:graphicFrame>
      <p:sp>
        <p:nvSpPr>
          <p:cNvPr id="9" name="Rectangle 8"/>
          <p:cNvSpPr/>
          <p:nvPr/>
        </p:nvSpPr>
        <p:spPr>
          <a:xfrm>
            <a:off x="777240" y="4999226"/>
            <a:ext cx="10637215" cy="1353490"/>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4999226"/>
            <a:ext cx="59169" cy="1353490"/>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13916" y="5157010"/>
            <a:ext cx="10065248" cy="213666"/>
          </a:xfrm>
          <a:prstGeom prst="rect">
            <a:avLst/>
          </a:prstGeom>
          <a:noFill/>
        </p:spPr>
        <p:txBody>
          <a:bodyPr wrap="square" lIns="0" tIns="0" rIns="0" bIns="0">
            <a:spAutoFit/>
          </a:bodyPr>
          <a:lstStyle/>
          <a:p>
            <a:pPr algn="l"/>
            <a:r>
              <a:rPr sz="1294" b="1">
                <a:solidFill>
                  <a:srgbClr val="1B6FEA"/>
                </a:solidFill>
                <a:latin typeface="Calibri"/>
              </a:rPr>
              <a:t>Three neural variants, one architecture</a:t>
            </a:r>
          </a:p>
        </p:txBody>
      </p:sp>
      <p:sp>
        <p:nvSpPr>
          <p:cNvPr id="12" name="TextBox 11"/>
          <p:cNvSpPr txBox="1"/>
          <p:nvPr/>
        </p:nvSpPr>
        <p:spPr>
          <a:xfrm>
            <a:off x="1013916" y="5469291"/>
            <a:ext cx="10065248" cy="391720"/>
          </a:xfrm>
          <a:prstGeom prst="rect">
            <a:avLst/>
          </a:prstGeom>
          <a:noFill/>
        </p:spPr>
        <p:txBody>
          <a:bodyPr wrap="square" lIns="0" tIns="0" rIns="0" bIns="0">
            <a:spAutoFit/>
          </a:bodyPr>
          <a:lstStyle/>
          <a:p>
            <a:pPr algn="l"/>
            <a:r>
              <a:rPr sz="1186" b="0">
                <a:solidFill>
                  <a:srgbClr val="3D4756"/>
                </a:solidFill>
                <a:latin typeface="Calibri"/>
              </a:rPr>
              <a:t>VAE - variational autoencoder, trained on the trajectory alone. CVAE - conditional variational autoencoder, which also receives the task conditions. CAE - conditional autoencoder, the same network without the variational latent.</a:t>
            </a:r>
          </a:p>
        </p:txBody>
      </p:sp>
      <p:sp>
        <p:nvSpPr>
          <p:cNvPr id="13" name="TextBox 12"/>
          <p:cNvSpPr txBox="1"/>
          <p:nvPr/>
        </p:nvSpPr>
        <p:spPr>
          <a:xfrm>
            <a:off x="1013916" y="5959626"/>
            <a:ext cx="10065248" cy="195860"/>
          </a:xfrm>
          <a:prstGeom prst="rect">
            <a:avLst/>
          </a:prstGeom>
          <a:noFill/>
        </p:spPr>
        <p:txBody>
          <a:bodyPr wrap="square" lIns="0" tIns="0" rIns="0" bIns="0">
            <a:spAutoFit/>
          </a:bodyPr>
          <a:lstStyle/>
          <a:p>
            <a:pPr algn="l"/>
            <a:r>
              <a:rPr sz="1186" b="0">
                <a:solidFill>
                  <a:srgbClr val="3D4756"/>
                </a:solidFill>
                <a:latin typeface="Calibri"/>
              </a:rPr>
              <a:t>All are compared at identical latent dimensions, n = 3 (extreme compression) and n = 8 (extended capacity).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104847" cy="77724"/>
          </a:xfrm>
          <a:prstGeom prst="rect">
            <a:avLst/>
          </a:prstGeom>
          <a:gradFill rotWithShape="1">
            <a:gsLst>
              <a:gs pos="0">
                <a:srgbClr val="1B6FEA"/>
              </a:gs>
              <a:gs pos="100000">
                <a:srgbClr val="17A2A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92608"/>
            <a:ext cx="8716975" cy="566928"/>
          </a:xfrm>
          <a:prstGeom prst="rect">
            <a:avLst/>
          </a:prstGeom>
          <a:noFill/>
        </p:spPr>
        <p:txBody>
          <a:bodyPr wrap="square" lIns="0" tIns="0" rIns="0" bIns="0">
            <a:spAutoFit/>
          </a:bodyPr>
          <a:lstStyle/>
          <a:p>
            <a:pPr algn="l"/>
            <a:r>
              <a:rPr sz="2400" b="1">
                <a:solidFill>
                  <a:srgbClr val="161E2E"/>
                </a:solidFill>
                <a:latin typeface="Calibri"/>
              </a:rPr>
              <a:t>Task 1: Trajectory Reconstruction</a:t>
            </a:r>
          </a:p>
        </p:txBody>
      </p:sp>
      <p:sp>
        <p:nvSpPr>
          <p:cNvPr id="6" name="Rounded Rectangle 5"/>
          <p:cNvSpPr/>
          <p:nvPr/>
        </p:nvSpPr>
        <p:spPr>
          <a:xfrm>
            <a:off x="10086162" y="347472"/>
            <a:ext cx="1328293"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100" b="1">
                <a:solidFill>
                  <a:srgbClr val="1B6FEA"/>
                </a:solidFill>
                <a:latin typeface="Calibri"/>
              </a:rPr>
              <a:t>45 s  |  5/11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reconstruction_slide.png"/>
          <p:cNvPicPr>
            <a:picLocks noChangeAspect="1"/>
          </p:cNvPicPr>
          <p:nvPr/>
        </p:nvPicPr>
        <p:blipFill>
          <a:blip r:embed="rId3"/>
          <a:stretch>
            <a:fillRect/>
          </a:stretch>
        </p:blipFill>
        <p:spPr>
          <a:xfrm>
            <a:off x="777240" y="1835641"/>
            <a:ext cx="6357176" cy="3171230"/>
          </a:xfrm>
          <a:prstGeom prst="rect">
            <a:avLst/>
          </a:prstGeom>
        </p:spPr>
      </p:pic>
      <p:sp>
        <p:nvSpPr>
          <p:cNvPr id="9" name="TextBox 8"/>
          <p:cNvSpPr txBox="1"/>
          <p:nvPr/>
        </p:nvSpPr>
        <p:spPr>
          <a:xfrm>
            <a:off x="777240" y="5160352"/>
            <a:ext cx="6357176" cy="398358"/>
          </a:xfrm>
          <a:prstGeom prst="rect">
            <a:avLst/>
          </a:prstGeom>
          <a:noFill/>
        </p:spPr>
        <p:txBody>
          <a:bodyPr wrap="square" lIns="0" tIns="0" rIns="0" bIns="0">
            <a:spAutoFit/>
          </a:bodyPr>
          <a:lstStyle/>
          <a:p>
            <a:pPr algn="l"/>
            <a:r>
              <a:rPr sz="1206" b="0">
                <a:solidFill>
                  <a:srgbClr val="3D4756"/>
                </a:solidFill>
                <a:latin typeface="Calibri"/>
              </a:rPr>
              <a:t>One median-duration trial. Black: recorded; dashed: reconstructed. Both axes in cm at equal scale.</a:t>
            </a:r>
          </a:p>
        </p:txBody>
      </p:sp>
      <p:sp>
        <p:nvSpPr>
          <p:cNvPr id="10" name="TextBox 9"/>
          <p:cNvSpPr txBox="1"/>
          <p:nvPr/>
        </p:nvSpPr>
        <p:spPr>
          <a:xfrm>
            <a:off x="7518120" y="1188720"/>
            <a:ext cx="3896335" cy="484958"/>
          </a:xfrm>
          <a:prstGeom prst="rect">
            <a:avLst/>
          </a:prstGeom>
          <a:noFill/>
        </p:spPr>
        <p:txBody>
          <a:bodyPr wrap="square" lIns="0" tIns="0" rIns="0" bIns="0">
            <a:spAutoFit/>
          </a:bodyPr>
          <a:lstStyle/>
          <a:p>
            <a:pPr algn="l"/>
            <a:r>
              <a:rPr sz="1468" b="1">
                <a:solidFill>
                  <a:srgbClr val="161E2E"/>
                </a:solidFill>
                <a:latin typeface="Calibri"/>
              </a:rPr>
              <a:t>Trajectory reconstruction error (MSE, cm²)</a:t>
            </a:r>
          </a:p>
        </p:txBody>
      </p:sp>
      <p:graphicFrame>
        <p:nvGraphicFramePr>
          <p:cNvPr id="11" name="Table 10"/>
          <p:cNvGraphicFramePr>
            <a:graphicFrameLocks noGrp="1"/>
          </p:cNvGraphicFramePr>
          <p:nvPr/>
        </p:nvGraphicFramePr>
        <p:xfrm>
          <a:off x="7518120" y="1807974"/>
          <a:ext cx="3896333" cy="2127150"/>
        </p:xfrm>
        <a:graphic>
          <a:graphicData uri="http://schemas.openxmlformats.org/drawingml/2006/table">
            <a:tbl>
              <a:tblPr firstRow="1" bandRow="1">
                <a:tableStyleId>{5C22544A-7EE6-4342-B048-85BDC9FD1C3A}</a:tableStyleId>
              </a:tblPr>
              <a:tblGrid>
                <a:gridCol w="2479485">
                  <a:extLst>
                    <a:ext uri="{9D8B030D-6E8A-4147-A177-3AD203B41FA5}">
                      <a16:colId xmlns:a16="http://schemas.microsoft.com/office/drawing/2014/main" val="20000"/>
                    </a:ext>
                  </a:extLst>
                </a:gridCol>
                <a:gridCol w="708424">
                  <a:extLst>
                    <a:ext uri="{9D8B030D-6E8A-4147-A177-3AD203B41FA5}">
                      <a16:colId xmlns:a16="http://schemas.microsoft.com/office/drawing/2014/main" val="20001"/>
                    </a:ext>
                  </a:extLst>
                </a:gridCol>
                <a:gridCol w="708424">
                  <a:extLst>
                    <a:ext uri="{9D8B030D-6E8A-4147-A177-3AD203B41FA5}">
                      <a16:colId xmlns:a16="http://schemas.microsoft.com/office/drawing/2014/main" val="20002"/>
                    </a:ext>
                  </a:extLst>
                </a:gridCol>
              </a:tblGrid>
              <a:tr h="354525">
                <a:tc>
                  <a:txBody>
                    <a:bodyPr/>
                    <a:lstStyle/>
                    <a:p>
                      <a:r>
                        <a:rPr sz="1101" b="1">
                          <a:solidFill>
                            <a:srgbClr val="FFFFFF"/>
                          </a:solidFill>
                          <a:latin typeface="Calibri"/>
                        </a:rPr>
                        <a:t>Model</a:t>
                      </a:r>
                    </a:p>
                  </a:txBody>
                  <a:tcPr marL="86333" marR="86333" marT="28777" marB="28777" anchor="ctr">
                    <a:solidFill>
                      <a:srgbClr val="0E1729"/>
                    </a:solidFill>
                  </a:tcPr>
                </a:tc>
                <a:tc>
                  <a:txBody>
                    <a:bodyPr/>
                    <a:lstStyle/>
                    <a:p>
                      <a:r>
                        <a:rPr sz="1101" b="1">
                          <a:solidFill>
                            <a:srgbClr val="FFFFFF"/>
                          </a:solidFill>
                          <a:latin typeface="Calibri"/>
                        </a:rPr>
                        <a:t>MSE  n=3</a:t>
                      </a:r>
                    </a:p>
                  </a:txBody>
                  <a:tcPr marL="86333" marR="86333" marT="28777" marB="28777" anchor="ctr">
                    <a:solidFill>
                      <a:srgbClr val="0E1729"/>
                    </a:solidFill>
                  </a:tcPr>
                </a:tc>
                <a:tc>
                  <a:txBody>
                    <a:bodyPr/>
                    <a:lstStyle/>
                    <a:p>
                      <a:r>
                        <a:rPr sz="1101" b="1">
                          <a:solidFill>
                            <a:srgbClr val="FFFFFF"/>
                          </a:solidFill>
                          <a:latin typeface="Calibri"/>
                        </a:rPr>
                        <a:t>MSE  n=8</a:t>
                      </a:r>
                    </a:p>
                  </a:txBody>
                  <a:tcPr marL="86333" marR="86333" marT="28777" marB="28777" anchor="ctr">
                    <a:solidFill>
                      <a:srgbClr val="0E1729"/>
                    </a:solidFill>
                  </a:tcPr>
                </a:tc>
                <a:extLst>
                  <a:ext uri="{0D108BD9-81ED-4DB2-BD59-A6C34878D82A}">
                    <a16:rowId xmlns:a16="http://schemas.microsoft.com/office/drawing/2014/main" val="10000"/>
                  </a:ext>
                </a:extLst>
              </a:tr>
              <a:tr h="354525">
                <a:tc>
                  <a:txBody>
                    <a:bodyPr/>
                    <a:lstStyle/>
                    <a:p>
                      <a:r>
                        <a:rPr sz="1101" b="1">
                          <a:solidFill>
                            <a:srgbClr val="1D7A3E"/>
                          </a:solidFill>
                          <a:latin typeface="Calibri"/>
                        </a:rPr>
                        <a:t>Spline + PCA</a:t>
                      </a:r>
                    </a:p>
                  </a:txBody>
                  <a:tcPr marL="86333" marR="86333" marT="28777" marB="28777" anchor="ctr">
                    <a:solidFill>
                      <a:srgbClr val="EAF7EE"/>
                    </a:solidFill>
                  </a:tcPr>
                </a:tc>
                <a:tc>
                  <a:txBody>
                    <a:bodyPr/>
                    <a:lstStyle/>
                    <a:p>
                      <a:r>
                        <a:rPr sz="1101" b="1">
                          <a:solidFill>
                            <a:srgbClr val="1D7A3E"/>
                          </a:solidFill>
                          <a:latin typeface="Calibri"/>
                        </a:rPr>
                        <a:t>0.0972</a:t>
                      </a:r>
                    </a:p>
                  </a:txBody>
                  <a:tcPr marL="86333" marR="86333" marT="28777" marB="28777" anchor="ctr">
                    <a:solidFill>
                      <a:srgbClr val="EAF7EE"/>
                    </a:solidFill>
                  </a:tcPr>
                </a:tc>
                <a:tc>
                  <a:txBody>
                    <a:bodyPr/>
                    <a:lstStyle/>
                    <a:p>
                      <a:r>
                        <a:rPr sz="1101" b="1">
                          <a:solidFill>
                            <a:srgbClr val="1D7A3E"/>
                          </a:solidFill>
                          <a:latin typeface="Calibri"/>
                        </a:rPr>
                        <a:t>0.0228</a:t>
                      </a:r>
                    </a:p>
                  </a:txBody>
                  <a:tcPr marL="86333" marR="86333" marT="28777" marB="28777" anchor="ctr">
                    <a:solidFill>
                      <a:srgbClr val="EAF7EE"/>
                    </a:solidFill>
                  </a:tcPr>
                </a:tc>
                <a:extLst>
                  <a:ext uri="{0D108BD9-81ED-4DB2-BD59-A6C34878D82A}">
                    <a16:rowId xmlns:a16="http://schemas.microsoft.com/office/drawing/2014/main" val="10001"/>
                  </a:ext>
                </a:extLst>
              </a:tr>
              <a:tr h="354525">
                <a:tc>
                  <a:txBody>
                    <a:bodyPr/>
                    <a:lstStyle/>
                    <a:p>
                      <a:r>
                        <a:rPr sz="1101" b="1">
                          <a:solidFill>
                            <a:srgbClr val="161E2E"/>
                          </a:solidFill>
                          <a:latin typeface="Calibri"/>
                        </a:rPr>
                        <a:t>VAE (Unconditional)</a:t>
                      </a:r>
                    </a:p>
                  </a:txBody>
                  <a:tcPr marL="86333" marR="86333" marT="28777" marB="28777" anchor="ctr">
                    <a:solidFill>
                      <a:srgbClr val="F8FAFC"/>
                    </a:solidFill>
                  </a:tcPr>
                </a:tc>
                <a:tc>
                  <a:txBody>
                    <a:bodyPr/>
                    <a:lstStyle/>
                    <a:p>
                      <a:r>
                        <a:rPr sz="1101" b="0">
                          <a:solidFill>
                            <a:srgbClr val="3D4756"/>
                          </a:solidFill>
                          <a:latin typeface="Calibri"/>
                        </a:rPr>
                        <a:t>0.1483</a:t>
                      </a:r>
                    </a:p>
                  </a:txBody>
                  <a:tcPr marL="86333" marR="86333" marT="28777" marB="28777" anchor="ctr">
                    <a:solidFill>
                      <a:srgbClr val="F8FAFC"/>
                    </a:solidFill>
                  </a:tcPr>
                </a:tc>
                <a:tc>
                  <a:txBody>
                    <a:bodyPr/>
                    <a:lstStyle/>
                    <a:p>
                      <a:r>
                        <a:rPr sz="1101" b="0">
                          <a:solidFill>
                            <a:srgbClr val="3D4756"/>
                          </a:solidFill>
                          <a:latin typeface="Calibri"/>
                        </a:rPr>
                        <a:t>0.0335</a:t>
                      </a:r>
                    </a:p>
                  </a:txBody>
                  <a:tcPr marL="86333" marR="86333" marT="28777" marB="28777" anchor="ctr">
                    <a:solidFill>
                      <a:srgbClr val="F8FAFC"/>
                    </a:solidFill>
                  </a:tcPr>
                </a:tc>
                <a:extLst>
                  <a:ext uri="{0D108BD9-81ED-4DB2-BD59-A6C34878D82A}">
                    <a16:rowId xmlns:a16="http://schemas.microsoft.com/office/drawing/2014/main" val="10002"/>
                  </a:ext>
                </a:extLst>
              </a:tr>
              <a:tr h="354525">
                <a:tc>
                  <a:txBody>
                    <a:bodyPr/>
                    <a:lstStyle/>
                    <a:p>
                      <a:r>
                        <a:rPr sz="1101" b="1">
                          <a:solidFill>
                            <a:srgbClr val="161E2E"/>
                          </a:solidFill>
                          <a:latin typeface="Calibri"/>
                        </a:rPr>
                        <a:t>Conditional AE (CAE)</a:t>
                      </a:r>
                    </a:p>
                  </a:txBody>
                  <a:tcPr marL="86333" marR="86333" marT="28777" marB="28777" anchor="ctr">
                    <a:solidFill>
                      <a:srgbClr val="FFFFFF"/>
                    </a:solidFill>
                  </a:tcPr>
                </a:tc>
                <a:tc>
                  <a:txBody>
                    <a:bodyPr/>
                    <a:lstStyle/>
                    <a:p>
                      <a:r>
                        <a:rPr sz="1101" b="0">
                          <a:solidFill>
                            <a:srgbClr val="3D4756"/>
                          </a:solidFill>
                          <a:latin typeface="Calibri"/>
                        </a:rPr>
                        <a:t>0.1697</a:t>
                      </a:r>
                    </a:p>
                  </a:txBody>
                  <a:tcPr marL="86333" marR="86333" marT="28777" marB="28777" anchor="ctr">
                    <a:solidFill>
                      <a:srgbClr val="FFFFFF"/>
                    </a:solidFill>
                  </a:tcPr>
                </a:tc>
                <a:tc>
                  <a:txBody>
                    <a:bodyPr/>
                    <a:lstStyle/>
                    <a:p>
                      <a:r>
                        <a:rPr sz="1101" b="0">
                          <a:solidFill>
                            <a:srgbClr val="3D4756"/>
                          </a:solidFill>
                          <a:latin typeface="Calibri"/>
                        </a:rPr>
                        <a:t>0.0260</a:t>
                      </a:r>
                    </a:p>
                  </a:txBody>
                  <a:tcPr marL="86333" marR="86333" marT="28777" marB="28777" anchor="ctr">
                    <a:solidFill>
                      <a:srgbClr val="FFFFFF"/>
                    </a:solidFill>
                  </a:tcPr>
                </a:tc>
                <a:extLst>
                  <a:ext uri="{0D108BD9-81ED-4DB2-BD59-A6C34878D82A}">
                    <a16:rowId xmlns:a16="http://schemas.microsoft.com/office/drawing/2014/main" val="10003"/>
                  </a:ext>
                </a:extLst>
              </a:tr>
              <a:tr h="354525">
                <a:tc>
                  <a:txBody>
                    <a:bodyPr/>
                    <a:lstStyle/>
                    <a:p>
                      <a:r>
                        <a:rPr sz="1101" b="1">
                          <a:solidFill>
                            <a:srgbClr val="161E2E"/>
                          </a:solidFill>
                          <a:latin typeface="Calibri"/>
                        </a:rPr>
                        <a:t>CVAE</a:t>
                      </a:r>
                    </a:p>
                  </a:txBody>
                  <a:tcPr marL="86333" marR="86333" marT="28777" marB="28777" anchor="ctr">
                    <a:solidFill>
                      <a:srgbClr val="F8FAFC"/>
                    </a:solidFill>
                  </a:tcPr>
                </a:tc>
                <a:tc>
                  <a:txBody>
                    <a:bodyPr/>
                    <a:lstStyle/>
                    <a:p>
                      <a:r>
                        <a:rPr sz="1101" b="0">
                          <a:solidFill>
                            <a:srgbClr val="3D4756"/>
                          </a:solidFill>
                          <a:latin typeface="Calibri"/>
                        </a:rPr>
                        <a:t>0.1770</a:t>
                      </a:r>
                    </a:p>
                  </a:txBody>
                  <a:tcPr marL="86333" marR="86333" marT="28777" marB="28777" anchor="ctr">
                    <a:solidFill>
                      <a:srgbClr val="F8FAFC"/>
                    </a:solidFill>
                  </a:tcPr>
                </a:tc>
                <a:tc>
                  <a:txBody>
                    <a:bodyPr/>
                    <a:lstStyle/>
                    <a:p>
                      <a:r>
                        <a:rPr sz="1101" b="0">
                          <a:solidFill>
                            <a:srgbClr val="3D4756"/>
                          </a:solidFill>
                          <a:latin typeface="Calibri"/>
                        </a:rPr>
                        <a:t>0.0325</a:t>
                      </a:r>
                    </a:p>
                  </a:txBody>
                  <a:tcPr marL="86333" marR="86333" marT="28777" marB="28777" anchor="ctr">
                    <a:solidFill>
                      <a:srgbClr val="F8FAFC"/>
                    </a:solidFill>
                  </a:tcPr>
                </a:tc>
                <a:extLst>
                  <a:ext uri="{0D108BD9-81ED-4DB2-BD59-A6C34878D82A}">
                    <a16:rowId xmlns:a16="http://schemas.microsoft.com/office/drawing/2014/main" val="10004"/>
                  </a:ext>
                </a:extLst>
              </a:tr>
              <a:tr h="354525">
                <a:tc>
                  <a:txBody>
                    <a:bodyPr/>
                    <a:lstStyle/>
                    <a:p>
                      <a:r>
                        <a:rPr sz="1101" b="1">
                          <a:solidFill>
                            <a:srgbClr val="161E2E"/>
                          </a:solidFill>
                          <a:latin typeface="Calibri"/>
                        </a:rPr>
                        <a:t>Condition-only Ridge (Floor)</a:t>
                      </a:r>
                    </a:p>
                  </a:txBody>
                  <a:tcPr marL="86333" marR="86333" marT="28777" marB="28777" anchor="ctr">
                    <a:solidFill>
                      <a:srgbClr val="FFFFFF"/>
                    </a:solidFill>
                  </a:tcPr>
                </a:tc>
                <a:tc>
                  <a:txBody>
                    <a:bodyPr/>
                    <a:lstStyle/>
                    <a:p>
                      <a:r>
                        <a:rPr sz="1101" b="0">
                          <a:solidFill>
                            <a:srgbClr val="3D4756"/>
                          </a:solidFill>
                          <a:latin typeface="Calibri"/>
                        </a:rPr>
                        <a:t>1.2338</a:t>
                      </a:r>
                    </a:p>
                  </a:txBody>
                  <a:tcPr marL="86333" marR="86333" marT="28777" marB="28777" anchor="ctr">
                    <a:solidFill>
                      <a:srgbClr val="FFFFFF"/>
                    </a:solidFill>
                  </a:tcPr>
                </a:tc>
                <a:tc>
                  <a:txBody>
                    <a:bodyPr/>
                    <a:lstStyle/>
                    <a:p>
                      <a:r>
                        <a:rPr sz="1101" b="0">
                          <a:solidFill>
                            <a:srgbClr val="3D4756"/>
                          </a:solidFill>
                          <a:latin typeface="Calibri"/>
                        </a:rPr>
                        <a:t>1.2338</a:t>
                      </a:r>
                    </a:p>
                  </a:txBody>
                  <a:tcPr marL="86333" marR="86333" marT="28777" marB="28777" anchor="ctr">
                    <a:solidFill>
                      <a:srgbClr val="FFFFFF"/>
                    </a:solidFill>
                  </a:tcPr>
                </a:tc>
                <a:extLst>
                  <a:ext uri="{0D108BD9-81ED-4DB2-BD59-A6C34878D82A}">
                    <a16:rowId xmlns:a16="http://schemas.microsoft.com/office/drawing/2014/main" val="10005"/>
                  </a:ext>
                </a:extLst>
              </a:tr>
            </a:tbl>
          </a:graphicData>
        </a:graphic>
      </p:graphicFrame>
      <p:sp>
        <p:nvSpPr>
          <p:cNvPr id="12" name="Rectangle 11"/>
          <p:cNvSpPr/>
          <p:nvPr/>
        </p:nvSpPr>
        <p:spPr>
          <a:xfrm>
            <a:off x="7518120" y="4126976"/>
            <a:ext cx="3896335" cy="2078656"/>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518120" y="4126976"/>
            <a:ext cx="57555" cy="2078656"/>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48342" y="4280457"/>
            <a:ext cx="3339965" cy="207839"/>
          </a:xfrm>
          <a:prstGeom prst="rect">
            <a:avLst/>
          </a:prstGeom>
          <a:noFill/>
        </p:spPr>
        <p:txBody>
          <a:bodyPr wrap="square" lIns="0" tIns="0" rIns="0" bIns="0">
            <a:spAutoFit/>
          </a:bodyPr>
          <a:lstStyle/>
          <a:p>
            <a:pPr algn="l"/>
            <a:r>
              <a:rPr sz="1258" b="1">
                <a:solidFill>
                  <a:srgbClr val="1B6FEA"/>
                </a:solidFill>
                <a:latin typeface="Calibri"/>
              </a:rPr>
              <a:t>Key insight on pointwise reconstruction</a:t>
            </a:r>
          </a:p>
        </p:txBody>
      </p:sp>
      <p:sp>
        <p:nvSpPr>
          <p:cNvPr id="15" name="TextBox 14"/>
          <p:cNvSpPr txBox="1"/>
          <p:nvPr/>
        </p:nvSpPr>
        <p:spPr>
          <a:xfrm>
            <a:off x="7748342" y="4584222"/>
            <a:ext cx="3339965" cy="381038"/>
          </a:xfrm>
          <a:prstGeom prst="rect">
            <a:avLst/>
          </a:prstGeom>
          <a:noFill/>
        </p:spPr>
        <p:txBody>
          <a:bodyPr wrap="square" lIns="0" tIns="0" rIns="0" bIns="0">
            <a:spAutoFit/>
          </a:bodyPr>
          <a:lstStyle/>
          <a:p>
            <a:pPr algn="l"/>
            <a:r>
              <a:rPr sz="1153" b="1">
                <a:solidFill>
                  <a:srgbClr val="161E2E"/>
                </a:solidFill>
                <a:latin typeface="Calibri"/>
              </a:rPr>
              <a:t>PCA wins at reconstructing a single trajectory.</a:t>
            </a:r>
          </a:p>
        </p:txBody>
      </p:sp>
      <p:sp>
        <p:nvSpPr>
          <p:cNvPr id="16" name="TextBox 15"/>
          <p:cNvSpPr txBox="1"/>
          <p:nvPr/>
        </p:nvSpPr>
        <p:spPr>
          <a:xfrm>
            <a:off x="7748342" y="5061186"/>
            <a:ext cx="3339965" cy="952595"/>
          </a:xfrm>
          <a:prstGeom prst="rect">
            <a:avLst/>
          </a:prstGeom>
          <a:noFill/>
        </p:spPr>
        <p:txBody>
          <a:bodyPr wrap="square" lIns="0" tIns="0" rIns="0" bIns="0">
            <a:spAutoFit/>
          </a:bodyPr>
          <a:lstStyle/>
          <a:p>
            <a:pPr algn="l"/>
            <a:r>
              <a:rPr sz="1153" b="0">
                <a:solidFill>
                  <a:srgbClr val="3D4756"/>
                </a:solidFill>
                <a:latin typeface="Calibri"/>
              </a:rPr>
              <a:t>As a linear projection, PCA is analytically optimal for minimising squared error among all linear methods. VAEs trade off pointwise accuracy to obtain a continuous and samplable latent space.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104847" cy="77724"/>
          </a:xfrm>
          <a:prstGeom prst="rect">
            <a:avLst/>
          </a:prstGeom>
          <a:gradFill rotWithShape="1">
            <a:gsLst>
              <a:gs pos="0">
                <a:srgbClr val="1B6FEA"/>
              </a:gs>
              <a:gs pos="100000">
                <a:srgbClr val="17A2A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92608"/>
            <a:ext cx="8716975" cy="566928"/>
          </a:xfrm>
          <a:prstGeom prst="rect">
            <a:avLst/>
          </a:prstGeom>
          <a:noFill/>
        </p:spPr>
        <p:txBody>
          <a:bodyPr wrap="square" lIns="0" tIns="0" rIns="0" bIns="0">
            <a:spAutoFit/>
          </a:bodyPr>
          <a:lstStyle/>
          <a:p>
            <a:pPr algn="l"/>
            <a:r>
              <a:rPr sz="2400" b="1">
                <a:solidFill>
                  <a:srgbClr val="161E2E"/>
                </a:solidFill>
                <a:latin typeface="Calibri"/>
              </a:rPr>
              <a:t>Task 2: generating a personal movement distribution</a:t>
            </a:r>
          </a:p>
        </p:txBody>
      </p:sp>
      <p:sp>
        <p:nvSpPr>
          <p:cNvPr id="6" name="Rounded Rectangle 5"/>
          <p:cNvSpPr/>
          <p:nvPr/>
        </p:nvSpPr>
        <p:spPr>
          <a:xfrm>
            <a:off x="10086162" y="347472"/>
            <a:ext cx="1328293"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100" b="1">
                <a:solidFill>
                  <a:srgbClr val="1B6FEA"/>
                </a:solidFill>
                <a:latin typeface="Calibri"/>
              </a:rPr>
              <a:t>60 s  |  6/11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188720"/>
            <a:ext cx="5117115" cy="254663"/>
          </a:xfrm>
          <a:prstGeom prst="rect">
            <a:avLst/>
          </a:prstGeom>
          <a:noFill/>
        </p:spPr>
        <p:txBody>
          <a:bodyPr wrap="square" lIns="0" tIns="0" rIns="0" bIns="0">
            <a:spAutoFit/>
          </a:bodyPr>
          <a:lstStyle/>
          <a:p>
            <a:pPr algn="l"/>
            <a:r>
              <a:rPr sz="1542" b="1">
                <a:solidFill>
                  <a:srgbClr val="161E2E"/>
                </a:solidFill>
                <a:latin typeface="Calibri"/>
              </a:rPr>
              <a:t>How do we generate movements from a fingerprint?</a:t>
            </a:r>
          </a:p>
        </p:txBody>
      </p:sp>
      <p:sp>
        <p:nvSpPr>
          <p:cNvPr id="9" name="TextBox 8"/>
          <p:cNvSpPr txBox="1"/>
          <p:nvPr/>
        </p:nvSpPr>
        <p:spPr>
          <a:xfrm>
            <a:off x="777240" y="1584427"/>
            <a:ext cx="5117115" cy="418376"/>
          </a:xfrm>
          <a:prstGeom prst="rect">
            <a:avLst/>
          </a:prstGeom>
          <a:noFill/>
        </p:spPr>
        <p:txBody>
          <a:bodyPr wrap="square" lIns="0" tIns="0" rIns="0" bIns="0">
            <a:spAutoFit/>
          </a:bodyPr>
          <a:lstStyle/>
          <a:p>
            <a:pPr algn="l"/>
            <a:r>
              <a:rPr sz="1267" b="1">
                <a:solidFill>
                  <a:srgbClr val="3D4756"/>
                </a:solidFill>
                <a:latin typeface="Calibri"/>
              </a:rPr>
              <a:t>•  Enrollment: </a:t>
            </a:r>
            <a:r>
              <a:rPr sz="1267" b="0">
                <a:solidFill>
                  <a:srgbClr val="3D4756"/>
                </a:solidFill>
                <a:latin typeface="Calibri"/>
              </a:rPr>
              <a:t>earlier context trials of the participant, whose mean defines the personal fingerprint centre.</a:t>
            </a:r>
          </a:p>
        </p:txBody>
      </p:sp>
      <p:sp>
        <p:nvSpPr>
          <p:cNvPr id="10" name="TextBox 9"/>
          <p:cNvSpPr txBox="1"/>
          <p:nvPr/>
        </p:nvSpPr>
        <p:spPr>
          <a:xfrm>
            <a:off x="777240" y="2184146"/>
            <a:ext cx="5117115" cy="418376"/>
          </a:xfrm>
          <a:prstGeom prst="rect">
            <a:avLst/>
          </a:prstGeom>
          <a:noFill/>
        </p:spPr>
        <p:txBody>
          <a:bodyPr wrap="square" lIns="0" tIns="0" rIns="0" bIns="0">
            <a:spAutoFit/>
          </a:bodyPr>
          <a:lstStyle/>
          <a:p>
            <a:pPr algn="l"/>
            <a:r>
              <a:rPr sz="1267" b="1">
                <a:solidFill>
                  <a:srgbClr val="3D4756"/>
                </a:solidFill>
                <a:latin typeface="Calibri"/>
              </a:rPr>
              <a:t>•  Stochastic sampling: </a:t>
            </a:r>
            <a:r>
              <a:rPr sz="1267" b="0">
                <a:solidFill>
                  <a:srgbClr val="3D4756"/>
                </a:solidFill>
                <a:latin typeface="Calibri"/>
              </a:rPr>
              <a:t>draw 120 latent vectors around that centre using a shared covariance learned from training data.</a:t>
            </a:r>
          </a:p>
        </p:txBody>
      </p:sp>
      <p:sp>
        <p:nvSpPr>
          <p:cNvPr id="11" name="TextBox 10"/>
          <p:cNvSpPr txBox="1"/>
          <p:nvPr/>
        </p:nvSpPr>
        <p:spPr>
          <a:xfrm>
            <a:off x="777240" y="2783865"/>
            <a:ext cx="5117115" cy="418376"/>
          </a:xfrm>
          <a:prstGeom prst="rect">
            <a:avLst/>
          </a:prstGeom>
          <a:noFill/>
        </p:spPr>
        <p:txBody>
          <a:bodyPr wrap="square" lIns="0" tIns="0" rIns="0" bIns="0">
            <a:spAutoFit/>
          </a:bodyPr>
          <a:lstStyle/>
          <a:p>
            <a:pPr algn="l"/>
            <a:r>
              <a:rPr sz="1267" b="1">
                <a:solidFill>
                  <a:srgbClr val="3D4756"/>
                </a:solidFill>
                <a:latin typeface="Calibri"/>
              </a:rPr>
              <a:t>•  Unseen movements: </a:t>
            </a:r>
            <a:r>
              <a:rPr sz="1267" b="0">
                <a:solidFill>
                  <a:srgbClr val="3D4756"/>
                </a:solidFill>
                <a:latin typeface="Calibri"/>
              </a:rPr>
              <a:t>query trials are held aside to evaluate the distribution and are never exposed to the model.</a:t>
            </a:r>
          </a:p>
        </p:txBody>
      </p:sp>
      <p:sp>
        <p:nvSpPr>
          <p:cNvPr id="12" name="TextBox 11"/>
          <p:cNvSpPr txBox="1"/>
          <p:nvPr/>
        </p:nvSpPr>
        <p:spPr>
          <a:xfrm>
            <a:off x="777240" y="3383584"/>
            <a:ext cx="5117115" cy="418376"/>
          </a:xfrm>
          <a:prstGeom prst="rect">
            <a:avLst/>
          </a:prstGeom>
          <a:noFill/>
        </p:spPr>
        <p:txBody>
          <a:bodyPr wrap="square" lIns="0" tIns="0" rIns="0" bIns="0">
            <a:spAutoFit/>
          </a:bodyPr>
          <a:lstStyle/>
          <a:p>
            <a:pPr algn="l"/>
            <a:r>
              <a:rPr sz="1267" b="0">
                <a:solidFill>
                  <a:srgbClr val="3D4756"/>
                </a:solidFill>
                <a:latin typeface="Calibri"/>
              </a:rPr>
              <a:t>Below, n = 8. Thin: first 30 draws. Thick: their mean. Equal x/y scale, cm.</a:t>
            </a:r>
          </a:p>
        </p:txBody>
      </p:sp>
      <p:sp>
        <p:nvSpPr>
          <p:cNvPr id="13" name="Rounded Rectangle 12"/>
          <p:cNvSpPr/>
          <p:nvPr/>
        </p:nvSpPr>
        <p:spPr>
          <a:xfrm>
            <a:off x="6297339" y="1465352"/>
            <a:ext cx="5117116" cy="639457"/>
          </a:xfrm>
          <a:prstGeom prst="roundRect">
            <a:avLst/>
          </a:prstGeom>
          <a:solidFill>
            <a:srgbClr val="FAFBFD"/>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8831" y="1666844"/>
            <a:ext cx="4714132" cy="236473"/>
          </a:xfrm>
          <a:prstGeom prst="rect">
            <a:avLst/>
          </a:prstGeom>
          <a:noFill/>
        </p:spPr>
        <p:txBody>
          <a:bodyPr wrap="square" lIns="0" tIns="0" rIns="0" bIns="0">
            <a:spAutoFit/>
          </a:bodyPr>
          <a:lstStyle/>
          <a:p>
            <a:pPr algn="ctr"/>
            <a:r>
              <a:rPr sz="1432" b="0">
                <a:solidFill>
                  <a:srgbClr val="161E2E"/>
                </a:solidFill>
                <a:latin typeface="Calibri"/>
              </a:rPr>
              <a:t>fingerprint centre:   θ_s  =  (1 / |C_s|) Σ c_i</a:t>
            </a:r>
          </a:p>
        </p:txBody>
      </p:sp>
      <p:sp>
        <p:nvSpPr>
          <p:cNvPr id="15" name="Rounded Rectangle 14"/>
          <p:cNvSpPr/>
          <p:nvPr/>
        </p:nvSpPr>
        <p:spPr>
          <a:xfrm>
            <a:off x="6297339" y="2286152"/>
            <a:ext cx="5117116" cy="639457"/>
          </a:xfrm>
          <a:prstGeom prst="roundRect">
            <a:avLst/>
          </a:prstGeom>
          <a:solidFill>
            <a:srgbClr val="FAFBFD"/>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8831" y="2487644"/>
            <a:ext cx="4714132" cy="236473"/>
          </a:xfrm>
          <a:prstGeom prst="rect">
            <a:avLst/>
          </a:prstGeom>
          <a:noFill/>
        </p:spPr>
        <p:txBody>
          <a:bodyPr wrap="square" lIns="0" tIns="0" rIns="0" bIns="0">
            <a:spAutoFit/>
          </a:bodyPr>
          <a:lstStyle/>
          <a:p>
            <a:pPr algn="ctr"/>
            <a:r>
              <a:rPr sz="1432" b="0">
                <a:solidFill>
                  <a:srgbClr val="161E2E"/>
                </a:solidFill>
                <a:latin typeface="Calibri"/>
              </a:rPr>
              <a:t>one generated movement:   z  ∼  N ( θ_s ,  Σ_train )</a:t>
            </a:r>
          </a:p>
        </p:txBody>
      </p:sp>
      <p:sp>
        <p:nvSpPr>
          <p:cNvPr id="17" name="TextBox 16"/>
          <p:cNvSpPr txBox="1"/>
          <p:nvPr/>
        </p:nvSpPr>
        <p:spPr>
          <a:xfrm>
            <a:off x="6297339" y="3106952"/>
            <a:ext cx="5117116" cy="418376"/>
          </a:xfrm>
          <a:prstGeom prst="rect">
            <a:avLst/>
          </a:prstGeom>
          <a:noFill/>
        </p:spPr>
        <p:txBody>
          <a:bodyPr wrap="square" lIns="0" tIns="0" rIns="0" bIns="0">
            <a:spAutoFit/>
          </a:bodyPr>
          <a:lstStyle/>
          <a:p>
            <a:pPr algn="l"/>
            <a:r>
              <a:rPr sz="1267" b="0">
                <a:solidFill>
                  <a:srgbClr val="3D4756"/>
                </a:solidFill>
                <a:latin typeface="Calibri"/>
              </a:rPr>
              <a:t>c_i is the trial's code: the encoder mean μ_i for the neural families, the PCA scores for spline + PCA.</a:t>
            </a:r>
          </a:p>
        </p:txBody>
      </p:sp>
      <p:pic>
        <p:nvPicPr>
          <p:cNvPr id="18" name="Picture 17" descr="generation_slide_n8.png"/>
          <p:cNvPicPr>
            <a:picLocks noChangeAspect="1"/>
          </p:cNvPicPr>
          <p:nvPr/>
        </p:nvPicPr>
        <p:blipFill>
          <a:blip r:embed="rId3"/>
          <a:stretch>
            <a:fillRect/>
          </a:stretch>
        </p:blipFill>
        <p:spPr>
          <a:xfrm>
            <a:off x="2816241" y="3963153"/>
            <a:ext cx="6559212" cy="2377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104847" cy="77724"/>
          </a:xfrm>
          <a:prstGeom prst="rect">
            <a:avLst/>
          </a:prstGeom>
          <a:gradFill rotWithShape="1">
            <a:gsLst>
              <a:gs pos="0">
                <a:srgbClr val="1B6FEA"/>
              </a:gs>
              <a:gs pos="100000">
                <a:srgbClr val="17A2A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92608"/>
            <a:ext cx="8716975" cy="566928"/>
          </a:xfrm>
          <a:prstGeom prst="rect">
            <a:avLst/>
          </a:prstGeom>
          <a:noFill/>
        </p:spPr>
        <p:txBody>
          <a:bodyPr wrap="square" lIns="0" tIns="0" rIns="0" bIns="0">
            <a:spAutoFit/>
          </a:bodyPr>
          <a:lstStyle/>
          <a:p>
            <a:pPr algn="l"/>
            <a:r>
              <a:rPr sz="2400" b="1">
                <a:solidFill>
                  <a:srgbClr val="161E2E"/>
                </a:solidFill>
                <a:latin typeface="Calibri"/>
              </a:rPr>
              <a:t>How we score a generated distribution</a:t>
            </a:r>
          </a:p>
        </p:txBody>
      </p:sp>
      <p:sp>
        <p:nvSpPr>
          <p:cNvPr id="6" name="Rounded Rectangle 5"/>
          <p:cNvSpPr/>
          <p:nvPr/>
        </p:nvSpPr>
        <p:spPr>
          <a:xfrm>
            <a:off x="10086162" y="347472"/>
            <a:ext cx="1328293"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100" b="1">
                <a:solidFill>
                  <a:srgbClr val="1B6FEA"/>
                </a:solidFill>
                <a:latin typeface="Calibri"/>
              </a:rPr>
              <a:t>30 s  |  7/11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77240" y="1188720"/>
            <a:ext cx="5097847" cy="3314828"/>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4873" y="1526353"/>
            <a:ext cx="4422581" cy="246191"/>
          </a:xfrm>
          <a:prstGeom prst="rect">
            <a:avLst/>
          </a:prstGeom>
          <a:noFill/>
        </p:spPr>
        <p:txBody>
          <a:bodyPr wrap="square" lIns="0" tIns="0" rIns="0" bIns="0">
            <a:spAutoFit/>
          </a:bodyPr>
          <a:lstStyle/>
          <a:p>
            <a:pPr algn="l"/>
            <a:r>
              <a:rPr sz="1491" b="1">
                <a:solidFill>
                  <a:srgbClr val="1B6FEA"/>
                </a:solidFill>
                <a:latin typeface="Calibri"/>
              </a:rPr>
              <a:t>WHAT WE MEASURE</a:t>
            </a:r>
          </a:p>
        </p:txBody>
      </p:sp>
      <p:sp>
        <p:nvSpPr>
          <p:cNvPr id="10" name="TextBox 9"/>
          <p:cNvSpPr txBox="1"/>
          <p:nvPr/>
        </p:nvSpPr>
        <p:spPr>
          <a:xfrm>
            <a:off x="1114873" y="1876431"/>
            <a:ext cx="4422581" cy="422042"/>
          </a:xfrm>
          <a:prstGeom prst="rect">
            <a:avLst/>
          </a:prstGeom>
          <a:noFill/>
        </p:spPr>
        <p:txBody>
          <a:bodyPr wrap="square" lIns="0" tIns="0" rIns="0" bIns="0">
            <a:spAutoFit/>
          </a:bodyPr>
          <a:lstStyle/>
          <a:p>
            <a:pPr algn="l"/>
            <a:r>
              <a:rPr sz="2556" b="1">
                <a:solidFill>
                  <a:srgbClr val="161E2E"/>
                </a:solidFill>
                <a:latin typeface="Calibri"/>
              </a:rPr>
              <a:t>11 kinematic features</a:t>
            </a:r>
          </a:p>
        </p:txBody>
      </p:sp>
      <p:sp>
        <p:nvSpPr>
          <p:cNvPr id="11" name="TextBox 10"/>
          <p:cNvSpPr txBox="1"/>
          <p:nvPr/>
        </p:nvSpPr>
        <p:spPr>
          <a:xfrm>
            <a:off x="1114873" y="2454303"/>
            <a:ext cx="4422581" cy="1289570"/>
          </a:xfrm>
          <a:prstGeom prst="rect">
            <a:avLst/>
          </a:prstGeom>
          <a:noFill/>
        </p:spPr>
        <p:txBody>
          <a:bodyPr wrap="square" lIns="0" tIns="0" rIns="0" bIns="0">
            <a:spAutoFit/>
          </a:bodyPr>
          <a:lstStyle/>
          <a:p>
            <a:pPr algn="l"/>
            <a:r>
              <a:rPr sz="1562" b="0">
                <a:solidFill>
                  <a:srgbClr val="3D4756"/>
                </a:solidFill>
                <a:latin typeface="Calibri"/>
              </a:rPr>
              <a:t>Initiation and movement time, peak speed, time to peak, path length, straight-line distance, curvature, maximum lateral deviation and the three endpoint coordinates.</a:t>
            </a:r>
          </a:p>
        </p:txBody>
      </p:sp>
      <p:sp>
        <p:nvSpPr>
          <p:cNvPr id="12" name="Rounded Rectangle 11"/>
          <p:cNvSpPr/>
          <p:nvPr/>
        </p:nvSpPr>
        <p:spPr>
          <a:xfrm>
            <a:off x="6316608" y="1188720"/>
            <a:ext cx="5097847" cy="3314828"/>
          </a:xfrm>
          <a:prstGeom prst="roundRect">
            <a:avLst/>
          </a:prstGeom>
          <a:solidFill>
            <a:srgbClr val="F8FAFC"/>
          </a:solidFill>
          <a:ln w="9525">
            <a:solidFill>
              <a:srgbClr val="E5E9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54241" y="1526353"/>
            <a:ext cx="4422581" cy="246191"/>
          </a:xfrm>
          <a:prstGeom prst="rect">
            <a:avLst/>
          </a:prstGeom>
          <a:noFill/>
        </p:spPr>
        <p:txBody>
          <a:bodyPr wrap="square" lIns="0" tIns="0" rIns="0" bIns="0">
            <a:spAutoFit/>
          </a:bodyPr>
          <a:lstStyle/>
          <a:p>
            <a:pPr algn="l"/>
            <a:r>
              <a:rPr sz="1491" b="1">
                <a:solidFill>
                  <a:srgbClr val="1B6FEA"/>
                </a:solidFill>
                <a:latin typeface="Calibri"/>
              </a:rPr>
              <a:t>HOW WE COMPARE</a:t>
            </a:r>
          </a:p>
        </p:txBody>
      </p:sp>
      <p:sp>
        <p:nvSpPr>
          <p:cNvPr id="14" name="TextBox 13"/>
          <p:cNvSpPr txBox="1"/>
          <p:nvPr/>
        </p:nvSpPr>
        <p:spPr>
          <a:xfrm>
            <a:off x="6654241" y="1876431"/>
            <a:ext cx="4422581" cy="844084"/>
          </a:xfrm>
          <a:prstGeom prst="rect">
            <a:avLst/>
          </a:prstGeom>
          <a:noFill/>
        </p:spPr>
        <p:txBody>
          <a:bodyPr wrap="square" lIns="0" tIns="0" rIns="0" bIns="0">
            <a:spAutoFit/>
          </a:bodyPr>
          <a:lstStyle/>
          <a:p>
            <a:pPr algn="l"/>
            <a:r>
              <a:rPr sz="2556" b="1">
                <a:solidFill>
                  <a:srgbClr val="161E2E"/>
                </a:solidFill>
                <a:latin typeface="Calibri"/>
              </a:rPr>
              <a:t>Two views of the distribution</a:t>
            </a:r>
          </a:p>
        </p:txBody>
      </p:sp>
      <p:sp>
        <p:nvSpPr>
          <p:cNvPr id="15" name="TextBox 14"/>
          <p:cNvSpPr txBox="1"/>
          <p:nvPr/>
        </p:nvSpPr>
        <p:spPr>
          <a:xfrm>
            <a:off x="6654241" y="2876345"/>
            <a:ext cx="4422581" cy="1289570"/>
          </a:xfrm>
          <a:prstGeom prst="rect">
            <a:avLst/>
          </a:prstGeom>
          <a:noFill/>
        </p:spPr>
        <p:txBody>
          <a:bodyPr wrap="square" lIns="0" tIns="0" rIns="0" bIns="0">
            <a:spAutoFit/>
          </a:bodyPr>
          <a:lstStyle/>
          <a:p>
            <a:pPr algn="l"/>
            <a:r>
              <a:rPr sz="1562" b="0">
                <a:solidFill>
                  <a:srgbClr val="3D4756"/>
                </a:solidFill>
                <a:latin typeface="Calibri"/>
              </a:rPr>
              <a:t>One KS test per feature, averaged over the 11 into Mean KS. Energy discrepancy and MMD squared judge the joint structure of all 11 at once. Lower is better throughout.</a:t>
            </a:r>
          </a:p>
        </p:txBody>
      </p:sp>
      <p:sp>
        <p:nvSpPr>
          <p:cNvPr id="16" name="Rectangle 15"/>
          <p:cNvSpPr/>
          <p:nvPr/>
        </p:nvSpPr>
        <p:spPr>
          <a:xfrm>
            <a:off x="777240" y="4789238"/>
            <a:ext cx="10637215" cy="1394540"/>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4789238"/>
            <a:ext cx="77915" cy="1394540"/>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88901" y="4997012"/>
            <a:ext cx="9884034" cy="281361"/>
          </a:xfrm>
          <a:prstGeom prst="rect">
            <a:avLst/>
          </a:prstGeom>
          <a:noFill/>
        </p:spPr>
        <p:txBody>
          <a:bodyPr wrap="square" lIns="0" tIns="0" rIns="0" bIns="0">
            <a:spAutoFit/>
          </a:bodyPr>
          <a:lstStyle/>
          <a:p>
            <a:pPr algn="l"/>
            <a:r>
              <a:rPr sz="1704" b="1">
                <a:solidFill>
                  <a:srgbClr val="1B6FEA"/>
                </a:solidFill>
                <a:latin typeface="Calibri"/>
              </a:rPr>
              <a:t>One fixed yardstick for every model</a:t>
            </a:r>
          </a:p>
        </p:txBody>
      </p:sp>
      <p:sp>
        <p:nvSpPr>
          <p:cNvPr id="19" name="TextBox 18"/>
          <p:cNvSpPr txBox="1"/>
          <p:nvPr/>
        </p:nvSpPr>
        <p:spPr>
          <a:xfrm>
            <a:off x="1088901" y="5408232"/>
            <a:ext cx="9884034" cy="515828"/>
          </a:xfrm>
          <a:prstGeom prst="rect">
            <a:avLst/>
          </a:prstGeom>
          <a:noFill/>
        </p:spPr>
        <p:txBody>
          <a:bodyPr wrap="square" lIns="0" tIns="0" rIns="0" bIns="0">
            <a:spAutoFit/>
          </a:bodyPr>
          <a:lstStyle/>
          <a:p>
            <a:pPr algn="l"/>
            <a:r>
              <a:rPr sz="1562" b="0">
                <a:solidFill>
                  <a:srgbClr val="3D4756"/>
                </a:solidFill>
                <a:latin typeface="Calibri"/>
              </a:rPr>
              <a:t>Feature scales and the RBF bandwidth are fitted on training participants only and then frozen, so every model is measured against the same geometry rather than one tuned to its own output.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104847" cy="77724"/>
          </a:xfrm>
          <a:prstGeom prst="rect">
            <a:avLst/>
          </a:prstGeom>
          <a:gradFill rotWithShape="1">
            <a:gsLst>
              <a:gs pos="0">
                <a:srgbClr val="1B6FEA"/>
              </a:gs>
              <a:gs pos="100000">
                <a:srgbClr val="17A2A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5847" y="0"/>
            <a:ext cx="6104847" cy="77724"/>
          </a:xfrm>
          <a:prstGeom prst="rect">
            <a:avLst/>
          </a:prstGeom>
          <a:gradFill rotWithShape="1">
            <a:gsLst>
              <a:gs pos="0">
                <a:srgbClr val="17A2A2"/>
              </a:gs>
              <a:gs pos="100000">
                <a:srgbClr val="7A5CF0"/>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92608"/>
            <a:ext cx="8716975" cy="566928"/>
          </a:xfrm>
          <a:prstGeom prst="rect">
            <a:avLst/>
          </a:prstGeom>
          <a:noFill/>
        </p:spPr>
        <p:txBody>
          <a:bodyPr wrap="square" lIns="0" tIns="0" rIns="0" bIns="0">
            <a:spAutoFit/>
          </a:bodyPr>
          <a:lstStyle/>
          <a:p>
            <a:pPr algn="l"/>
            <a:r>
              <a:rPr sz="2400" b="1">
                <a:solidFill>
                  <a:srgbClr val="161E2E"/>
                </a:solidFill>
                <a:latin typeface="Calibri"/>
              </a:rPr>
              <a:t>Generation results: VAE leads on movement distributions</a:t>
            </a:r>
          </a:p>
        </p:txBody>
      </p:sp>
      <p:sp>
        <p:nvSpPr>
          <p:cNvPr id="6" name="Rounded Rectangle 5"/>
          <p:cNvSpPr/>
          <p:nvPr/>
        </p:nvSpPr>
        <p:spPr>
          <a:xfrm>
            <a:off x="10086162" y="347472"/>
            <a:ext cx="1328293" cy="327914"/>
          </a:xfrm>
          <a:prstGeom prst="roundRect">
            <a:avLst>
              <a:gd name="adj" fmla="val 50000"/>
            </a:avLst>
          </a:prstGeom>
          <a:solidFill>
            <a:srgbClr val="E3F0FB"/>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100" b="1">
                <a:solidFill>
                  <a:srgbClr val="1B6FEA"/>
                </a:solidFill>
                <a:latin typeface="Calibri"/>
              </a:rPr>
              <a:t>55 s  |  8/11</a:t>
            </a:r>
          </a:p>
        </p:txBody>
      </p:sp>
      <p:sp>
        <p:nvSpPr>
          <p:cNvPr id="7" name="Rectangle 6"/>
          <p:cNvSpPr/>
          <p:nvPr/>
        </p:nvSpPr>
        <p:spPr>
          <a:xfrm>
            <a:off x="777240" y="950976"/>
            <a:ext cx="10637215" cy="9525"/>
          </a:xfrm>
          <a:prstGeom prst="rect">
            <a:avLst/>
          </a:prstGeom>
          <a:solidFill>
            <a:srgbClr val="E1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mean_ks_chart.png"/>
          <p:cNvPicPr>
            <a:picLocks noChangeAspect="1"/>
          </p:cNvPicPr>
          <p:nvPr/>
        </p:nvPicPr>
        <p:blipFill>
          <a:blip r:embed="rId3"/>
          <a:stretch>
            <a:fillRect/>
          </a:stretch>
        </p:blipFill>
        <p:spPr>
          <a:xfrm>
            <a:off x="2404996" y="1188720"/>
            <a:ext cx="7381703" cy="3291840"/>
          </a:xfrm>
          <a:prstGeom prst="rect">
            <a:avLst/>
          </a:prstGeom>
        </p:spPr>
      </p:pic>
      <p:sp>
        <p:nvSpPr>
          <p:cNvPr id="9" name="Rectangle 8"/>
          <p:cNvSpPr/>
          <p:nvPr/>
        </p:nvSpPr>
        <p:spPr>
          <a:xfrm>
            <a:off x="777240" y="4652300"/>
            <a:ext cx="10637215" cy="1686388"/>
          </a:xfrm>
          <a:prstGeom prst="rect">
            <a:avLst/>
          </a:prstGeom>
          <a:solidFill>
            <a:srgbClr val="EF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4652300"/>
            <a:ext cx="64402" cy="1686388"/>
          </a:xfrm>
          <a:prstGeom prst="rect">
            <a:avLst/>
          </a:prstGeom>
          <a:solidFill>
            <a:srgbClr val="1B6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4850" y="4824040"/>
            <a:ext cx="10014658" cy="232564"/>
          </a:xfrm>
          <a:prstGeom prst="rect">
            <a:avLst/>
          </a:prstGeom>
          <a:noFill/>
        </p:spPr>
        <p:txBody>
          <a:bodyPr wrap="square" lIns="0" tIns="0" rIns="0" bIns="0">
            <a:spAutoFit/>
          </a:bodyPr>
          <a:lstStyle/>
          <a:p>
            <a:pPr algn="l"/>
            <a:r>
              <a:rPr sz="1408" b="1">
                <a:solidFill>
                  <a:srgbClr val="1B6FEA"/>
                </a:solidFill>
                <a:latin typeface="Calibri"/>
              </a:rPr>
              <a:t>A reversal in the ranking: VAE wins at generation</a:t>
            </a:r>
          </a:p>
        </p:txBody>
      </p:sp>
      <p:sp>
        <p:nvSpPr>
          <p:cNvPr id="12" name="TextBox 11"/>
          <p:cNvSpPr txBox="1"/>
          <p:nvPr/>
        </p:nvSpPr>
        <p:spPr>
          <a:xfrm>
            <a:off x="1034850" y="5163941"/>
            <a:ext cx="10014658" cy="426368"/>
          </a:xfrm>
          <a:prstGeom prst="rect">
            <a:avLst/>
          </a:prstGeom>
          <a:noFill/>
        </p:spPr>
        <p:txBody>
          <a:bodyPr wrap="square" lIns="0" tIns="0" rIns="0" bIns="0">
            <a:spAutoFit/>
          </a:bodyPr>
          <a:lstStyle/>
          <a:p>
            <a:pPr algn="l"/>
            <a:r>
              <a:rPr sz="1291" b="0">
                <a:solidFill>
                  <a:srgbClr val="3D4756"/>
                </a:solidFill>
                <a:latin typeface="Calibri"/>
              </a:rPr>
              <a:t>Although Spline + PCA won pointwise reconstruction, VAE and CVAE achieve much better distribution matching (corrected p &lt; 0.001 under BH and Holm). VAE at n = 8 was set as the dashboard default.</a:t>
            </a:r>
          </a:p>
        </p:txBody>
      </p:sp>
      <p:sp>
        <p:nvSpPr>
          <p:cNvPr id="13" name="TextBox 12"/>
          <p:cNvSpPr txBox="1"/>
          <p:nvPr/>
        </p:nvSpPr>
        <p:spPr>
          <a:xfrm>
            <a:off x="1034850" y="5697646"/>
            <a:ext cx="10014658" cy="426368"/>
          </a:xfrm>
          <a:prstGeom prst="rect">
            <a:avLst/>
          </a:prstGeom>
          <a:noFill/>
        </p:spPr>
        <p:txBody>
          <a:bodyPr wrap="square" lIns="0" tIns="0" rIns="0" bIns="0">
            <a:spAutoFit/>
          </a:bodyPr>
          <a:lstStyle/>
          <a:p>
            <a:pPr algn="l"/>
            <a:r>
              <a:rPr sz="1291" b="0">
                <a:solidFill>
                  <a:srgbClr val="3D4756"/>
                </a:solidFill>
                <a:latin typeface="Calibri"/>
              </a:rPr>
              <a:t>The two joint measures agree: at n = 8, VAE reaches energy 0.4110 and MMD squared 0.0639, against 0.7347 and 0.1153 for Spline + PCA.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54D93EC-A010-4717-AA23-C14748487246}"/>
              </a:ext>
            </a:extLst>
          </p:cNvPr>
          <p:cNvSpPr>
            <a:spLocks noGrp="1"/>
          </p:cNvSpPr>
          <p:nvPr/>
        </p:nvSpPr>
        <p:spPr>
          <a:xfrm>
            <a:off x="0" y="0"/>
            <a:ext cx="4063898" cy="66675"/>
          </a:xfrm>
          <a:prstGeom prst="rect">
            <a:avLst/>
          </a:prstGeom>
          <a:solidFill>
            <a:srgbClr val="1B6FEA"/>
          </a:solidFill>
          <a:ln w="0">
            <a:noFill/>
          </a:ln>
        </p:spPr>
      </p:sp>
      <p:sp>
        <p:nvSpPr>
          <p:cNvPr id="2" name="Rectangle 1">
            <a:extLst>
              <a:ext uri="{FF2B5EF4-FFF2-40B4-BE49-F238E27FC236}">
                <a16:creationId xmlns:a16="http://schemas.microsoft.com/office/drawing/2014/main" id="{5F2600DB-8581-4BF9-904E-FBB0CE7603C0}"/>
              </a:ext>
            </a:extLst>
          </p:cNvPr>
          <p:cNvSpPr>
            <a:spLocks noGrp="1"/>
          </p:cNvSpPr>
          <p:nvPr/>
        </p:nvSpPr>
        <p:spPr>
          <a:xfrm>
            <a:off x="4063898" y="0"/>
            <a:ext cx="4063898" cy="66675"/>
          </a:xfrm>
          <a:prstGeom prst="rect">
            <a:avLst/>
          </a:prstGeom>
          <a:solidFill>
            <a:srgbClr val="17A2A2"/>
          </a:solidFill>
          <a:ln w="0">
            <a:noFill/>
          </a:ln>
        </p:spPr>
      </p:sp>
      <p:sp>
        <p:nvSpPr>
          <p:cNvPr id="3" name="Rectangle 2">
            <a:extLst>
              <a:ext uri="{FF2B5EF4-FFF2-40B4-BE49-F238E27FC236}">
                <a16:creationId xmlns:a16="http://schemas.microsoft.com/office/drawing/2014/main" id="{A5D82DC8-2126-4B27-B3D2-E488912D7A47}"/>
              </a:ext>
            </a:extLst>
          </p:cNvPr>
          <p:cNvSpPr>
            <a:spLocks noGrp="1"/>
          </p:cNvSpPr>
          <p:nvPr/>
        </p:nvSpPr>
        <p:spPr>
          <a:xfrm>
            <a:off x="8127797" y="0"/>
            <a:ext cx="4063898" cy="66675"/>
          </a:xfrm>
          <a:prstGeom prst="rect">
            <a:avLst/>
          </a:prstGeom>
          <a:solidFill>
            <a:srgbClr val="7A5CF0"/>
          </a:solidFill>
          <a:ln w="0">
            <a:noFill/>
          </a:ln>
        </p:spPr>
      </p:sp>
      <p:sp>
        <p:nvSpPr>
          <p:cNvPr id="4" name="Rectangle 3">
            <a:extLst>
              <a:ext uri="{FF2B5EF4-FFF2-40B4-BE49-F238E27FC236}">
                <a16:creationId xmlns:a16="http://schemas.microsoft.com/office/drawing/2014/main" id="{FCE86577-5890-4869-8FCF-792268169B8B}"/>
              </a:ext>
            </a:extLst>
          </p:cNvPr>
          <p:cNvSpPr>
            <a:spLocks noGrp="1"/>
          </p:cNvSpPr>
          <p:nvPr/>
        </p:nvSpPr>
        <p:spPr>
          <a:xfrm>
            <a:off x="781050" y="304800"/>
            <a:ext cx="9810750" cy="542925"/>
          </a:xfrm>
          <a:prstGeom prst="rect">
            <a:avLst/>
          </a:prstGeom>
          <a:noFill/>
          <a:ln w="0">
            <a:noFill/>
          </a:ln>
        </p:spPr>
        <p:txBody>
          <a:bodyPr>
            <a:noAutofit/>
          </a:bodyPr>
          <a:lstStyle/>
          <a:p>
            <a:pPr>
              <a:defRPr sz="2400" b="1">
                <a:solidFill>
                  <a:srgbClr val="161E2E"/>
                </a:solidFill>
                <a:latin typeface="Calibri"/>
                <a:ea typeface="Calibri"/>
                <a:cs typeface="Calibri"/>
              </a:defRPr>
            </a:pPr>
            <a:r>
              <a:rPr sz="2400" b="1">
                <a:solidFill>
                  <a:srgbClr val="161E2E"/>
                </a:solidFill>
                <a:latin typeface="Calibri"/>
                <a:ea typeface="Calibri"/>
                <a:cs typeface="Calibri"/>
              </a:rPr>
              <a:t>Full-trajectory generation</a:t>
            </a:r>
          </a:p>
        </p:txBody>
      </p:sp>
      <p:sp>
        <p:nvSpPr>
          <p:cNvPr id="5" name="Rectangle 4">
            <a:extLst>
              <a:ext uri="{FF2B5EF4-FFF2-40B4-BE49-F238E27FC236}">
                <a16:creationId xmlns:a16="http://schemas.microsoft.com/office/drawing/2014/main" id="{C654E9D0-6CFF-463B-AD1E-26CD60EADDFF}"/>
              </a:ext>
            </a:extLst>
          </p:cNvPr>
          <p:cNvSpPr>
            <a:spLocks noGrp="1"/>
          </p:cNvSpPr>
          <p:nvPr/>
        </p:nvSpPr>
        <p:spPr>
          <a:xfrm>
            <a:off x="10668000" y="428625"/>
            <a:ext cx="742950" cy="209550"/>
          </a:xfrm>
          <a:prstGeom prst="rect">
            <a:avLst/>
          </a:prstGeom>
          <a:noFill/>
          <a:ln w="0">
            <a:noFill/>
          </a:ln>
        </p:spPr>
        <p:txBody>
          <a:bodyPr>
            <a:noAutofit/>
          </a:bodyPr>
          <a:lstStyle/>
          <a:p>
            <a:pPr>
              <a:defRPr sz="1200" b="0">
                <a:solidFill>
                  <a:srgbClr val="1B6FEA"/>
                </a:solidFill>
                <a:latin typeface="Calibri"/>
                <a:ea typeface="Calibri"/>
                <a:cs typeface="Calibri"/>
              </a:defRPr>
            </a:pPr>
            <a:r>
              <a:rPr sz="1200" b="0">
                <a:solidFill>
                  <a:srgbClr val="1B6FEA"/>
                </a:solidFill>
                <a:latin typeface="Calibri"/>
                <a:ea typeface="Calibri"/>
                <a:cs typeface="Calibri"/>
              </a:rPr>
              <a:t>9/11</a:t>
            </a:r>
          </a:p>
        </p:txBody>
      </p:sp>
      <p:sp>
        <p:nvSpPr>
          <p:cNvPr id="6" name="Rectangle 5">
            <a:extLst>
              <a:ext uri="{FF2B5EF4-FFF2-40B4-BE49-F238E27FC236}">
                <a16:creationId xmlns:a16="http://schemas.microsoft.com/office/drawing/2014/main" id="{9ABD4985-3D64-4EF7-9066-BE735F274DC9}"/>
              </a:ext>
            </a:extLst>
          </p:cNvPr>
          <p:cNvSpPr>
            <a:spLocks noGrp="1"/>
          </p:cNvSpPr>
          <p:nvPr/>
        </p:nvSpPr>
        <p:spPr>
          <a:xfrm>
            <a:off x="781050" y="952500"/>
            <a:ext cx="10629900" cy="9525"/>
          </a:xfrm>
          <a:prstGeom prst="rect">
            <a:avLst/>
          </a:prstGeom>
          <a:solidFill>
            <a:srgbClr val="DFE5EE"/>
          </a:solidFill>
          <a:ln w="0">
            <a:noFill/>
          </a:ln>
        </p:spPr>
      </p:sp>
      <p:sp>
        <p:nvSpPr>
          <p:cNvPr id="7" name="Rectangle 6">
            <a:extLst>
              <a:ext uri="{FF2B5EF4-FFF2-40B4-BE49-F238E27FC236}">
                <a16:creationId xmlns:a16="http://schemas.microsoft.com/office/drawing/2014/main" id="{BD6D3B59-0C90-4EFB-B945-E54C76DC8F6A}"/>
              </a:ext>
            </a:extLst>
          </p:cNvPr>
          <p:cNvSpPr>
            <a:spLocks noGrp="1"/>
          </p:cNvSpPr>
          <p:nvPr/>
        </p:nvSpPr>
        <p:spPr>
          <a:xfrm>
            <a:off x="781050" y="1152525"/>
            <a:ext cx="10629900" cy="333375"/>
          </a:xfrm>
          <a:prstGeom prst="rect">
            <a:avLst/>
          </a:prstGeom>
          <a:noFill/>
          <a:ln w="0">
            <a:noFill/>
          </a:ln>
        </p:spPr>
        <p:txBody>
          <a:bodyPr>
            <a:noAutofit/>
          </a:bodyPr>
          <a:lstStyle/>
          <a:p>
            <a:pPr>
              <a:defRPr sz="1950" b="0">
                <a:solidFill>
                  <a:srgbClr val="161E2E"/>
                </a:solidFill>
                <a:latin typeface="Calibri"/>
                <a:ea typeface="Calibri"/>
                <a:cs typeface="Calibri"/>
              </a:defRPr>
            </a:pPr>
            <a:r>
              <a:rPr sz="1950" b="0">
                <a:solidFill>
                  <a:srgbClr val="161E2E"/>
                </a:solidFill>
                <a:latin typeface="Calibri"/>
                <a:ea typeface="Calibri"/>
                <a:cs typeface="Calibri"/>
              </a:rPr>
              <a:t>Do generated paths match the held-out set of complete trajectories?</a:t>
            </a:r>
          </a:p>
        </p:txBody>
      </p:sp>
      <p:sp>
        <p:nvSpPr>
          <p:cNvPr id="8" name="Rectangle 7">
            <a:extLst>
              <a:ext uri="{FF2B5EF4-FFF2-40B4-BE49-F238E27FC236}">
                <a16:creationId xmlns:a16="http://schemas.microsoft.com/office/drawing/2014/main" id="{EC9D903F-F2A8-47EE-8647-4EA1B6791697}"/>
              </a:ext>
            </a:extLst>
          </p:cNvPr>
          <p:cNvSpPr>
            <a:spLocks noGrp="1"/>
          </p:cNvSpPr>
          <p:nvPr/>
        </p:nvSpPr>
        <p:spPr>
          <a:xfrm>
            <a:off x="781050" y="1562100"/>
            <a:ext cx="10629900" cy="285750"/>
          </a:xfrm>
          <a:prstGeom prst="rect">
            <a:avLst/>
          </a:prstGeom>
          <a:noFill/>
          <a:ln w="0">
            <a:noFill/>
          </a:ln>
        </p:spPr>
        <p:txBody>
          <a:bodyPr>
            <a:noAutofit/>
          </a:bodyPr>
          <a:lstStyle/>
          <a:p>
            <a:pPr>
              <a:defRPr sz="1575" b="0">
                <a:solidFill>
                  <a:srgbClr val="4C5969"/>
                </a:solidFill>
                <a:latin typeface="Calibri"/>
                <a:ea typeface="Calibri"/>
                <a:cs typeface="Calibri"/>
              </a:defRPr>
            </a:pPr>
            <a:r>
              <a:rPr sz="1575" b="0">
                <a:solidFill>
                  <a:srgbClr val="4C5969"/>
                </a:solidFill>
                <a:latin typeface="Calibri"/>
                <a:ea typeface="Calibri"/>
                <a:cs typeface="Calibri"/>
              </a:rPr>
              <a:t>Energy and MMD² compare between-set differences with within-set variability. Lower is better.</a:t>
            </a:r>
          </a:p>
        </p:txBody>
      </p:sp>
      <p:sp>
        <p:nvSpPr>
          <p:cNvPr id="9" name="Rectangle 8">
            <a:extLst>
              <a:ext uri="{FF2B5EF4-FFF2-40B4-BE49-F238E27FC236}">
                <a16:creationId xmlns:a16="http://schemas.microsoft.com/office/drawing/2014/main" id="{E5FCD7DA-9670-4500-8E1D-1B05AB3745BB}"/>
              </a:ext>
            </a:extLst>
          </p:cNvPr>
          <p:cNvSpPr>
            <a:spLocks noGrp="1"/>
          </p:cNvSpPr>
          <p:nvPr/>
        </p:nvSpPr>
        <p:spPr>
          <a:xfrm>
            <a:off x="781050" y="2009775"/>
            <a:ext cx="5048250" cy="323850"/>
          </a:xfrm>
          <a:prstGeom prst="rect">
            <a:avLst/>
          </a:prstGeom>
          <a:noFill/>
          <a:ln w="0">
            <a:noFill/>
          </a:ln>
        </p:spPr>
        <p:txBody>
          <a:bodyPr>
            <a:noAutofit/>
          </a:bodyPr>
          <a:lstStyle/>
          <a:p>
            <a:pPr>
              <a:defRPr sz="1875" b="1">
                <a:solidFill>
                  <a:srgbClr val="161E2E"/>
                </a:solidFill>
                <a:latin typeface="Calibri"/>
                <a:ea typeface="Calibri"/>
                <a:cs typeface="Calibri"/>
              </a:defRPr>
            </a:pPr>
            <a:r>
              <a:rPr sz="1875" b="1">
                <a:solidFill>
                  <a:srgbClr val="161E2E"/>
                </a:solidFill>
                <a:latin typeface="Calibri"/>
                <a:ea typeface="Calibri"/>
                <a:cs typeface="Calibri"/>
              </a:rPr>
              <a:t>Full-path energy (cm)</a:t>
            </a:r>
          </a:p>
        </p:txBody>
      </p:sp>
      <p:graphicFrame>
        <p:nvGraphicFramePr>
          <p:cNvPr id="27" name="Chart"/>
          <p:cNvGraphicFramePr/>
          <p:nvPr/>
        </p:nvGraphicFramePr>
        <p:xfrm>
          <a:off x="781050" y="2419350"/>
          <a:ext cx="5048250" cy="2543175"/>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a:extLst>
              <a:ext uri="{FF2B5EF4-FFF2-40B4-BE49-F238E27FC236}">
                <a16:creationId xmlns:a16="http://schemas.microsoft.com/office/drawing/2014/main" id="{D0D2392C-A223-4AF7-8149-99237670728C}"/>
              </a:ext>
            </a:extLst>
          </p:cNvPr>
          <p:cNvSpPr>
            <a:spLocks noGrp="1"/>
          </p:cNvSpPr>
          <p:nvPr/>
        </p:nvSpPr>
        <p:spPr>
          <a:xfrm>
            <a:off x="6362700" y="2009775"/>
            <a:ext cx="5048250" cy="323850"/>
          </a:xfrm>
          <a:prstGeom prst="rect">
            <a:avLst/>
          </a:prstGeom>
          <a:noFill/>
          <a:ln w="0">
            <a:noFill/>
          </a:ln>
        </p:spPr>
        <p:txBody>
          <a:bodyPr>
            <a:noAutofit/>
          </a:bodyPr>
          <a:lstStyle/>
          <a:p>
            <a:pPr>
              <a:defRPr sz="1875" b="1">
                <a:solidFill>
                  <a:srgbClr val="161E2E"/>
                </a:solidFill>
                <a:latin typeface="Calibri"/>
                <a:ea typeface="Calibri"/>
                <a:cs typeface="Calibri"/>
              </a:defRPr>
            </a:pPr>
            <a:r>
              <a:rPr sz="1875" b="1">
                <a:solidFill>
                  <a:srgbClr val="161E2E"/>
                </a:solidFill>
                <a:latin typeface="Calibri"/>
                <a:ea typeface="Calibri"/>
                <a:cs typeface="Calibri"/>
              </a:rPr>
              <a:t>Full-path MMD squared</a:t>
            </a:r>
          </a:p>
        </p:txBody>
      </p:sp>
      <p:graphicFrame>
        <p:nvGraphicFramePr>
          <p:cNvPr id="29" name="Chart"/>
          <p:cNvGraphicFramePr/>
          <p:nvPr/>
        </p:nvGraphicFramePr>
        <p:xfrm>
          <a:off x="6362700" y="2419350"/>
          <a:ext cx="5048250" cy="2543175"/>
        </p:xfrm>
        <a:graphic>
          <a:graphicData uri="http://schemas.openxmlformats.org/drawingml/2006/chart">
            <c:chart xmlns:c="http://schemas.openxmlformats.org/drawingml/2006/chart" xmlns:r="http://schemas.openxmlformats.org/officeDocument/2006/relationships" r:id="rId4"/>
          </a:graphicData>
        </a:graphic>
      </p:graphicFrame>
      <p:sp>
        <p:nvSpPr>
          <p:cNvPr id="13" name="Rectangle 12">
            <a:extLst>
              <a:ext uri="{FF2B5EF4-FFF2-40B4-BE49-F238E27FC236}">
                <a16:creationId xmlns:a16="http://schemas.microsoft.com/office/drawing/2014/main" id="{A6D32E7B-C1A4-40D0-A668-481B811E6EA1}"/>
              </a:ext>
            </a:extLst>
          </p:cNvPr>
          <p:cNvSpPr>
            <a:spLocks noGrp="1"/>
          </p:cNvSpPr>
          <p:nvPr/>
        </p:nvSpPr>
        <p:spPr>
          <a:xfrm>
            <a:off x="781050" y="5048250"/>
            <a:ext cx="10629900" cy="257175"/>
          </a:xfrm>
          <a:prstGeom prst="rect">
            <a:avLst/>
          </a:prstGeom>
          <a:noFill/>
          <a:ln w="0">
            <a:noFill/>
          </a:ln>
        </p:spPr>
        <p:txBody>
          <a:bodyPr>
            <a:noAutofit/>
          </a:bodyPr>
          <a:lstStyle/>
          <a:p>
            <a:pPr>
              <a:defRPr sz="1275" b="0">
                <a:solidFill>
                  <a:srgbClr val="596678"/>
                </a:solidFill>
                <a:latin typeface="Calibri"/>
                <a:ea typeface="Calibri"/>
                <a:cs typeface="Calibri"/>
              </a:defRPr>
            </a:pPr>
            <a:r>
              <a:rPr sz="1275" b="0">
                <a:solidFill>
                  <a:srgbClr val="596678"/>
                </a:solidFill>
                <a:latin typeface="Calibri"/>
                <a:ea typeface="Calibri"/>
                <a:cs typeface="Calibri"/>
              </a:rPr>
              <a:t>Vs spline, same n:  * BH + Holm &lt; .05     † BH only     ns neither  |  28 participants; paired tests, 80 comparisons</a:t>
            </a:r>
          </a:p>
        </p:txBody>
      </p:sp>
      <p:sp>
        <p:nvSpPr>
          <p:cNvPr id="14" name="Rectangle 13">
            <a:extLst>
              <a:ext uri="{FF2B5EF4-FFF2-40B4-BE49-F238E27FC236}">
                <a16:creationId xmlns:a16="http://schemas.microsoft.com/office/drawing/2014/main" id="{515FA8F8-1D86-4AA0-BFAC-B5BEA94B73CB}"/>
              </a:ext>
            </a:extLst>
          </p:cNvPr>
          <p:cNvSpPr>
            <a:spLocks noGrp="1"/>
          </p:cNvSpPr>
          <p:nvPr/>
        </p:nvSpPr>
        <p:spPr>
          <a:xfrm>
            <a:off x="781050" y="5457825"/>
            <a:ext cx="10629900" cy="1104900"/>
          </a:xfrm>
          <a:prstGeom prst="rect">
            <a:avLst/>
          </a:prstGeom>
          <a:solidFill>
            <a:srgbClr val="EFF5FC"/>
          </a:solidFill>
          <a:ln w="0">
            <a:noFill/>
          </a:ln>
        </p:spPr>
      </p:sp>
      <p:sp>
        <p:nvSpPr>
          <p:cNvPr id="15" name="Rectangle 14">
            <a:extLst>
              <a:ext uri="{FF2B5EF4-FFF2-40B4-BE49-F238E27FC236}">
                <a16:creationId xmlns:a16="http://schemas.microsoft.com/office/drawing/2014/main" id="{80E4E97C-7A0A-4EF4-AF65-50F6DC745965}"/>
              </a:ext>
            </a:extLst>
          </p:cNvPr>
          <p:cNvSpPr>
            <a:spLocks noGrp="1"/>
          </p:cNvSpPr>
          <p:nvPr/>
        </p:nvSpPr>
        <p:spPr>
          <a:xfrm>
            <a:off x="781050" y="5457825"/>
            <a:ext cx="47625" cy="1104900"/>
          </a:xfrm>
          <a:prstGeom prst="rect">
            <a:avLst/>
          </a:prstGeom>
          <a:solidFill>
            <a:srgbClr val="1B6FEA"/>
          </a:solidFill>
          <a:ln w="0">
            <a:noFill/>
          </a:ln>
        </p:spPr>
      </p:sp>
      <p:sp>
        <p:nvSpPr>
          <p:cNvPr id="16" name="Rectangle 15">
            <a:extLst>
              <a:ext uri="{FF2B5EF4-FFF2-40B4-BE49-F238E27FC236}">
                <a16:creationId xmlns:a16="http://schemas.microsoft.com/office/drawing/2014/main" id="{14CD43E9-AF2E-4919-A83B-095DE5803299}"/>
              </a:ext>
            </a:extLst>
          </p:cNvPr>
          <p:cNvSpPr>
            <a:spLocks noGrp="1"/>
          </p:cNvSpPr>
          <p:nvPr/>
        </p:nvSpPr>
        <p:spPr>
          <a:xfrm>
            <a:off x="1000125" y="5581650"/>
            <a:ext cx="10096500" cy="276225"/>
          </a:xfrm>
          <a:prstGeom prst="rect">
            <a:avLst/>
          </a:prstGeom>
          <a:noFill/>
          <a:ln w="0">
            <a:noFill/>
          </a:ln>
        </p:spPr>
        <p:txBody>
          <a:bodyPr>
            <a:noAutofit/>
          </a:bodyPr>
          <a:lstStyle/>
          <a:p>
            <a:pPr>
              <a:defRPr sz="1800" b="1">
                <a:solidFill>
                  <a:srgbClr val="1B6FEA"/>
                </a:solidFill>
                <a:latin typeface="Calibri"/>
                <a:ea typeface="Calibri"/>
                <a:cs typeface="Calibri"/>
              </a:defRPr>
            </a:pPr>
            <a:r>
              <a:rPr sz="1800" b="1">
                <a:solidFill>
                  <a:srgbClr val="1B6FEA"/>
                </a:solidFill>
                <a:latin typeface="Calibri"/>
                <a:ea typeface="Calibri"/>
                <a:cs typeface="Calibri"/>
              </a:rPr>
              <a:t>At n=8, VAE and CVAE outperform spline + PCA on both distances</a:t>
            </a:r>
          </a:p>
        </p:txBody>
      </p:sp>
      <p:sp>
        <p:nvSpPr>
          <p:cNvPr id="17" name="Rectangle 16">
            <a:extLst>
              <a:ext uri="{FF2B5EF4-FFF2-40B4-BE49-F238E27FC236}">
                <a16:creationId xmlns:a16="http://schemas.microsoft.com/office/drawing/2014/main" id="{2A1B2D73-CAFF-484C-BC90-0DD5C45892D7}"/>
              </a:ext>
            </a:extLst>
          </p:cNvPr>
          <p:cNvSpPr>
            <a:spLocks noGrp="1"/>
          </p:cNvSpPr>
          <p:nvPr/>
        </p:nvSpPr>
        <p:spPr>
          <a:xfrm>
            <a:off x="1000125" y="5953125"/>
            <a:ext cx="10096500" cy="495300"/>
          </a:xfrm>
          <a:prstGeom prst="rect">
            <a:avLst/>
          </a:prstGeom>
          <a:noFill/>
          <a:ln w="0">
            <a:noFill/>
          </a:ln>
        </p:spPr>
        <p:txBody>
          <a:bodyPr>
            <a:noAutofit/>
          </a:bodyPr>
          <a:lstStyle/>
          <a:p>
            <a:pPr>
              <a:defRPr sz="1575" b="0">
                <a:solidFill>
                  <a:srgbClr val="3D4756"/>
                </a:solidFill>
                <a:latin typeface="Calibri"/>
                <a:ea typeface="Calibri"/>
                <a:cs typeface="Calibri"/>
              </a:defRPr>
            </a:pPr>
            <a:r>
              <a:rPr sz="1575" b="0">
                <a:solidFill>
                  <a:srgbClr val="3D4756"/>
                </a:solidFill>
                <a:latin typeface="Calibri"/>
                <a:ea typeface="Calibri"/>
                <a:cs typeface="Calibri"/>
              </a:rPr>
              <a:t>The finding also survives balancing the x/y axes. VAE and CVAE are not significantly different; n=3 evidence is mixed.</a:t>
            </a:r>
          </a:p>
        </p:txBody>
      </p:sp>
    </p:spTree>
    <p:extLst>
      <p:ext uri="{BB962C8B-B14F-4D97-AF65-F5344CB8AC3E}">
        <p14:creationId xmlns:p14="http://schemas.microsoft.com/office/powerpoint/2010/main" val="112855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0DE50BB-B9F5-450F-A6E3-E9308770E70C}"/>
              </a:ext>
            </a:extLst>
          </p:cNvPr>
          <p:cNvSpPr>
            <a:spLocks noGrp="1"/>
          </p:cNvSpPr>
          <p:nvPr/>
        </p:nvSpPr>
        <p:spPr>
          <a:xfrm>
            <a:off x="0" y="0"/>
            <a:ext cx="4063898" cy="66675"/>
          </a:xfrm>
          <a:prstGeom prst="rect">
            <a:avLst/>
          </a:prstGeom>
          <a:solidFill>
            <a:srgbClr val="1B6FEA"/>
          </a:solidFill>
          <a:ln w="0">
            <a:noFill/>
          </a:ln>
        </p:spPr>
      </p:sp>
      <p:sp>
        <p:nvSpPr>
          <p:cNvPr id="2" name="Rectangle 1">
            <a:extLst>
              <a:ext uri="{FF2B5EF4-FFF2-40B4-BE49-F238E27FC236}">
                <a16:creationId xmlns:a16="http://schemas.microsoft.com/office/drawing/2014/main" id="{B6E6B16E-ED77-4D03-918F-7C6A677DEBED}"/>
              </a:ext>
            </a:extLst>
          </p:cNvPr>
          <p:cNvSpPr>
            <a:spLocks noGrp="1"/>
          </p:cNvSpPr>
          <p:nvPr/>
        </p:nvSpPr>
        <p:spPr>
          <a:xfrm>
            <a:off x="4063898" y="0"/>
            <a:ext cx="4063898" cy="66675"/>
          </a:xfrm>
          <a:prstGeom prst="rect">
            <a:avLst/>
          </a:prstGeom>
          <a:solidFill>
            <a:srgbClr val="17A2A2"/>
          </a:solidFill>
          <a:ln w="0">
            <a:noFill/>
          </a:ln>
        </p:spPr>
      </p:sp>
      <p:sp>
        <p:nvSpPr>
          <p:cNvPr id="3" name="Rectangle 2">
            <a:extLst>
              <a:ext uri="{FF2B5EF4-FFF2-40B4-BE49-F238E27FC236}">
                <a16:creationId xmlns:a16="http://schemas.microsoft.com/office/drawing/2014/main" id="{DE79042C-3332-44D1-829E-7047018E579F}"/>
              </a:ext>
            </a:extLst>
          </p:cNvPr>
          <p:cNvSpPr>
            <a:spLocks noGrp="1"/>
          </p:cNvSpPr>
          <p:nvPr/>
        </p:nvSpPr>
        <p:spPr>
          <a:xfrm>
            <a:off x="8127797" y="0"/>
            <a:ext cx="4063898" cy="66675"/>
          </a:xfrm>
          <a:prstGeom prst="rect">
            <a:avLst/>
          </a:prstGeom>
          <a:solidFill>
            <a:srgbClr val="7A5CF0"/>
          </a:solidFill>
          <a:ln w="0">
            <a:noFill/>
          </a:ln>
        </p:spPr>
      </p:sp>
      <p:sp>
        <p:nvSpPr>
          <p:cNvPr id="4" name="Rectangle 3">
            <a:extLst>
              <a:ext uri="{FF2B5EF4-FFF2-40B4-BE49-F238E27FC236}">
                <a16:creationId xmlns:a16="http://schemas.microsoft.com/office/drawing/2014/main" id="{49E6ED12-2DDB-4013-A795-720B55143A8A}"/>
              </a:ext>
            </a:extLst>
          </p:cNvPr>
          <p:cNvSpPr>
            <a:spLocks noGrp="1"/>
          </p:cNvSpPr>
          <p:nvPr/>
        </p:nvSpPr>
        <p:spPr>
          <a:xfrm>
            <a:off x="781050" y="304800"/>
            <a:ext cx="9810750" cy="542925"/>
          </a:xfrm>
          <a:prstGeom prst="rect">
            <a:avLst/>
          </a:prstGeom>
          <a:noFill/>
          <a:ln w="0">
            <a:noFill/>
          </a:ln>
        </p:spPr>
        <p:txBody>
          <a:bodyPr>
            <a:noAutofit/>
          </a:bodyPr>
          <a:lstStyle/>
          <a:p>
            <a:pPr>
              <a:defRPr sz="2400" b="1">
                <a:solidFill>
                  <a:srgbClr val="161E2E"/>
                </a:solidFill>
                <a:latin typeface="Calibri"/>
                <a:ea typeface="Calibri"/>
                <a:cs typeface="Calibri"/>
              </a:defRPr>
            </a:pPr>
            <a:r>
              <a:rPr sz="2400" b="1">
                <a:solidFill>
                  <a:srgbClr val="161E2E"/>
                </a:solidFill>
                <a:latin typeface="Calibri"/>
                <a:ea typeface="Calibri"/>
                <a:cs typeface="Calibri"/>
              </a:rPr>
              <a:t>Personal context improves generation</a:t>
            </a:r>
          </a:p>
        </p:txBody>
      </p:sp>
      <p:sp>
        <p:nvSpPr>
          <p:cNvPr id="5" name="Rectangle 4">
            <a:extLst>
              <a:ext uri="{FF2B5EF4-FFF2-40B4-BE49-F238E27FC236}">
                <a16:creationId xmlns:a16="http://schemas.microsoft.com/office/drawing/2014/main" id="{4D4E7B43-A83C-4EB7-B81B-AB7A616076F5}"/>
              </a:ext>
            </a:extLst>
          </p:cNvPr>
          <p:cNvSpPr>
            <a:spLocks noGrp="1"/>
          </p:cNvSpPr>
          <p:nvPr/>
        </p:nvSpPr>
        <p:spPr>
          <a:xfrm>
            <a:off x="10668000" y="428625"/>
            <a:ext cx="742950" cy="209550"/>
          </a:xfrm>
          <a:prstGeom prst="rect">
            <a:avLst/>
          </a:prstGeom>
          <a:noFill/>
          <a:ln w="0">
            <a:noFill/>
          </a:ln>
        </p:spPr>
        <p:txBody>
          <a:bodyPr>
            <a:noAutofit/>
          </a:bodyPr>
          <a:lstStyle/>
          <a:p>
            <a:pPr>
              <a:defRPr sz="1200" b="0">
                <a:solidFill>
                  <a:srgbClr val="1B6FEA"/>
                </a:solidFill>
                <a:latin typeface="Calibri"/>
                <a:ea typeface="Calibri"/>
                <a:cs typeface="Calibri"/>
              </a:defRPr>
            </a:pPr>
            <a:r>
              <a:rPr sz="1200" b="0">
                <a:solidFill>
                  <a:srgbClr val="1B6FEA"/>
                </a:solidFill>
                <a:latin typeface="Calibri"/>
                <a:ea typeface="Calibri"/>
                <a:cs typeface="Calibri"/>
              </a:rPr>
              <a:t>10/11</a:t>
            </a:r>
          </a:p>
        </p:txBody>
      </p:sp>
      <p:sp>
        <p:nvSpPr>
          <p:cNvPr id="6" name="Rectangle 5">
            <a:extLst>
              <a:ext uri="{FF2B5EF4-FFF2-40B4-BE49-F238E27FC236}">
                <a16:creationId xmlns:a16="http://schemas.microsoft.com/office/drawing/2014/main" id="{BF1793ED-FD81-41E6-9B6F-392EE0687873}"/>
              </a:ext>
            </a:extLst>
          </p:cNvPr>
          <p:cNvSpPr>
            <a:spLocks noGrp="1"/>
          </p:cNvSpPr>
          <p:nvPr/>
        </p:nvSpPr>
        <p:spPr>
          <a:xfrm>
            <a:off x="781050" y="952500"/>
            <a:ext cx="10629900" cy="9525"/>
          </a:xfrm>
          <a:prstGeom prst="rect">
            <a:avLst/>
          </a:prstGeom>
          <a:solidFill>
            <a:srgbClr val="DFE5EE"/>
          </a:solidFill>
          <a:ln w="0">
            <a:noFill/>
          </a:ln>
        </p:spPr>
      </p:sp>
      <p:sp>
        <p:nvSpPr>
          <p:cNvPr id="7" name="Rectangle 6">
            <a:extLst>
              <a:ext uri="{FF2B5EF4-FFF2-40B4-BE49-F238E27FC236}">
                <a16:creationId xmlns:a16="http://schemas.microsoft.com/office/drawing/2014/main" id="{E72FF379-FF9D-4E88-A68A-71AD8AC6C826}"/>
              </a:ext>
            </a:extLst>
          </p:cNvPr>
          <p:cNvSpPr>
            <a:spLocks noGrp="1"/>
          </p:cNvSpPr>
          <p:nvPr/>
        </p:nvSpPr>
        <p:spPr>
          <a:xfrm>
            <a:off x="781050" y="1152525"/>
            <a:ext cx="10629900" cy="571500"/>
          </a:xfrm>
          <a:prstGeom prst="rect">
            <a:avLst/>
          </a:prstGeom>
          <a:noFill/>
          <a:ln w="0">
            <a:noFill/>
          </a:ln>
        </p:spPr>
        <p:txBody>
          <a:bodyPr>
            <a:noAutofit/>
          </a:bodyPr>
          <a:lstStyle/>
          <a:p>
            <a:pPr>
              <a:defRPr sz="1950" b="0">
                <a:solidFill>
                  <a:srgbClr val="161E2E"/>
                </a:solidFill>
                <a:latin typeface="Calibri"/>
                <a:ea typeface="Calibri"/>
                <a:cs typeface="Calibri"/>
              </a:defRPr>
            </a:pPr>
            <a:r>
              <a:rPr sz="1950" b="0">
                <a:solidFill>
                  <a:srgbClr val="161E2E"/>
                </a:solidFill>
                <a:latin typeface="Calibri"/>
                <a:ea typeface="Calibri"/>
                <a:cs typeface="Calibri"/>
              </a:rPr>
              <a:t>Replace only the fingerprint center; keep the decoder, noise and conditions fixed.</a:t>
            </a:r>
          </a:p>
        </p:txBody>
      </p:sp>
      <p:sp>
        <p:nvSpPr>
          <p:cNvPr id="8" name="Rectangle 7">
            <a:extLst>
              <a:ext uri="{FF2B5EF4-FFF2-40B4-BE49-F238E27FC236}">
                <a16:creationId xmlns:a16="http://schemas.microsoft.com/office/drawing/2014/main" id="{BCCC59F5-EC42-422F-8D09-8D337C9FF509}"/>
              </a:ext>
            </a:extLst>
          </p:cNvPr>
          <p:cNvSpPr>
            <a:spLocks noGrp="1"/>
          </p:cNvSpPr>
          <p:nvPr/>
        </p:nvSpPr>
        <p:spPr>
          <a:xfrm>
            <a:off x="781050" y="2428875"/>
            <a:ext cx="3429000" cy="876300"/>
          </a:xfrm>
          <a:prstGeom prst="rect">
            <a:avLst/>
          </a:prstGeom>
          <a:noFill/>
          <a:ln w="0">
            <a:noFill/>
          </a:ln>
        </p:spPr>
        <p:txBody>
          <a:bodyPr>
            <a:noAutofit/>
          </a:bodyPr>
          <a:lstStyle/>
          <a:p>
            <a:pPr>
              <a:defRPr sz="6150" b="1">
                <a:solidFill>
                  <a:srgbClr val="1D7A3E"/>
                </a:solidFill>
                <a:latin typeface="Calibri"/>
                <a:ea typeface="Calibri"/>
                <a:cs typeface="Calibri"/>
              </a:defRPr>
            </a:pPr>
            <a:r>
              <a:rPr sz="6150" b="1">
                <a:solidFill>
                  <a:srgbClr val="1D7A3E"/>
                </a:solidFill>
                <a:latin typeface="Calibri"/>
                <a:ea typeface="Calibri"/>
                <a:cs typeface="Calibri"/>
              </a:rPr>
              <a:t>27 / 28</a:t>
            </a:r>
          </a:p>
        </p:txBody>
      </p:sp>
      <p:sp>
        <p:nvSpPr>
          <p:cNvPr id="9" name="Rectangle 8">
            <a:extLst>
              <a:ext uri="{FF2B5EF4-FFF2-40B4-BE49-F238E27FC236}">
                <a16:creationId xmlns:a16="http://schemas.microsoft.com/office/drawing/2014/main" id="{CBA9E78C-7FA3-4DB4-9A34-570B2A47FE34}"/>
              </a:ext>
            </a:extLst>
          </p:cNvPr>
          <p:cNvSpPr>
            <a:spLocks noGrp="1"/>
          </p:cNvSpPr>
          <p:nvPr/>
        </p:nvSpPr>
        <p:spPr>
          <a:xfrm>
            <a:off x="781050" y="3438525"/>
            <a:ext cx="3333750" cy="628650"/>
          </a:xfrm>
          <a:prstGeom prst="rect">
            <a:avLst/>
          </a:prstGeom>
          <a:noFill/>
          <a:ln w="0">
            <a:noFill/>
          </a:ln>
        </p:spPr>
        <p:txBody>
          <a:bodyPr>
            <a:noAutofit/>
          </a:bodyPr>
          <a:lstStyle/>
          <a:p>
            <a:pPr>
              <a:defRPr sz="2025" b="1">
                <a:solidFill>
                  <a:srgbClr val="161E2E"/>
                </a:solidFill>
                <a:latin typeface="Calibri"/>
                <a:ea typeface="Calibri"/>
                <a:cs typeface="Calibri"/>
              </a:defRPr>
            </a:pPr>
            <a:r>
              <a:rPr sz="2025" b="1">
                <a:solidFill>
                  <a:srgbClr val="161E2E"/>
                </a:solidFill>
                <a:latin typeface="Calibri"/>
                <a:ea typeface="Calibri"/>
                <a:cs typeface="Calibri"/>
              </a:rPr>
              <a:t>participants had lower mean KS</a:t>
            </a:r>
          </a:p>
        </p:txBody>
      </p:sp>
      <p:sp>
        <p:nvSpPr>
          <p:cNvPr id="10" name="Rectangle 9">
            <a:extLst>
              <a:ext uri="{FF2B5EF4-FFF2-40B4-BE49-F238E27FC236}">
                <a16:creationId xmlns:a16="http://schemas.microsoft.com/office/drawing/2014/main" id="{2FC0FF50-8BC3-42EA-85E0-A83B41126EB5}"/>
              </a:ext>
            </a:extLst>
          </p:cNvPr>
          <p:cNvSpPr>
            <a:spLocks noGrp="1"/>
          </p:cNvSpPr>
          <p:nvPr/>
        </p:nvSpPr>
        <p:spPr>
          <a:xfrm>
            <a:off x="781050" y="4171950"/>
            <a:ext cx="3333750" cy="571500"/>
          </a:xfrm>
          <a:prstGeom prst="rect">
            <a:avLst/>
          </a:prstGeom>
          <a:noFill/>
          <a:ln w="0">
            <a:noFill/>
          </a:ln>
        </p:spPr>
        <p:txBody>
          <a:bodyPr>
            <a:noAutofit/>
          </a:bodyPr>
          <a:lstStyle/>
          <a:p>
            <a:pPr>
              <a:defRPr sz="1725" b="0">
                <a:solidFill>
                  <a:srgbClr val="4C5969"/>
                </a:solidFill>
                <a:latin typeface="Calibri"/>
                <a:ea typeface="Calibri"/>
                <a:cs typeface="Calibri"/>
              </a:defRPr>
            </a:pPr>
            <a:r>
              <a:rPr sz="1725" b="0">
                <a:solidFill>
                  <a:srgbClr val="4C5969"/>
                </a:solidFill>
                <a:latin typeface="Calibri"/>
                <a:ea typeface="Calibri"/>
                <a:cs typeface="Calibri"/>
              </a:rPr>
              <a:t>Own center vs population center</a:t>
            </a:r>
          </a:p>
          <a:p>
            <a:pPr>
              <a:defRPr sz="1725" b="0">
                <a:solidFill>
                  <a:srgbClr val="4C5969"/>
                </a:solidFill>
                <a:latin typeface="Calibri"/>
                <a:ea typeface="Calibri"/>
                <a:cs typeface="Calibri"/>
              </a:defRPr>
            </a:pPr>
            <a:r>
              <a:rPr sz="1725" b="0">
                <a:solidFill>
                  <a:srgbClr val="4C5969"/>
                </a:solidFill>
                <a:latin typeface="Calibri"/>
                <a:ea typeface="Calibri"/>
                <a:cs typeface="Calibri"/>
              </a:rPr>
              <a:t>VAE, n=8</a:t>
            </a:r>
          </a:p>
        </p:txBody>
      </p:sp>
      <p:sp>
        <p:nvSpPr>
          <p:cNvPr id="11" name="Rectangle 10">
            <a:extLst>
              <a:ext uri="{FF2B5EF4-FFF2-40B4-BE49-F238E27FC236}">
                <a16:creationId xmlns:a16="http://schemas.microsoft.com/office/drawing/2014/main" id="{C2A79F62-0E84-4E8C-B977-2A74C7B8411C}"/>
              </a:ext>
            </a:extLst>
          </p:cNvPr>
          <p:cNvSpPr>
            <a:spLocks noGrp="1"/>
          </p:cNvSpPr>
          <p:nvPr/>
        </p:nvSpPr>
        <p:spPr>
          <a:xfrm>
            <a:off x="4438650" y="2009775"/>
            <a:ext cx="6972300" cy="323850"/>
          </a:xfrm>
          <a:prstGeom prst="rect">
            <a:avLst/>
          </a:prstGeom>
          <a:noFill/>
          <a:ln w="0">
            <a:noFill/>
          </a:ln>
        </p:spPr>
        <p:txBody>
          <a:bodyPr>
            <a:noAutofit/>
          </a:bodyPr>
          <a:lstStyle/>
          <a:p>
            <a:pPr>
              <a:defRPr sz="1875" b="1">
                <a:solidFill>
                  <a:srgbClr val="161E2E"/>
                </a:solidFill>
                <a:latin typeface="Calibri"/>
                <a:ea typeface="Calibri"/>
                <a:cs typeface="Calibri"/>
              </a:defRPr>
            </a:pPr>
            <a:r>
              <a:rPr sz="1875" b="1">
                <a:solidFill>
                  <a:srgbClr val="161E2E"/>
                </a:solidFill>
                <a:latin typeface="Calibri"/>
                <a:ea typeface="Calibri"/>
                <a:cs typeface="Calibri"/>
              </a:rPr>
              <a:t>Mean feature KS (lower is better)</a:t>
            </a:r>
          </a:p>
        </p:txBody>
      </p:sp>
      <p:graphicFrame>
        <p:nvGraphicFramePr>
          <p:cNvPr id="29" name="Chart"/>
          <p:cNvGraphicFramePr/>
          <p:nvPr/>
        </p:nvGraphicFramePr>
        <p:xfrm>
          <a:off x="4438650" y="2419350"/>
          <a:ext cx="6972300" cy="2543175"/>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a:extLst>
              <a:ext uri="{FF2B5EF4-FFF2-40B4-BE49-F238E27FC236}">
                <a16:creationId xmlns:a16="http://schemas.microsoft.com/office/drawing/2014/main" id="{E13976B6-16B3-4E7B-B250-7E34EB86548F}"/>
              </a:ext>
            </a:extLst>
          </p:cNvPr>
          <p:cNvSpPr>
            <a:spLocks noGrp="1"/>
          </p:cNvSpPr>
          <p:nvPr/>
        </p:nvSpPr>
        <p:spPr>
          <a:xfrm>
            <a:off x="4438650" y="5048250"/>
            <a:ext cx="6972300" cy="257175"/>
          </a:xfrm>
          <a:prstGeom prst="rect">
            <a:avLst/>
          </a:prstGeom>
          <a:noFill/>
          <a:ln w="0">
            <a:noFill/>
          </a:ln>
        </p:spPr>
        <p:txBody>
          <a:bodyPr>
            <a:noAutofit/>
          </a:bodyPr>
          <a:lstStyle/>
          <a:p>
            <a:pPr>
              <a:defRPr sz="1350" b="0">
                <a:solidFill>
                  <a:srgbClr val="596678"/>
                </a:solidFill>
                <a:latin typeface="Calibri"/>
                <a:ea typeface="Calibri"/>
                <a:cs typeface="Calibri"/>
              </a:defRPr>
            </a:pPr>
            <a:r>
              <a:rPr sz="1350" b="0">
                <a:solidFill>
                  <a:srgbClr val="596678"/>
                </a:solidFill>
                <a:latin typeface="Calibri"/>
                <a:ea typeface="Calibri"/>
                <a:cs typeface="Calibri"/>
              </a:rPr>
              <a:t>* Different from own center: BH-adjusted p &lt; .05</a:t>
            </a:r>
          </a:p>
        </p:txBody>
      </p:sp>
      <p:sp>
        <p:nvSpPr>
          <p:cNvPr id="14" name="Rectangle 13">
            <a:extLst>
              <a:ext uri="{FF2B5EF4-FFF2-40B4-BE49-F238E27FC236}">
                <a16:creationId xmlns:a16="http://schemas.microsoft.com/office/drawing/2014/main" id="{9D14345A-58D6-480E-AB61-A4EE5C1A3F12}"/>
              </a:ext>
            </a:extLst>
          </p:cNvPr>
          <p:cNvSpPr>
            <a:spLocks noGrp="1"/>
          </p:cNvSpPr>
          <p:nvPr/>
        </p:nvSpPr>
        <p:spPr>
          <a:xfrm>
            <a:off x="781050" y="5457825"/>
            <a:ext cx="10629900" cy="1104900"/>
          </a:xfrm>
          <a:prstGeom prst="rect">
            <a:avLst/>
          </a:prstGeom>
          <a:solidFill>
            <a:srgbClr val="EFF5FC"/>
          </a:solidFill>
          <a:ln w="0">
            <a:noFill/>
          </a:ln>
        </p:spPr>
      </p:sp>
      <p:sp>
        <p:nvSpPr>
          <p:cNvPr id="15" name="Rectangle 14">
            <a:extLst>
              <a:ext uri="{FF2B5EF4-FFF2-40B4-BE49-F238E27FC236}">
                <a16:creationId xmlns:a16="http://schemas.microsoft.com/office/drawing/2014/main" id="{2239D09D-277B-4DFD-BC35-5397B83CCE60}"/>
              </a:ext>
            </a:extLst>
          </p:cNvPr>
          <p:cNvSpPr>
            <a:spLocks noGrp="1"/>
          </p:cNvSpPr>
          <p:nvPr/>
        </p:nvSpPr>
        <p:spPr>
          <a:xfrm>
            <a:off x="781050" y="5457825"/>
            <a:ext cx="47625" cy="1104900"/>
          </a:xfrm>
          <a:prstGeom prst="rect">
            <a:avLst/>
          </a:prstGeom>
          <a:solidFill>
            <a:srgbClr val="1B6FEA"/>
          </a:solidFill>
          <a:ln w="0">
            <a:noFill/>
          </a:ln>
        </p:spPr>
      </p:sp>
      <p:sp>
        <p:nvSpPr>
          <p:cNvPr id="16" name="Rectangle 15">
            <a:extLst>
              <a:ext uri="{FF2B5EF4-FFF2-40B4-BE49-F238E27FC236}">
                <a16:creationId xmlns:a16="http://schemas.microsoft.com/office/drawing/2014/main" id="{9FFF70DA-DC06-4E80-B2A4-4377FBB57A29}"/>
              </a:ext>
            </a:extLst>
          </p:cNvPr>
          <p:cNvSpPr>
            <a:spLocks noGrp="1"/>
          </p:cNvSpPr>
          <p:nvPr/>
        </p:nvSpPr>
        <p:spPr>
          <a:xfrm>
            <a:off x="1000125" y="5581650"/>
            <a:ext cx="10096500" cy="276225"/>
          </a:xfrm>
          <a:prstGeom prst="rect">
            <a:avLst/>
          </a:prstGeom>
          <a:noFill/>
          <a:ln w="0">
            <a:noFill/>
          </a:ln>
        </p:spPr>
        <p:txBody>
          <a:bodyPr>
            <a:noAutofit/>
          </a:bodyPr>
          <a:lstStyle/>
          <a:p>
            <a:pPr>
              <a:defRPr sz="1800" b="1">
                <a:solidFill>
                  <a:srgbClr val="1B6FEA"/>
                </a:solidFill>
                <a:latin typeface="Calibri"/>
                <a:ea typeface="Calibri"/>
                <a:cs typeface="Calibri"/>
              </a:defRPr>
            </a:pPr>
            <a:r>
              <a:rPr sz="1800" b="1">
                <a:solidFill>
                  <a:srgbClr val="1B6FEA"/>
                </a:solidFill>
                <a:latin typeface="Calibri"/>
                <a:ea typeface="Calibri"/>
                <a:cs typeface="Calibri"/>
              </a:rPr>
              <a:t>The correct personal center improves the generated feature distributions</a:t>
            </a:r>
          </a:p>
        </p:txBody>
      </p:sp>
      <p:sp>
        <p:nvSpPr>
          <p:cNvPr id="17" name="Rectangle 16">
            <a:extLst>
              <a:ext uri="{FF2B5EF4-FFF2-40B4-BE49-F238E27FC236}">
                <a16:creationId xmlns:a16="http://schemas.microsoft.com/office/drawing/2014/main" id="{D693DA89-324B-4504-B0E8-1BE491069221}"/>
              </a:ext>
            </a:extLst>
          </p:cNvPr>
          <p:cNvSpPr>
            <a:spLocks noGrp="1"/>
          </p:cNvSpPr>
          <p:nvPr/>
        </p:nvSpPr>
        <p:spPr>
          <a:xfrm>
            <a:off x="1000125" y="5953125"/>
            <a:ext cx="10096500" cy="495300"/>
          </a:xfrm>
          <a:prstGeom prst="rect">
            <a:avLst/>
          </a:prstGeom>
          <a:noFill/>
          <a:ln w="0">
            <a:noFill/>
          </a:ln>
        </p:spPr>
        <p:txBody>
          <a:bodyPr>
            <a:noAutofit/>
          </a:bodyPr>
          <a:lstStyle/>
          <a:p>
            <a:pPr>
              <a:defRPr sz="1575" b="0">
                <a:solidFill>
                  <a:srgbClr val="3D4756"/>
                </a:solidFill>
                <a:latin typeface="Calibri"/>
                <a:ea typeface="Calibri"/>
                <a:cs typeface="Calibri"/>
              </a:defRPr>
            </a:pPr>
            <a:r>
              <a:rPr sz="1575" b="0">
                <a:solidFill>
                  <a:srgbClr val="3D4756"/>
                </a:solidFill>
                <a:latin typeface="Calibri"/>
                <a:ea typeface="Calibri"/>
                <a:cs typeface="Calibri"/>
              </a:rPr>
              <a:t>Both n=8 models improve on population and other-person centers. This supports useful personal information within the session.</a:t>
            </a:r>
          </a:p>
        </p:txBody>
      </p:sp>
    </p:spTree>
    <p:extLst>
      <p:ext uri="{BB962C8B-B14F-4D97-AF65-F5344CB8AC3E}">
        <p14:creationId xmlns:p14="http://schemas.microsoft.com/office/powerpoint/2010/main" val="928960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A49027-6E27-48FF-BA8D-ECDE2BBF2BBF}"/>
              </a:ext>
            </a:extLst>
          </p:cNvPr>
          <p:cNvSpPr>
            <a:spLocks noGrp="1"/>
          </p:cNvSpPr>
          <p:nvPr/>
        </p:nvSpPr>
        <p:spPr>
          <a:xfrm>
            <a:off x="0" y="0"/>
            <a:ext cx="4063898" cy="66675"/>
          </a:xfrm>
          <a:prstGeom prst="rect">
            <a:avLst/>
          </a:prstGeom>
          <a:solidFill>
            <a:srgbClr val="1B6FEA"/>
          </a:solidFill>
          <a:ln w="0">
            <a:noFill/>
          </a:ln>
        </p:spPr>
      </p:sp>
      <p:sp>
        <p:nvSpPr>
          <p:cNvPr id="2" name="Rectangle 1">
            <a:extLst>
              <a:ext uri="{FF2B5EF4-FFF2-40B4-BE49-F238E27FC236}">
                <a16:creationId xmlns:a16="http://schemas.microsoft.com/office/drawing/2014/main" id="{094156C9-6827-44C3-BB82-5B729713A0DD}"/>
              </a:ext>
            </a:extLst>
          </p:cNvPr>
          <p:cNvSpPr>
            <a:spLocks noGrp="1"/>
          </p:cNvSpPr>
          <p:nvPr/>
        </p:nvSpPr>
        <p:spPr>
          <a:xfrm>
            <a:off x="4063898" y="0"/>
            <a:ext cx="4063898" cy="66675"/>
          </a:xfrm>
          <a:prstGeom prst="rect">
            <a:avLst/>
          </a:prstGeom>
          <a:solidFill>
            <a:srgbClr val="17A2A2"/>
          </a:solidFill>
          <a:ln w="0">
            <a:noFill/>
          </a:ln>
        </p:spPr>
      </p:sp>
      <p:sp>
        <p:nvSpPr>
          <p:cNvPr id="3" name="Rectangle 2">
            <a:extLst>
              <a:ext uri="{FF2B5EF4-FFF2-40B4-BE49-F238E27FC236}">
                <a16:creationId xmlns:a16="http://schemas.microsoft.com/office/drawing/2014/main" id="{A18FEAAE-5BCD-4401-8B6D-AA0449DCF231}"/>
              </a:ext>
            </a:extLst>
          </p:cNvPr>
          <p:cNvSpPr>
            <a:spLocks noGrp="1"/>
          </p:cNvSpPr>
          <p:nvPr/>
        </p:nvSpPr>
        <p:spPr>
          <a:xfrm>
            <a:off x="8127797" y="0"/>
            <a:ext cx="4063898" cy="66675"/>
          </a:xfrm>
          <a:prstGeom prst="rect">
            <a:avLst/>
          </a:prstGeom>
          <a:solidFill>
            <a:srgbClr val="7A5CF0"/>
          </a:solidFill>
          <a:ln w="0">
            <a:noFill/>
          </a:ln>
        </p:spPr>
      </p:sp>
      <p:sp>
        <p:nvSpPr>
          <p:cNvPr id="4" name="Rectangle 3">
            <a:extLst>
              <a:ext uri="{FF2B5EF4-FFF2-40B4-BE49-F238E27FC236}">
                <a16:creationId xmlns:a16="http://schemas.microsoft.com/office/drawing/2014/main" id="{8499A35A-A4B3-4269-9209-EFCFE1256449}"/>
              </a:ext>
            </a:extLst>
          </p:cNvPr>
          <p:cNvSpPr>
            <a:spLocks noGrp="1"/>
          </p:cNvSpPr>
          <p:nvPr/>
        </p:nvSpPr>
        <p:spPr>
          <a:xfrm>
            <a:off x="781050" y="304800"/>
            <a:ext cx="9810750" cy="542925"/>
          </a:xfrm>
          <a:prstGeom prst="rect">
            <a:avLst/>
          </a:prstGeom>
          <a:noFill/>
          <a:ln w="0">
            <a:noFill/>
          </a:ln>
        </p:spPr>
        <p:txBody>
          <a:bodyPr>
            <a:noAutofit/>
          </a:bodyPr>
          <a:lstStyle/>
          <a:p>
            <a:pPr>
              <a:defRPr sz="2400" b="1">
                <a:solidFill>
                  <a:srgbClr val="161E2E"/>
                </a:solidFill>
                <a:latin typeface="Calibri"/>
                <a:ea typeface="Calibri"/>
                <a:cs typeface="Calibri"/>
              </a:defRPr>
            </a:pPr>
            <a:r>
              <a:rPr sz="2400" b="1">
                <a:solidFill>
                  <a:srgbClr val="161E2E"/>
                </a:solidFill>
                <a:latin typeface="Calibri"/>
                <a:ea typeface="Calibri"/>
                <a:cs typeface="Calibri"/>
              </a:rPr>
              <a:t>An interactive dashboard</a:t>
            </a:r>
          </a:p>
        </p:txBody>
      </p:sp>
      <p:sp>
        <p:nvSpPr>
          <p:cNvPr id="5" name="Rectangle 4">
            <a:extLst>
              <a:ext uri="{FF2B5EF4-FFF2-40B4-BE49-F238E27FC236}">
                <a16:creationId xmlns:a16="http://schemas.microsoft.com/office/drawing/2014/main" id="{D82828C6-C863-4821-B7AE-4CC6612D4A36}"/>
              </a:ext>
            </a:extLst>
          </p:cNvPr>
          <p:cNvSpPr>
            <a:spLocks noGrp="1"/>
          </p:cNvSpPr>
          <p:nvPr/>
        </p:nvSpPr>
        <p:spPr>
          <a:xfrm>
            <a:off x="10668000" y="428625"/>
            <a:ext cx="742950" cy="209550"/>
          </a:xfrm>
          <a:prstGeom prst="rect">
            <a:avLst/>
          </a:prstGeom>
          <a:noFill/>
          <a:ln w="0">
            <a:noFill/>
          </a:ln>
        </p:spPr>
        <p:txBody>
          <a:bodyPr>
            <a:noAutofit/>
          </a:bodyPr>
          <a:lstStyle/>
          <a:p>
            <a:pPr>
              <a:defRPr sz="1200" b="0">
                <a:solidFill>
                  <a:srgbClr val="1B6FEA"/>
                </a:solidFill>
                <a:latin typeface="Calibri"/>
                <a:ea typeface="Calibri"/>
                <a:cs typeface="Calibri"/>
              </a:defRPr>
            </a:pPr>
            <a:r>
              <a:rPr sz="1200" b="0">
                <a:solidFill>
                  <a:srgbClr val="1B6FEA"/>
                </a:solidFill>
                <a:latin typeface="Calibri"/>
                <a:ea typeface="Calibri"/>
                <a:cs typeface="Calibri"/>
              </a:rPr>
              <a:t>11/11</a:t>
            </a:r>
          </a:p>
        </p:txBody>
      </p:sp>
      <p:sp>
        <p:nvSpPr>
          <p:cNvPr id="6" name="Rectangle 5">
            <a:extLst>
              <a:ext uri="{FF2B5EF4-FFF2-40B4-BE49-F238E27FC236}">
                <a16:creationId xmlns:a16="http://schemas.microsoft.com/office/drawing/2014/main" id="{70970964-1830-497A-9147-5802830EB1C0}"/>
              </a:ext>
            </a:extLst>
          </p:cNvPr>
          <p:cNvSpPr>
            <a:spLocks noGrp="1"/>
          </p:cNvSpPr>
          <p:nvPr/>
        </p:nvSpPr>
        <p:spPr>
          <a:xfrm>
            <a:off x="781050" y="952500"/>
            <a:ext cx="10629900" cy="9525"/>
          </a:xfrm>
          <a:prstGeom prst="rect">
            <a:avLst/>
          </a:prstGeom>
          <a:solidFill>
            <a:srgbClr val="DFE5EE"/>
          </a:solidFill>
          <a:ln w="0">
            <a:noFill/>
          </a:ln>
        </p:spPr>
      </p:sp>
      <p:sp>
        <p:nvSpPr>
          <p:cNvPr id="7" name="Rectangle 6">
            <a:extLst>
              <a:ext uri="{FF2B5EF4-FFF2-40B4-BE49-F238E27FC236}">
                <a16:creationId xmlns:a16="http://schemas.microsoft.com/office/drawing/2014/main" id="{98F51E34-6A42-4CA4-8DE0-B8076A2CDAC2}"/>
              </a:ext>
            </a:extLst>
          </p:cNvPr>
          <p:cNvSpPr>
            <a:spLocks noGrp="1"/>
          </p:cNvSpPr>
          <p:nvPr/>
        </p:nvSpPr>
        <p:spPr>
          <a:xfrm>
            <a:off x="781050" y="1152525"/>
            <a:ext cx="10629900" cy="571500"/>
          </a:xfrm>
          <a:prstGeom prst="rect">
            <a:avLst/>
          </a:prstGeom>
          <a:noFill/>
          <a:ln w="0">
            <a:noFill/>
          </a:ln>
        </p:spPr>
        <p:txBody>
          <a:bodyPr>
            <a:noAutofit/>
          </a:bodyPr>
          <a:lstStyle/>
          <a:p>
            <a:pPr>
              <a:defRPr sz="1950" b="0">
                <a:solidFill>
                  <a:srgbClr val="161E2E"/>
                </a:solidFill>
                <a:latin typeface="Calibri"/>
                <a:ea typeface="Calibri"/>
                <a:cs typeface="Calibri"/>
              </a:defRPr>
            </a:pPr>
            <a:r>
              <a:rPr sz="1950" b="0">
                <a:solidFill>
                  <a:srgbClr val="161E2E"/>
                </a:solidFill>
                <a:latin typeface="Calibri"/>
                <a:ea typeface="Calibri"/>
                <a:cs typeface="Calibri"/>
              </a:rPr>
              <a:t>Explore a latent representation and see its generated trajectory and predicted timing.</a:t>
            </a:r>
          </a:p>
        </p:txBody>
      </p:sp>
      <p:pic>
        <p:nvPicPr>
          <p:cNvPr id="16" name="Picture 15"/>
          <p:cNvPicPr>
            <a:picLocks noChangeAspect="1"/>
          </p:cNvPicPr>
          <p:nvPr/>
        </p:nvPicPr>
        <p:blipFill>
          <a:blip r:embed="rId3"/>
          <a:stretch/>
        </p:blipFill>
        <p:spPr>
          <a:xfrm>
            <a:off x="1781175" y="1792486"/>
            <a:ext cx="8629650" cy="4854178"/>
          </a:xfrm>
          <a:prstGeom prst="rect">
            <a:avLst/>
          </a:prstGeom>
        </p:spPr>
      </p:pic>
    </p:spTree>
    <p:extLst>
      <p:ext uri="{BB962C8B-B14F-4D97-AF65-F5344CB8AC3E}">
        <p14:creationId xmlns:p14="http://schemas.microsoft.com/office/powerpoint/2010/main" val="36690606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2191</Words>
  <Application>Microsoft Office PowerPoint</Application>
  <PresentationFormat>Widescreen</PresentationFormat>
  <Paragraphs>162</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simaan libbiss</cp:lastModifiedBy>
  <cp:revision>2</cp:revision>
  <dcterms:created xsi:type="dcterms:W3CDTF">2013-01-27T09:14:16Z</dcterms:created>
  <dcterms:modified xsi:type="dcterms:W3CDTF">2026-09-16T12:18:14Z</dcterms:modified>
  <cp:category/>
</cp:coreProperties>
</file>