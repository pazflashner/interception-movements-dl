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8e7fc408eac470b" /><Relationship Type="http://schemas.openxmlformats.org/officeDocument/2006/relationships/extended-properties" Target="/docProps/app.xml" Id="Ra8e5703fcae24e05" /><Relationship Type="http://schemas.openxmlformats.org/officeDocument/2006/relationships/officeDocument" Target="/ppt/presentation.xml" Id="R1f2798ed052942a6" /></Relationships>
</file>

<file path=ppt/presentation.xml><?xml version="1.0" encoding="utf-8"?>
<p:presentation xmlns:p="http://schemas.openxmlformats.org/presentationml/2006/main">
  <p:sldMasterIdLst>
    <p:sldMasterId xmlns:r="http://schemas.openxmlformats.org/officeDocument/2006/relationships" id="2147483648" r:id="R31e3cb8739184422"/>
  </p:sldMasterIdLst>
  <p:notesMasterIdLst>
    <p:notesMasterId xmlns:r="http://schemas.openxmlformats.org/officeDocument/2006/relationships" r:id="R3d7d6a3e6bdc49d2"/>
  </p:notesMasterIdLst>
  <p:sldIdLst>
    <p:sldId xmlns:r="http://schemas.openxmlformats.org/officeDocument/2006/relationships" id="256" r:id="R7b9008126fa14502"/>
    <p:sldId xmlns:r="http://schemas.openxmlformats.org/officeDocument/2006/relationships" id="257" r:id="R64700ea08b8842ad"/>
    <p:sldId xmlns:r="http://schemas.openxmlformats.org/officeDocument/2006/relationships" id="258" r:id="R60212c2c17ce4779"/>
    <p:sldId xmlns:r="http://schemas.openxmlformats.org/officeDocument/2006/relationships" id="259" r:id="R050ffe08b5454b44"/>
    <p:sldId xmlns:r="http://schemas.openxmlformats.org/officeDocument/2006/relationships" id="260" r:id="R5e60e8c7b7d6463c"/>
    <p:sldId xmlns:r="http://schemas.openxmlformats.org/officeDocument/2006/relationships" id="261" r:id="R53d729f120d6458a"/>
    <p:sldId xmlns:r="http://schemas.openxmlformats.org/officeDocument/2006/relationships" id="262" r:id="Red8552e472d44d15"/>
    <p:sldId xmlns:r="http://schemas.openxmlformats.org/officeDocument/2006/relationships" id="263" r:id="Rda4c9ecbe9014993"/>
    <p:sldId xmlns:r="http://schemas.openxmlformats.org/officeDocument/2006/relationships" id="264" r:id="Ra6837ccbcec64f97"/>
    <p:sldId xmlns:r="http://schemas.openxmlformats.org/officeDocument/2006/relationships" id="265" r:id="Ra8b022e74af94e6f"/>
    <p:sldId xmlns:r="http://schemas.openxmlformats.org/officeDocument/2006/relationships" id="266" r:id="R3a180d6abfe9435c"/>
    <p:sldId xmlns:r="http://schemas.openxmlformats.org/officeDocument/2006/relationships" id="267" r:id="R74c9b43f28a449fd"/>
    <p:sldId xmlns:r="http://schemas.openxmlformats.org/officeDocument/2006/relationships" id="268" r:id="R3c4c4fb378364fb3"/>
    <p:sldId xmlns:r="http://schemas.openxmlformats.org/officeDocument/2006/relationships" id="269" r:id="R701fc83374114843"/>
    <p:sldId xmlns:r="http://schemas.openxmlformats.org/officeDocument/2006/relationships" id="270" r:id="R5445e2c78b2641f4"/>
    <p:sldId xmlns:r="http://schemas.openxmlformats.org/officeDocument/2006/relationships" id="271" r:id="R21474b67f953498a"/>
    <p:sldId xmlns:r="http://schemas.openxmlformats.org/officeDocument/2006/relationships" id="272" r:id="R95bbb2a0b3e1446d"/>
    <p:sldId xmlns:r="http://schemas.openxmlformats.org/officeDocument/2006/relationships" id="273" r:id="Rf53d5fb232024cb7"/>
    <p:sldId xmlns:r="http://schemas.openxmlformats.org/officeDocument/2006/relationships" id="274" r:id="Ra0d34922f39f4429"/>
    <p:sldId xmlns:r="http://schemas.openxmlformats.org/officeDocument/2006/relationships" id="275" r:id="Rce9e15ddd94547d0"/>
    <p:sldId xmlns:r="http://schemas.openxmlformats.org/officeDocument/2006/relationships" id="276" r:id="R45e51b0ef52648d3"/>
    <p:sldId xmlns:r="http://schemas.openxmlformats.org/officeDocument/2006/relationships" id="277" r:id="R93c03b8e95df4797"/>
    <p:sldId xmlns:r="http://schemas.openxmlformats.org/officeDocument/2006/relationships" id="278" r:id="Rd395894fe39747bc"/>
    <p:sldId xmlns:r="http://schemas.openxmlformats.org/officeDocument/2006/relationships" id="279" r:id="R2d899907a8784e81"/>
    <p:sldId xmlns:r="http://schemas.openxmlformats.org/officeDocument/2006/relationships" id="280" r:id="Rdfbecbab4bc9424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508469a095f4e14" /><Relationship Type="http://schemas.openxmlformats.org/officeDocument/2006/relationships/slideMaster" Target="/ppt/slideMasters/slideMaster1.xml" Id="R31e3cb8739184422" /><Relationship Type="http://schemas.openxmlformats.org/officeDocument/2006/relationships/notesMaster" Target="/ppt/notesMasters/notesMaster1.xml" Id="R3d7d6a3e6bdc49d2" /><Relationship Type="http://schemas.openxmlformats.org/officeDocument/2006/relationships/presProps" Target="/ppt/presProps.xml" Id="R3f3cebbf236b4815" /><Relationship Type="http://schemas.openxmlformats.org/officeDocument/2006/relationships/tableStyles" Target="/ppt/tableStyles.xml" Id="R7e9ddd464d284359" /><Relationship Type="http://schemas.openxmlformats.org/officeDocument/2006/relationships/slide" Target="/ppt/slides/slide1.xml" Id="R7b9008126fa14502" /><Relationship Type="http://schemas.openxmlformats.org/officeDocument/2006/relationships/slide" Target="/ppt/slides/slide2.xml" Id="R64700ea08b8842ad" /><Relationship Type="http://schemas.openxmlformats.org/officeDocument/2006/relationships/slide" Target="/ppt/slides/slide3.xml" Id="R60212c2c17ce4779" /><Relationship Type="http://schemas.openxmlformats.org/officeDocument/2006/relationships/slide" Target="/ppt/slides/slide4.xml" Id="R050ffe08b5454b44" /><Relationship Type="http://schemas.openxmlformats.org/officeDocument/2006/relationships/slide" Target="/ppt/slides/slide5.xml" Id="R5e60e8c7b7d6463c" /><Relationship Type="http://schemas.openxmlformats.org/officeDocument/2006/relationships/slide" Target="/ppt/slides/slide6.xml" Id="R53d729f120d6458a" /><Relationship Type="http://schemas.openxmlformats.org/officeDocument/2006/relationships/slide" Target="/ppt/slides/slide7.xml" Id="Red8552e472d44d15" /><Relationship Type="http://schemas.openxmlformats.org/officeDocument/2006/relationships/slide" Target="/ppt/slides/slide8.xml" Id="Rda4c9ecbe9014993" /><Relationship Type="http://schemas.openxmlformats.org/officeDocument/2006/relationships/slide" Target="/ppt/slides/slide9.xml" Id="Ra6837ccbcec64f97" /><Relationship Type="http://schemas.openxmlformats.org/officeDocument/2006/relationships/slide" Target="/ppt/slides/slide10.xml" Id="Ra8b022e74af94e6f" /><Relationship Type="http://schemas.openxmlformats.org/officeDocument/2006/relationships/slide" Target="/ppt/slides/slide11.xml" Id="R3a180d6abfe9435c" /><Relationship Type="http://schemas.openxmlformats.org/officeDocument/2006/relationships/slide" Target="/ppt/slides/slide12.xml" Id="R74c9b43f28a449fd" /><Relationship Type="http://schemas.openxmlformats.org/officeDocument/2006/relationships/slide" Target="/ppt/slides/slide13.xml" Id="R3c4c4fb378364fb3" /><Relationship Type="http://schemas.openxmlformats.org/officeDocument/2006/relationships/slide" Target="/ppt/slides/slide14.xml" Id="R701fc83374114843" /><Relationship Type="http://schemas.openxmlformats.org/officeDocument/2006/relationships/slide" Target="/ppt/slides/slide15.xml" Id="R5445e2c78b2641f4" /><Relationship Type="http://schemas.openxmlformats.org/officeDocument/2006/relationships/slide" Target="/ppt/slides/slide16.xml" Id="R21474b67f953498a" /><Relationship Type="http://schemas.openxmlformats.org/officeDocument/2006/relationships/slide" Target="/ppt/slides/slide17.xml" Id="R95bbb2a0b3e1446d" /><Relationship Type="http://schemas.openxmlformats.org/officeDocument/2006/relationships/slide" Target="/ppt/slides/slide18.xml" Id="Rf53d5fb232024cb7" /><Relationship Type="http://schemas.openxmlformats.org/officeDocument/2006/relationships/slide" Target="/ppt/slides/slide19.xml" Id="Ra0d34922f39f4429" /><Relationship Type="http://schemas.openxmlformats.org/officeDocument/2006/relationships/slide" Target="/ppt/slides/slide20.xml" Id="Rce9e15ddd94547d0" /><Relationship Type="http://schemas.openxmlformats.org/officeDocument/2006/relationships/slide" Target="/ppt/slides/slide21.xml" Id="R45e51b0ef52648d3" /><Relationship Type="http://schemas.openxmlformats.org/officeDocument/2006/relationships/slide" Target="/ppt/slides/slide22.xml" Id="R93c03b8e95df4797" /><Relationship Type="http://schemas.openxmlformats.org/officeDocument/2006/relationships/slide" Target="/ppt/slides/slide23.xml" Id="Rd395894fe39747bc" /><Relationship Type="http://schemas.openxmlformats.org/officeDocument/2006/relationships/slide" Target="/ppt/slides/slide24.xml" Id="R2d899907a8784e81" /><Relationship Type="http://schemas.openxmlformats.org/officeDocument/2006/relationships/slide" Target="/ppt/slides/slide25.xml" Id="Rdfbecbab4bc9424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96d38159c5848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7fe1409a9a40b1" /><Relationship Type="http://schemas.openxmlformats.org/officeDocument/2006/relationships/notesMaster" Target="/ppt/notesMasters/notesMaster1.xml" Id="Ra84bb69d59604685" /></Relationships>
</file>

<file path=ppt/notesSlides/_rels/notesSlide2.xml.rels>&#65279;<?xml version="1.0" encoding="utf-8"?><Relationships xmlns="http://schemas.openxmlformats.org/package/2006/relationships"><Relationship Type="http://schemas.openxmlformats.org/officeDocument/2006/relationships/slide" Target="/ppt/slides/slide2.xml" Id="Ra0f76a89d7e04689" /><Relationship Type="http://schemas.openxmlformats.org/officeDocument/2006/relationships/notesMaster" Target="/ppt/notesMasters/notesMaster1.xml" Id="Ra31a2762d36e4f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66aa19fd17d94e23" /><Relationship Type="http://schemas.openxmlformats.org/officeDocument/2006/relationships/notesMaster" Target="/ppt/notesMasters/notesMaster1.xml" Id="R1970efaeb12046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6d4a6f796644e7" /><Relationship Type="http://schemas.openxmlformats.org/officeDocument/2006/relationships/notesMaster" Target="/ppt/notesMasters/notesMaster1.xml" Id="Rcfd4b5d76a0e4f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a665d64034d4dea" /><Relationship Type="http://schemas.openxmlformats.org/officeDocument/2006/relationships/notesMaster" Target="/ppt/notesMasters/notesMaster1.xml" Id="Rceecfbe98c994a29" /></Relationships>
</file>

<file path=ppt/notesSlides/_rels/notesSlide6.xml.rels>&#65279;<?xml version="1.0" encoding="utf-8"?><Relationships xmlns="http://schemas.openxmlformats.org/package/2006/relationships"><Relationship Type="http://schemas.openxmlformats.org/officeDocument/2006/relationships/slide" Target="/ppt/slides/slide6.xml" Id="R2d0b12e4b09440cf" /><Relationship Type="http://schemas.openxmlformats.org/officeDocument/2006/relationships/notesMaster" Target="/ppt/notesMasters/notesMaster1.xml" Id="R83e688dff55d451c" /></Relationships>
</file>

<file path=ppt/notesSlides/_rels/notesSlide7.xml.rels>&#65279;<?xml version="1.0" encoding="utf-8"?><Relationships xmlns="http://schemas.openxmlformats.org/package/2006/relationships"><Relationship Type="http://schemas.openxmlformats.org/officeDocument/2006/relationships/slide" Target="/ppt/slides/slide7.xml" Id="R65e6ed1773534440" /><Relationship Type="http://schemas.openxmlformats.org/officeDocument/2006/relationships/notesMaster" Target="/ppt/notesMasters/notesMaster1.xml" Id="R6e8d96b73f314d06" /></Relationships>
</file>

<file path=ppt/notesSlides/_rels/notesSlide8.xml.rels>&#65279;<?xml version="1.0" encoding="utf-8"?><Relationships xmlns="http://schemas.openxmlformats.org/package/2006/relationships"><Relationship Type="http://schemas.openxmlformats.org/officeDocument/2006/relationships/slide" Target="/ppt/slides/slide8.xml" Id="R2f7b53873b4b4e56" /><Relationship Type="http://schemas.openxmlformats.org/officeDocument/2006/relationships/notesMaster" Target="/ppt/notesMasters/notesMaster1.xml" Id="R955a577a44fd4a7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1ad0efad5954a0f" /><Relationship Type="http://schemas.openxmlformats.org/officeDocument/2006/relationships/notesMaster" Target="/ppt/notesMasters/notesMaster1.xml" Id="R3478c37457e3451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5c274039ffd4347" /><Relationship Type="http://schemas.openxmlformats.org/officeDocument/2006/relationships/notesMaster" Target="/ppt/notesMasters/notesMaster1.xml" Id="R7c93f78f24f24e3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9f1f16992314f7a" /><Relationship Type="http://schemas.openxmlformats.org/officeDocument/2006/relationships/notesMaster" Target="/ppt/notesMasters/notesMaster1.xml" Id="R31598dd03b1641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2e0ffe647e94722" /><Relationship Type="http://schemas.openxmlformats.org/officeDocument/2006/relationships/notesMaster" Target="/ppt/notesMasters/notesMaster1.xml" Id="R1628e27e0159412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b28c684009d4169" /><Relationship Type="http://schemas.openxmlformats.org/officeDocument/2006/relationships/notesMaster" Target="/ppt/notesMasters/notesMaster1.xml" Id="R3695c7a0754f4b4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a57dfbdfc8a4467" /><Relationship Type="http://schemas.openxmlformats.org/officeDocument/2006/relationships/notesMaster" Target="/ppt/notesMasters/notesMaster1.xml" Id="R91ef91def0db497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cda49728ae4493d" /><Relationship Type="http://schemas.openxmlformats.org/officeDocument/2006/relationships/notesMaster" Target="/ppt/notesMasters/notesMaster1.xml" Id="Rb3730d4f25464f7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21a2281a7c6472a" /><Relationship Type="http://schemas.openxmlformats.org/officeDocument/2006/relationships/notesMaster" Target="/ppt/notesMasters/notesMaster1.xml" Id="Rb4761d87c23042d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52d17e8c3814a25" /><Relationship Type="http://schemas.openxmlformats.org/officeDocument/2006/relationships/notesMaster" Target="/ppt/notesMasters/notesMaster1.xml" Id="R4245fe2cf8b545e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b372e5b6b7543fd" /><Relationship Type="http://schemas.openxmlformats.org/officeDocument/2006/relationships/notesMaster" Target="/ppt/notesMasters/notesMaster1.xml" Id="R04c6ce9dc866483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79ce08317e04da5" /><Relationship Type="http://schemas.openxmlformats.org/officeDocument/2006/relationships/notesMaster" Target="/ppt/notesMasters/notesMaster1.xml" Id="R95f37815060f449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9a19d71ba8c4d37" /><Relationship Type="http://schemas.openxmlformats.org/officeDocument/2006/relationships/notesMaster" Target="/ppt/notesMasters/notesMaster1.xml" Id="Rfe7eadea1703459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08f37813f6f4c68" /><Relationship Type="http://schemas.openxmlformats.org/officeDocument/2006/relationships/notesMaster" Target="/ppt/notesMasters/notesMaster1.xml" Id="R6e3e25346bfe431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31a2b7e098e4400" /><Relationship Type="http://schemas.openxmlformats.org/officeDocument/2006/relationships/notesMaster" Target="/ppt/notesMasters/notesMaster1.xml" Id="R79262b1175ac49e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a76f67c9f094ca4" /><Relationship Type="http://schemas.openxmlformats.org/officeDocument/2006/relationships/notesMaster" Target="/ppt/notesMasters/notesMaster1.xml" Id="R95c6cacac0a442b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84d494a23104850" /><Relationship Type="http://schemas.openxmlformats.org/officeDocument/2006/relationships/notesMaster" Target="/ppt/notesMasters/notesMaster1.xml" Id="Rc42c2a94c49b4d6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ebc6006cdca4253" /><Relationship Type="http://schemas.openxmlformats.org/officeDocument/2006/relationships/notesMaster" Target="/ppt/notesMasters/notesMaster1.xml" Id="R0c669cbfe1e54c4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goal is to model the variability of interception movements using a compact representation of a participant. We compare neural models with spline plus PCA and implement them in a dashboard. The principal result concerns generation at eight dimensions. Three numbers were our original compact target, so we keep that comparison visible. Say distribution, rather than promising an exact prediction of the next trial. Sources: course report Abstract and Introduction.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participant moves a finger from the lower starting region to the upper interception region as the target arrives. There are three starting categories on each side, with a related speed range. We excluded four trials without an arrival and 27 very late arrivals. The two low-count participants mostly had fewer files available, not extensive exclusions. Population training excludes the seven test people. We then use some recordings from each test person as context and reserve the other recordings as query. Source: course report section 2; src/data_loading.py, src/preprocessing.py; production/cohort_trial_counts.csv. Task image: production/presentation_assets/task_schematic.png, inherited from Paz’s supplied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we resample a filtered go-to-end recording onto 100 equally spaced phases. This keeps relative waiting but removes seconds from the coordinate input. In spline plus PCA, one trial gives nine x and nine y spline coefficients. We stack training trials as rows, giving N by 18, and fit PCA on that matrix. The neural model receives the 200 coordinate values directly after training-derived standardization. CVAE and VAE have mean and variance heads and a KL penalty. CAE is deterministic and has no KL penalty. CVAE/CAE receive conditions at encoder and decoder; VAE zeros them. The timing targets are never encoder inputs. Backup slides explain the actual objective and inverse matrices. Sources: src/baseline_spline.py, src/confirmatory_spline.py, src/vae_model.py, src/train.py.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Reconstruction means compressing and decoding the same observed trajectory. We compare the resulting 200 coordinates with the original and average squared errors. Thus it measures information retained by the representation; it is not a prediction without seeing the trial. Scores first average within person and across neural seeds, then equally across 28 people. Spline has the lowest mean at both capacities. The six spline-versus-neural comparisons pass BH, but the spline-versus-CAE eight-dimensional difference has Holm p=0.106. The other five survive Holm. VAE wins the neural reconstruction comparison at three dimensions under BH; CAE is best at eight. Source: production/audit_2026_09_08/all_model_means.csv and all_pairs_140.csv.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fingerprint is the average of the encoded context means. We then add training-derived latent noise to that center and decode 120 movements. All participants share the covariance, but their centers differ. VAE generation here is not simply drawing from the standard-normal training prior. For CVAE the query-condition mixture supplies conditions, but the decoder never receives the actual query paths or their durations. The comparison is between two sets of trials, so there is no correct one-to-one pairing of a generated path with an observed trial. Source: src/context_query.py, src/confirmatory_spline.py, scripts/run_review_controls.py; appendix A4.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KS measures the largest gap between empirical cumulative curves for one feature. We average eleven KS statistics, not eleven p-values. Energy and MMD instead compare the joint eleven-feature vectors after training standardization. VAE eight has mean KS 0.2151, energy 0.4110 and MMD squared 0.0639. CVAE is close. VAE versus CVAE eight has BH q=.0257 for energy, .137 for KS and .0518 for MMD; none survives Holm. We can select VAE as a practical default but cannot claim it significantly wins every endpoint. Features depend on predicted durations as well as shape. Sources: course report Table 2; audited means and 140-test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our new central analysis. We flatten each whole phase-normalized path and divide by square root of 200. Euclidean distance then means RMS coordinate difference. Energy and MMD compare the generated set with the held-out set and also account for within-set variation. At eight dimensions both variational models improve on spline, and this survives both multiple-testing corrections and equalizing the training variation of the two axes. Their difference from each other is not significant. At three dimensions, raw MMD favors them over spline, but raw energy does not, and balanced-axis MMD no longer passes BH. This is why the eight-dimensional conclusion is stronger. These are phase-path results, not a validation of physical timing. Source: production/trajectory_distribution_2026_09_13/summary.csv, paired_comparisons.csv and protocol.json.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direct check that the personal center helps the generator. Replacing it by a population center or another person’s center makes the feature distributions worse. We keep random draws and other inputs fixed, so the center is what changes. This supports useful information about this participant’s session. It does not give a name to each latent axis or show the same fingerprint would remain stable on another day. The control uses feature endpoints; we have not repeated it on the new full-trajectory endpoints. Source: frozen laboratory report section on personal fingerprints; course report Figure 3 and appendix A4.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main conclusion is useful compact generation, not that deep learning beats every possible baseline. Keeping the entire context paths and resampling them yields lower mean discrepancies. That uses more participant memory and cannot be summarized as an eight-number fingerprint. Repeating only the context mean is much worse as a distribution despite having a good mean-path error. Direct context behavioral summaries also beat our latent linear probes. These observations describe what compression loses and motivate a richer model. Default selection used this cohort and needs independent confirmation. Sources: full-path summary CSV; production/all_models_direct_context_summary.csv; course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dashboard already running in a browser. Explain that generated curves are samples, not predictions paired with particular recorded trials. Show the VAE eight default, then three dimensions and an alternative model. Do not interpret a single chosen plot as the significance test. VAE does not respond to condition controls because it ignores conditions. Spline condition changes affect only timing; CVAE/CAE use conditions for shape and timing. Finish with Benchmarks. If live launch fails, the slide contains recorded and generated examples from a fixed subject, chosen by identifier. Launch from the repository: python -m streamlit run src/confirmatory_dashboard.py --server.port 8510 --server.address 127.0.0.1 --browser.gatherUsageStats false. Open http://127.0.0.1:8510. Ctrl+C stops the terminal server. Source: production/MULTIMODEL_UPDATE.md; src/confirmatory_dashboard.py; generated-array figure provenance in course_figures.py.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with a regularized 240 Hz grid, smooth using a fourth-order 10 Hz forward-backward Butterworth filter and select the modeled window. We fit a cubic interpolant through the existing filtered points and evaluate it at j/99. This interpolation is different from fitting the later five-knot compression model. Subtracting the first position aligns starts, but does not scale amplitude or rotate paths. We retain initiation and movement seconds as separate targets. Early movement after target motion remains; the earlier appearance interval is outside the modeled window. Source: src/preprocessing.py, src/trajectory_view.py; appendix A1.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Moni asked what we feed into PCA. It is a matrix where each row is one trial’s eighteen spline coefficients. We first fit a spline separately to x and y of each trial. Nine x and nine y coefficients give eighteen numbers. We stack training trials and PCA learns n directions in that eighteen-dimensional space. Neither test trials nor validation trials train those PCA directions. The number of knots and the number of latent coordinates are different controls. Source: src/baseline_spline.py, CompactSplineRepresentation; appendix A2.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compression steps: sampled path into smooth coefficients, then coefficients into a smaller PCA code. Fit B c_x to x and B c_y to y. The code z is obtained by centering/scaling the coefficient vector and projecting onto retained axes. To decode, apply inverse PCA and inverse scaling, split the eighteen coefficients into two blocks and multiply both by the basis B. Raw PCA still centers columns. PCA optimizes variance in coefficient space and does not guarantee the best trajectory MSE against all methods. Sources: src/baseline_spline.py; appendix A2. The on-slide equation matches the effective forward and inverse transformations.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coordinate path is on normalized phase, so the model must predict seconds separately. Initiation is time from target motion to finger onset, movement time is onset to end. We take log(t+.001) to accommodate zeros, standardize training targets, and reverse these transformations after prediction. Spline Ridge receives the code and five conditions, with training input standardization and alpha from .01, .1, 1, 10, 100 selected using validation error on standardized log targets. Neural models have a two-value timing head. Huge positive timing errors were not upper-clipped out of the main scores. Source: src/confirmatory_spline.py, TimingRidge; src/vae_model.py; appendix A3.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actual code uses reduction=none, then sum across output coordinates and mean across trials. We must not simply write MSE plus 20 MSE because one output has two hundred coordinates and the other has two. KL measures how far the encoder’s Gaussian posterior is from the standard normal. Beta warms from zero to one over fifty epochs, while checkpoint validation uses the final beta-one objective. Adam learning rate .001, batch size 64, gradient norm clipping at five, patience 25, maximum 150 epochs, three seeds. Source: src/vae_model.py vae_loss; src/train.py; appendix A3.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VAE is an unconditional ablation in the same code framework. It does not receive meaningful conditions because we zero them at both ends. CVAE uses actual conditions. CAE uses actual conditions but suppresses probabilistic sampling and KL. The condition vector is three one-hot category entries, a side value (left zero, right one), and normalized executed speed. We checked input routes and shuffled conditions. The routes are active, but these results cannot settle whether another architecture or training regime would use conditions better. Source: src/vae_model.py encode_condition/encode_trial_condition; src/train.py; audit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each training person, subtract that person’s mean code from each trial code. Pool these residuals and estimate their covariance. Add the mean encoder posterior variance on the diagonal for VAE/CVAE and add a tiny identity regularizer for numerical stability. CAE and spline have no posterior variance term. We do not fit a separate covariance to a new participant’s context trials. Generation draws a multivariate normal around their context center and uses the shared decoder. A nonlinear decoder can still produce different visible spread at different centers. Source: src/context_query.py and src/confirmatory_spline.py; appendix A4.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test person is new to model fitting, but provides context recordings. Query recordings only provide the targets for generation scores, with task metadata allowed for a matched-condition mixture. Reconstruction deliberately reads the query path because that task is compression. None of the test data changes fitted PCA axes, learned neural parameters, training covariance or normalization. This prevents a common misunderstanding: test context is not retraining. Model selection for the final dashboard still used the evaluated cohort, so independent post-selection validation remains future work. Source: participant_folds.json, context_query.py; appendices A1/A4.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observed data we use the onset-to-end movement segment. For generated data we use the predicted initiation fraction to crop the go-to-end path, capped at .98, and floor movement duration at one millisecond. Both movement segments become one hundred phase points and are filtered with cutoff min(10 Hz, .45 times sample rate). Sample rate is 99 over movement seconds. Gradients give speed. Peak count uses prominence ten percent of maximum and roughly fifty milliseconds separation, with at least one reported peak. This is distinct from minimum-jerk component fitting. Source: src/features.py; appendix A5.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 recorded feature has seventy percent of trials below a value and the generated feature has forty percent, the empirical CDF gap there is .3. KS takes the largest gap over all thresholds. Its output is a discrepancy. We average discrepancies across features, not significance tests. Energy and MMD use complete feature vectors and can notice dependence between features that separate marginal KS statistics may miss. Standardization comes from training. Correlated features do not mean we should remove whichever feature makes a p-value improve; removal defines a new endpoint. Sources: src/context_query.py; appendix A5/A6; Gretton et al. JMLR 2012.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Average error against all recorded paths can favor a collapsed output near the center. Energy subtracts within-generated and within-recorded distances from twice the cross average, addressing the distributions rather than only their centers. Our energy estimator includes within-sample diagonal zeros and is not square-rooted afterward. The mean-only reference is actual analysis output, not a hypothetical numerical illustration. Source: src/trajectory_distribution.py; trajectory_distribution summary CSV; Szekely and Rizzo 2013; appendix A6/A8.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kernel gives high similarity to close vectors and low similarity to distant vectors. MMD compares average within-recorded and within-generated similarity with cross similarity. The within terms omit identical-element pairs and divide by m(m−1) or r(r−1); cross divides by mr. We estimate gamma once from at most 512 deterministic training trials in each representation and use it for all models in the rotation. Whole paths and feature vectors have different units and scales, so their absolute MMD values are not interchangeable. Source: src/trajectory_distribution.py; src/context_query.py; Gretton et al., A Kernel Two-Sample Test, JMLR 13 (2012).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participant supplies one score per model for the paired comparison. Three seeds are repeated model fits, not three independent people. Wilcoxon ranks the absolute paired differences and uses their signs. Pratt keeps zeros in ranking but omits their signed contribution. The usual location interpretation assumes a symmetric difference distribution. BH adjusts the complete declared family, not only the comparisons we liked. We additionally show Holm. Training folds overlap, so these remain exploratory comparisons, and a fresh cohort is still needed for replication. No formal three-versus-eight or resampling-reference test was added. Source: src/statistical_tests.py, all_pairs_140.csv, paired_comparisons.csv; appendix A6.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should volunteer the relevant limitation instead of defending every result as a success. Direct context means and standard deviations were more accurate than our latent linear probes, and many probe R-squared values were negative. Matched minimum-jerk component comparisons did not establish corrected model differences. Timing and event assumptions remain important, including the tracker endpoint arriving on average 26 ms before the MATLAB arrival marker. More data might help, but we did not run a learning curve that proves sample count caused the failures. Source: frozen report pp.16–28, production/all_models_direct_context_summary.csv; course Discussion and appendix A10.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Full PowerShell path: cd "D:\oneDrive_Main\OneDrive\Desktop_onedrive\uni2024\Third Year\semester B\Workshop in AI\interception-movements-dl". Then use the command shown, adding --server.address 127.0.0.1 --browser.gatherUsageStats false if desired. On the authoring computer Python is C:\Python313\python.exe. Source navigation: src/vae_model.py and src/train.py for neural models; src/baseline_spline.py and src/confirmatory_spline.py for spline/PCA/Ridge; src/context_query.py and src/features.py for generation/metrics; src/trajectory_distribution.py for full paths; production/audit_2026_09_08 for original result CSVs; production/trajectory_distribution_2026_09_13 for new results. Keep the terminal running during the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938ff219c45445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329524d17ba4683" /><Relationship Type="http://schemas.openxmlformats.org/officeDocument/2006/relationships/slideLayout" Target="/ppt/slideLayouts/slideLayout1.xml" Id="Ra59411eb995a4a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9411eb995a4a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2219bf0b15d48e9" /><Relationship Type="http://schemas.openxmlformats.org/officeDocument/2006/relationships/notesSlide" Target="/ppt/notesSlides/notesSlide1.xml" Id="R45496146130b46a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8ae57958ad74c06" /><Relationship Type="http://schemas.openxmlformats.org/officeDocument/2006/relationships/image" Target="/ppt/media/image.png" Id="Ra2f5a3b724b94b70" /><Relationship Type="http://schemas.openxmlformats.org/officeDocument/2006/relationships/notesSlide" Target="/ppt/notesSlides/notesSlide2.xml" Id="R052fe34c4d6045d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e186747ed1e411c" /><Relationship Type="http://schemas.openxmlformats.org/officeDocument/2006/relationships/notesSlide" Target="/ppt/notesSlides/notesSlide3.xml" Id="Ra273e4c94b8843c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e863eae025c4b3e" /><Relationship Type="http://schemas.openxmlformats.org/officeDocument/2006/relationships/notesSlide" Target="/ppt/notesSlides/notesSlide4.xml" Id="R59255d198e7641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b7c58566ab04920" /><Relationship Type="http://schemas.openxmlformats.org/officeDocument/2006/relationships/image" Target="/ppt/media/image2.png" Id="R2763f7a782f241ae" /><Relationship Type="http://schemas.openxmlformats.org/officeDocument/2006/relationships/notesSlide" Target="/ppt/notesSlides/notesSlide5.xml" Id="R0e3bb0de1e1a445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9391fc057874da4" /><Relationship Type="http://schemas.openxmlformats.org/officeDocument/2006/relationships/notesSlide" Target="/ppt/notesSlides/notesSlide6.xml" Id="Rfaf1106fa0ad49a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f1fd9d7f135450c" /><Relationship Type="http://schemas.openxmlformats.org/officeDocument/2006/relationships/notesSlide" Target="/ppt/notesSlides/notesSlide7.xml" Id="R4b9fc175606d458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77b4b42abbb439c" /><Relationship Type="http://schemas.openxmlformats.org/officeDocument/2006/relationships/notesSlide" Target="/ppt/notesSlides/notesSlide8.xml" Id="R8a445748016844d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9e89cf7e64a4696" /><Relationship Type="http://schemas.openxmlformats.org/officeDocument/2006/relationships/notesSlide" Target="/ppt/notesSlides/notesSlide9.xml" Id="R97325ec73ebf457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8e7cbe89ef544a4" /><Relationship Type="http://schemas.openxmlformats.org/officeDocument/2006/relationships/image" Target="/ppt/media/image3.png" Id="Rad1967ea229140a2" /><Relationship Type="http://schemas.openxmlformats.org/officeDocument/2006/relationships/notesSlide" Target="/ppt/notesSlides/notesSlide10.xml" Id="Rfead50cb01b54c6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245b0fa6cdf4065" /><Relationship Type="http://schemas.openxmlformats.org/officeDocument/2006/relationships/image" Target="/ppt/media/image4.png" Id="R05526fd7f4204f51" /><Relationship Type="http://schemas.openxmlformats.org/officeDocument/2006/relationships/notesSlide" Target="/ppt/notesSlides/notesSlide11.xml" Id="R2489b964e8e943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dfbb01c491c4fe5" /><Relationship Type="http://schemas.openxmlformats.org/officeDocument/2006/relationships/notesSlide" Target="/ppt/notesSlides/notesSlide12.xml" Id="R23f465c669254d0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e44c1fd1c4b4757" /><Relationship Type="http://schemas.openxmlformats.org/officeDocument/2006/relationships/image" Target="/ppt/media/image5.png" Id="R27167ebdaca04629" /><Relationship Type="http://schemas.openxmlformats.org/officeDocument/2006/relationships/notesSlide" Target="/ppt/notesSlides/notesSlide13.xml" Id="R01b472c0e217447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9606817a78344a6" /><Relationship Type="http://schemas.openxmlformats.org/officeDocument/2006/relationships/notesSlide" Target="/ppt/notesSlides/notesSlide14.xml" Id="R0f4daac0f44541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2824f42791c4250" /><Relationship Type="http://schemas.openxmlformats.org/officeDocument/2006/relationships/image" Target="/ppt/media/image6.png" Id="R6dfd487c58f4444f" /><Relationship Type="http://schemas.openxmlformats.org/officeDocument/2006/relationships/notesSlide" Target="/ppt/notesSlides/notesSlide15.xml" Id="R88eeb12ca222494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dbda9293e7145fe" /><Relationship Type="http://schemas.openxmlformats.org/officeDocument/2006/relationships/notesSlide" Target="/ppt/notesSlides/notesSlide16.xml" Id="R4fcdb5284cd1478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aa908a17ca74999" /><Relationship Type="http://schemas.openxmlformats.org/officeDocument/2006/relationships/image" Target="/ppt/media/image7.png" Id="Rdd829cc00681402e" /><Relationship Type="http://schemas.openxmlformats.org/officeDocument/2006/relationships/notesSlide" Target="/ppt/notesSlides/notesSlide17.xml" Id="R57a93d7cdd314fa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a6eb5e36c054dd6" /><Relationship Type="http://schemas.openxmlformats.org/officeDocument/2006/relationships/notesSlide" Target="/ppt/notesSlides/notesSlide18.xml" Id="Red2b2c8fe568433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a0551414f1740b7" /><Relationship Type="http://schemas.openxmlformats.org/officeDocument/2006/relationships/notesSlide" Target="/ppt/notesSlides/notesSlide19.xml" Id="R75cbf2f8b697430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a769c978a7b4918" /><Relationship Type="http://schemas.openxmlformats.org/officeDocument/2006/relationships/image" Target="/ppt/media/image8.png" Id="R0a8df1c3400c4d12" /><Relationship Type="http://schemas.openxmlformats.org/officeDocument/2006/relationships/notesSlide" Target="/ppt/notesSlides/notesSlide20.xml" Id="R6323f4b8851e467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51a65395cf64aef" /><Relationship Type="http://schemas.openxmlformats.org/officeDocument/2006/relationships/image" Target="/ppt/media/image9.png" Id="R3ee31f8209624a99" /><Relationship Type="http://schemas.openxmlformats.org/officeDocument/2006/relationships/notesSlide" Target="/ppt/notesSlides/notesSlide21.xml" Id="Rcff0c1d5c9ef477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3f7a7ddac754fc9" /><Relationship Type="http://schemas.openxmlformats.org/officeDocument/2006/relationships/image" Target="/ppt/media/image10.png" Id="Rcadc2453d87f47df" /><Relationship Type="http://schemas.openxmlformats.org/officeDocument/2006/relationships/notesSlide" Target="/ppt/notesSlides/notesSlide22.xml" Id="Rfbc9b167f15e428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e5d86d3f3ce42a0" /><Relationship Type="http://schemas.openxmlformats.org/officeDocument/2006/relationships/notesSlide" Target="/ppt/notesSlides/notesSlide23.xml" Id="R9708f6faa51e424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693feb89a0444635" /><Relationship Type="http://schemas.openxmlformats.org/officeDocument/2006/relationships/notesSlide" Target="/ppt/notesSlides/notesSlide24.xml" Id="R67f98546fdd044a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89e07f835604a39" /><Relationship Type="http://schemas.openxmlformats.org/officeDocument/2006/relationships/notesSlide" Target="/ppt/notesSlides/notesSlide25.xml" Id="Rf62be881f8654f7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D2B9676-EC24-4B6F-A7D1-846769B7778E}"/>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352CF087-8074-4DCB-A2A9-CE03F7D686DF}"/>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8384B"/>
                </a:solidFill>
                <a:latin typeface="Arial"/>
                <a:ea typeface="Arial"/>
                <a:cs typeface="Arial"/>
              </a:defRPr>
            </a:pPr>
            <a:r>
              <a:rPr sz="3450" b="1">
                <a:solidFill>
                  <a:srgbClr val="18384B"/>
                </a:solidFill>
                <a:latin typeface="Arial"/>
                <a:ea typeface="Arial"/>
                <a:cs typeface="Arial"/>
              </a:rPr>
              <a:t>Modeling interception movement distributions</a:t>
            </a:r>
          </a:p>
        </p:txBody>
      </p:sp>
      <p:sp>
        <p:nvSpPr>
          <p:cNvPr id="3" name="">
            <a:extLst xmlns:a="http://schemas.openxmlformats.org/drawingml/2006/main">
              <a:ext uri="{FF2B5EF4-FFF2-40B4-BE49-F238E27FC236}">
                <a16:creationId xmlns:a16="http://schemas.microsoft.com/office/drawing/2014/main" id="{1FB3F342-C3D0-4F96-8D8C-8CEC9DA2BE70}"/>
              </a:ext>
            </a:extLst>
          </p:cNvPr>
          <p:cNvSpPr>
            <a:spLocks xmlns:a="http://schemas.openxmlformats.org/drawingml/2006/main" noGrp="1"/>
          </p:cNvSpPr>
          <p:nvPr/>
        </p:nvSpPr>
        <p:spPr>
          <a:xfrm xmlns:a="http://schemas.openxmlformats.org/drawingml/2006/main">
            <a:off x="552450" y="2333625"/>
            <a:ext cx="10477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84B"/>
                </a:solidFill>
                <a:latin typeface="Arial"/>
                <a:ea typeface="Arial"/>
                <a:cs typeface="Arial"/>
              </a:defRPr>
            </a:pPr>
            <a:r>
              <a:rPr sz="2100" b="0">
                <a:solidFill>
                  <a:srgbClr val="18384B"/>
                </a:solidFill>
                <a:latin typeface="Arial"/>
                <a:ea typeface="Arial"/>
                <a:cs typeface="Arial"/>
              </a:rPr>
              <a:t>Seman Libbiss and Paz Flashner</a:t>
            </a:r>
          </a:p>
          <a:p xmlns:a="http://schemas.openxmlformats.org/drawingml/2006/main">
            <a:pPr>
              <a:defRPr sz="2100" b="0">
                <a:solidFill>
                  <a:srgbClr val="18384B"/>
                </a:solidFill>
                <a:latin typeface="Arial"/>
                <a:ea typeface="Arial"/>
                <a:cs typeface="Arial"/>
              </a:defRPr>
            </a:pPr>
            <a:r>
              <a:rPr sz="2100" b="0">
                <a:solidFill>
                  <a:srgbClr val="18384B"/>
                </a:solidFill>
                <a:latin typeface="Arial"/>
                <a:ea typeface="Arial"/>
                <a:cs typeface="Arial"/>
              </a:rPr>
              <a:t>Workshop on Deep Learning, Tel Aviv University</a:t>
            </a:r>
          </a:p>
          <a:p xmlns:a="http://schemas.openxmlformats.org/drawingml/2006/main">
            <a:pPr>
              <a:defRPr sz="2100" b="0">
                <a:solidFill>
                  <a:srgbClr val="18384B"/>
                </a:solidFill>
                <a:latin typeface="Arial"/>
                <a:ea typeface="Arial"/>
                <a:cs typeface="Arial"/>
              </a:defRPr>
            </a:pPr>
            <a:r>
              <a:rPr sz="2100" b="0">
                <a:solidFill>
                  <a:srgbClr val="18384B"/>
                </a:solidFill>
                <a:latin typeface="Arial"/>
                <a:ea typeface="Arial"/>
                <a:cs typeface="Arial"/>
              </a:rPr>
              <a:t>Jason Friedman and Moni Shahar</a:t>
            </a:r>
          </a:p>
        </p:txBody>
      </p:sp>
      <p:sp>
        <p:nvSpPr>
          <p:cNvPr id="4" name="">
            <a:extLst xmlns:a="http://schemas.openxmlformats.org/drawingml/2006/main">
              <a:ext uri="{FF2B5EF4-FFF2-40B4-BE49-F238E27FC236}">
                <a16:creationId xmlns:a16="http://schemas.microsoft.com/office/drawing/2014/main" id="{C7E32CEA-41D5-43B4-9DDD-C9B17FC7F38A}"/>
              </a:ext>
            </a:extLst>
          </p:cNvPr>
          <p:cNvSpPr>
            <a:spLocks xmlns:a="http://schemas.openxmlformats.org/drawingml/2006/main" noGrp="1"/>
          </p:cNvSpPr>
          <p:nvPr/>
        </p:nvSpPr>
        <p:spPr>
          <a:xfrm xmlns:a="http://schemas.openxmlformats.org/drawingml/2006/main">
            <a:off x="552450" y="483870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087C83"/>
                </a:solidFill>
                <a:latin typeface="Arial"/>
                <a:ea typeface="Arial"/>
                <a:cs typeface="Arial"/>
              </a:defRPr>
            </a:pPr>
            <a:r>
              <a:rPr sz="2400" b="1">
                <a:solidFill>
                  <a:srgbClr val="087C83"/>
                </a:solidFill>
                <a:latin typeface="Arial"/>
                <a:ea typeface="Arial"/>
                <a:cs typeface="Arial"/>
              </a:rPr>
              <a:t>A compact personal representation for stochastic movement generation</a:t>
            </a:r>
          </a:p>
        </p:txBody>
      </p:sp>
      <p:sp>
        <p:nvSpPr>
          <p:cNvPr id="5" name="">
            <a:extLst xmlns:a="http://schemas.openxmlformats.org/drawingml/2006/main">
              <a:ext uri="{FF2B5EF4-FFF2-40B4-BE49-F238E27FC236}">
                <a16:creationId xmlns:a16="http://schemas.microsoft.com/office/drawing/2014/main" id="{0A290C78-1747-427B-94D6-D55FAEB62692}"/>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25 seconds    1 / 25</a:t>
            </a:r>
          </a:p>
        </p:txBody>
      </p:sp>
    </p:spTree>
    <p:extLst>
      <p:ext uri="{BB962C8B-B14F-4D97-AF65-F5344CB8AC3E}">
        <p14:creationId xmlns:p14="http://schemas.microsoft.com/office/powerpoint/2010/main" val="98178140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77F5D3-0966-49F3-861D-8488C3E6107D}"/>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A69CC12D-B073-4819-844C-3E74D9625B83}"/>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The task and the evaluation split</a:t>
            </a:r>
          </a:p>
        </p:txBody>
      </p:sp>
      <p:sp>
        <p:nvSpPr>
          <p:cNvPr id="3" name="">
            <a:extLst xmlns:a="http://schemas.openxmlformats.org/drawingml/2006/main">
              <a:ext uri="{FF2B5EF4-FFF2-40B4-BE49-F238E27FC236}">
                <a16:creationId xmlns:a16="http://schemas.microsoft.com/office/drawing/2014/main" id="{27341035-06F2-4C74-9339-1CBA564EB3CD}"/>
              </a:ext>
            </a:extLst>
          </p:cNvPr>
          <p:cNvSpPr>
            <a:spLocks xmlns:a="http://schemas.openxmlformats.org/drawingml/2006/main" noGrp="1"/>
          </p:cNvSpPr>
          <p:nvPr/>
        </p:nvSpPr>
        <p:spPr>
          <a:xfrm xmlns:a="http://schemas.openxmlformats.org/drawingml/2006/main">
            <a:off x="552450" y="1714500"/>
            <a:ext cx="600075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8384B"/>
                </a:solidFill>
                <a:latin typeface="Arial"/>
                <a:ea typeface="Arial"/>
                <a:cs typeface="Arial"/>
              </a:defRPr>
            </a:pPr>
            <a:r>
              <a:rPr sz="2250" b="0">
                <a:solidFill>
                  <a:srgbClr val="18384B"/>
                </a:solidFill>
                <a:latin typeface="Arial"/>
                <a:ea typeface="Arial"/>
                <a:cs typeface="Arial"/>
              </a:rPr>
              <a:t>4,732 trials from 28 participants</a:t>
            </a:r>
          </a:p>
          <a:p xmlns:a="http://schemas.openxmlformats.org/drawingml/2006/main">
            <a:pPr>
              <a:defRPr sz="2250" b="0">
                <a:solidFill>
                  <a:srgbClr val="18384B"/>
                </a:solidFill>
                <a:latin typeface="Arial"/>
                <a:ea typeface="Arial"/>
                <a:cs typeface="Arial"/>
              </a:defRPr>
            </a:pPr>
            <a:r>
              <a:rPr sz="2250" b="0">
                <a:solidFill>
                  <a:srgbClr val="18384B"/>
                </a:solidFill>
                <a:latin typeface="Arial"/>
                <a:ea typeface="Arial"/>
                <a:cs typeface="Arial"/>
              </a:rPr>
              <a:t>Free eye movement; target approaches from either side</a:t>
            </a:r>
          </a:p>
          <a:p xmlns:a="http://schemas.openxmlformats.org/drawingml/2006/main">
            <a:pPr>
              <a:defRPr sz="2250" b="0">
                <a:solidFill>
                  <a:srgbClr val="18384B"/>
                </a:solidFill>
                <a:latin typeface="Arial"/>
                <a:ea typeface="Arial"/>
                <a:cs typeface="Arial"/>
              </a:defRPr>
            </a:pPr>
            <a:r>
              <a:rPr sz="2250" b="0">
                <a:solidFill>
                  <a:srgbClr val="18384B"/>
                </a:solidFill>
                <a:latin typeface="Arial"/>
                <a:ea typeface="Arial"/>
                <a:cs typeface="Arial"/>
              </a:rPr>
              <a:t>Four rotations: 17 train, 4 validation, 7 test participants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2f5a3b724b94b70"/>
          <a:stretch xmlns:a="http://schemas.openxmlformats.org/drawingml/2006/main"/>
        </p:blipFill>
        <p:spPr>
          <a:xfrm xmlns:a="http://schemas.openxmlformats.org/drawingml/2006/main">
            <a:off x="7239164" y="1619250"/>
            <a:ext cx="4143047" cy="3238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73D0649-A353-48F8-AD8F-45A0320237F0}"/>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Each participant enters the test set once. Median retained trials: 179.5.</a:t>
            </a:r>
          </a:p>
        </p:txBody>
      </p:sp>
      <p:sp>
        <p:nvSpPr>
          <p:cNvPr id="6" name="">
            <a:extLst xmlns:a="http://schemas.openxmlformats.org/drawingml/2006/main">
              <a:ext uri="{FF2B5EF4-FFF2-40B4-BE49-F238E27FC236}">
                <a16:creationId xmlns:a16="http://schemas.microsoft.com/office/drawing/2014/main" id="{14B42604-EE42-412B-9BC7-DA4A7FBAB9F6}"/>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50 seconds    2 / 25</a:t>
            </a:r>
          </a:p>
        </p:txBody>
      </p:sp>
    </p:spTree>
    <p:extLst>
      <p:ext uri="{BB962C8B-B14F-4D97-AF65-F5344CB8AC3E}">
        <p14:creationId xmlns:p14="http://schemas.microsoft.com/office/powerpoint/2010/main" val="4693652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6591B53-AB7A-49B9-A867-E2B2E0462FD0}"/>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86C63D2A-676E-4BB2-8886-19EC49CC304C}"/>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The compression pipelines</a:t>
            </a:r>
          </a:p>
        </p:txBody>
      </p:sp>
      <p:sp>
        <p:nvSpPr>
          <p:cNvPr id="3" name="">
            <a:extLst xmlns:a="http://schemas.openxmlformats.org/drawingml/2006/main">
              <a:ext uri="{FF2B5EF4-FFF2-40B4-BE49-F238E27FC236}">
                <a16:creationId xmlns:a16="http://schemas.microsoft.com/office/drawing/2014/main" id="{8F38F186-8FA1-4F33-8E1D-41B30AA0BAE3}"/>
              </a:ext>
            </a:extLst>
          </p:cNvPr>
          <p:cNvSpPr>
            <a:spLocks xmlns:a="http://schemas.openxmlformats.org/drawingml/2006/main" noGrp="1"/>
          </p:cNvSpPr>
          <p:nvPr/>
        </p:nvSpPr>
        <p:spPr>
          <a:xfrm xmlns:a="http://schemas.openxmlformats.org/drawingml/2006/main">
            <a:off x="552450" y="1562100"/>
            <a:ext cx="11001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Every trajectory becomes 100 x 2 positions on normalized time.</a:t>
            </a:r>
          </a:p>
        </p:txBody>
      </p:sp>
      <p:graphicFrame>
        <p:nvGraphicFramePr>
          <p:cNvPr id="10" name=""/>
          <p:cNvGraphicFramePr/>
          <p:nvPr/>
        </p:nvGraphicFramePr>
        <p:xfrm>
          <a:off xmlns:a="http://schemas.openxmlformats.org/drawingml/2006/main" x="552450" y="2266950"/>
          <a:ext xmlns:a="http://schemas.openxmlformats.org/drawingml/2006/main" cx="11049000" cy="2476500"/>
        </p:xfrm>
        <a:graphic xmlns:a="http://schemas.openxmlformats.org/drawingml/2006/main">
          <a:graphicData uri="http://schemas.openxmlformats.org/drawingml/2006/table">
            <a:tbl>
              <a:tblPr/>
              <a:tblGrid>
                <a:gridCol w="1988820"/>
                <a:gridCol w="4530090"/>
                <a:gridCol w="4530090"/>
              </a:tblGrid>
              <a:tr h="495300">
                <a:tc>
                  <a:txBody>
                    <a:bodyPr/>
                    <a:lstStyle/>
                    <a:p>
                      <a:r>
                        <a:rPr sz="1650" b="1">
                          <a:solidFill>
                            <a:srgbClr val="FFFFFF"/>
                          </a:solidFill>
                          <a:latin typeface="Arial"/>
                          <a:ea typeface="Arial"/>
                          <a:cs typeface="Arial"/>
                        </a:rPr>
                        <a:t>Stage</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Spline + PCA</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Neural models</a:t>
                      </a:r>
                    </a:p>
                  </a:txBody>
                  <a:tcPr marL="114300" marR="95250" marT="66675" marB="57150" anchor="ctr">
                    <a:solidFill>
                      <a:srgbClr val="18384B"/>
                    </a:solidFill>
                  </a:tcPr>
                </a:tc>
              </a:tr>
              <a:tr h="495300">
                <a:tc>
                  <a:txBody>
                    <a:bodyPr/>
                    <a:lstStyle/>
                    <a:p>
                      <a:r>
                        <a:rPr sz="1650" b="0">
                          <a:solidFill>
                            <a:srgbClr val="18384B"/>
                          </a:solidFill>
                          <a:latin typeface="Arial"/>
                          <a:ea typeface="Arial"/>
                          <a:cs typeface="Arial"/>
                        </a:rPr>
                        <a:t>Input</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100 x 2 positions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200 standardized coordinates</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Encoder</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9 coefficients per axis; PCA on N x 18 matrix</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Two 256-unit layers; n-value code</a:t>
                      </a:r>
                    </a:p>
                  </a:txBody>
                  <a:tcPr marL="114300" marR="95250" marT="66675" marB="57150" anchor="ctr">
                    <a:solidFill>
                      <a:srgbClr val="FFFFFF"/>
                    </a:solidFill>
                  </a:tcPr>
                </a:tc>
              </a:tr>
              <a:tr h="495300">
                <a:tc>
                  <a:txBody>
                    <a:bodyPr/>
                    <a:lstStyle/>
                    <a:p>
                      <a:r>
                        <a:rPr sz="1650" b="0">
                          <a:solidFill>
                            <a:srgbClr val="18384B"/>
                          </a:solidFill>
                          <a:latin typeface="Arial"/>
                          <a:ea typeface="Arial"/>
                          <a:cs typeface="Arial"/>
                        </a:rPr>
                        <a:t>Decoder</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Inverse PCA; two spline basis products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Two 256-unit layers; 200 coordinates</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Timing output</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Ridge on code + 5 conditions</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Separate two-duration head</a:t>
                      </a:r>
                    </a:p>
                  </a:txBody>
                  <a:tcPr marL="114300" marR="95250" marT="66675" marB="5715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7421A10-8C13-4153-86EB-8933D6AD79DA}"/>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CVAE and CAE use five task conditions. VAE masks them to zero. Matched n = 3 and 8.</a:t>
            </a:r>
          </a:p>
        </p:txBody>
      </p:sp>
      <p:sp>
        <p:nvSpPr>
          <p:cNvPr id="6" name="">
            <a:extLst xmlns:a="http://schemas.openxmlformats.org/drawingml/2006/main">
              <a:ext uri="{FF2B5EF4-FFF2-40B4-BE49-F238E27FC236}">
                <a16:creationId xmlns:a16="http://schemas.microsoft.com/office/drawing/2014/main" id="{C8FB744B-5F24-4089-B169-721C7FF9F26A}"/>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65 seconds    3 / 25</a:t>
            </a:r>
          </a:p>
        </p:txBody>
      </p:sp>
    </p:spTree>
    <p:extLst>
      <p:ext uri="{BB962C8B-B14F-4D97-AF65-F5344CB8AC3E}">
        <p14:creationId xmlns:p14="http://schemas.microsoft.com/office/powerpoint/2010/main" val="781000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395F3A6-559B-4FB2-9CAE-A75F104918D0}"/>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B8157F5D-3797-413B-B6CB-122BE2C676BA}"/>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Reconstruction favors spline + PCA</a:t>
            </a:r>
          </a:p>
        </p:txBody>
      </p:sp>
      <p:sp>
        <p:nvSpPr>
          <p:cNvPr id="3" name="">
            <a:extLst xmlns:a="http://schemas.openxmlformats.org/drawingml/2006/main">
              <a:ext uri="{FF2B5EF4-FFF2-40B4-BE49-F238E27FC236}">
                <a16:creationId xmlns:a16="http://schemas.microsoft.com/office/drawing/2014/main" id="{D35969C3-C648-4B30-B14E-65449C981CBE}"/>
              </a:ext>
            </a:extLst>
          </p:cNvPr>
          <p:cNvSpPr>
            <a:spLocks xmlns:a="http://schemas.openxmlformats.org/drawingml/2006/main" noGrp="1"/>
          </p:cNvSpPr>
          <p:nvPr/>
        </p:nvSpPr>
        <p:spPr>
          <a:xfrm xmlns:a="http://schemas.openxmlformats.org/drawingml/2006/main">
            <a:off x="552450" y="1562100"/>
            <a:ext cx="11001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The encoder receives the observed test trajectory.</a:t>
            </a:r>
          </a:p>
        </p:txBody>
      </p:sp>
      <p:graphicFrame>
        <p:nvGraphicFramePr>
          <p:cNvPr id="10" name=""/>
          <p:cNvGraphicFramePr/>
          <p:nvPr/>
        </p:nvGraphicFramePr>
        <p:xfrm>
          <a:off xmlns:a="http://schemas.openxmlformats.org/drawingml/2006/main" x="552450" y="2266950"/>
          <a:ext xmlns:a="http://schemas.openxmlformats.org/drawingml/2006/main" cx="11049000" cy="2476500"/>
        </p:xfrm>
        <a:graphic xmlns:a="http://schemas.openxmlformats.org/drawingml/2006/main">
          <a:graphicData uri="http://schemas.openxmlformats.org/drawingml/2006/table">
            <a:tbl>
              <a:tblPr/>
              <a:tblGrid>
                <a:gridCol w="5082540"/>
                <a:gridCol w="2983230"/>
                <a:gridCol w="2983230"/>
              </a:tblGrid>
              <a:tr h="495300">
                <a:tc>
                  <a:txBody>
                    <a:bodyPr/>
                    <a:lstStyle/>
                    <a:p>
                      <a:r>
                        <a:rPr sz="1650" b="1">
                          <a:solidFill>
                            <a:srgbClr val="FFFFFF"/>
                          </a:solidFill>
                          <a:latin typeface="Arial"/>
                          <a:ea typeface="Arial"/>
                          <a:cs typeface="Arial"/>
                        </a:rPr>
                        <a:t>Model</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n = 3 MSE</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n = 8 MSE</a:t>
                      </a:r>
                    </a:p>
                  </a:txBody>
                  <a:tcPr marL="114300" marR="95250" marT="66675" marB="57150" anchor="ctr">
                    <a:solidFill>
                      <a:srgbClr val="18384B"/>
                    </a:solidFill>
                  </a:tcPr>
                </a:tc>
              </a:tr>
              <a:tr h="495300">
                <a:tc>
                  <a:txBody>
                    <a:bodyPr/>
                    <a:lstStyle/>
                    <a:p>
                      <a:r>
                        <a:rPr sz="1650" b="0">
                          <a:solidFill>
                            <a:srgbClr val="18384B"/>
                          </a:solidFill>
                          <a:latin typeface="Arial"/>
                          <a:ea typeface="Arial"/>
                          <a:cs typeface="Arial"/>
                        </a:rPr>
                        <a:t>Spline + PCA</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0.097255</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0.022772</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CAE</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0.169661</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0.025968</a:t>
                      </a:r>
                    </a:p>
                  </a:txBody>
                  <a:tcPr marL="114300" marR="95250" marT="66675" marB="57150" anchor="ctr">
                    <a:solidFill>
                      <a:srgbClr val="FFFFFF"/>
                    </a:solidFill>
                  </a:tcPr>
                </a:tc>
              </a:tr>
              <a:tr h="495300">
                <a:tc>
                  <a:txBody>
                    <a:bodyPr/>
                    <a:lstStyle/>
                    <a:p>
                      <a:r>
                        <a:rPr sz="1650" b="0">
                          <a:solidFill>
                            <a:srgbClr val="18384B"/>
                          </a:solidFill>
                          <a:latin typeface="Arial"/>
                          <a:ea typeface="Arial"/>
                          <a:cs typeface="Arial"/>
                        </a:rPr>
                        <a:t>CVAE</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0.176981</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0.032481</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VAE</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0.148299</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0.033487</a:t>
                      </a:r>
                    </a:p>
                  </a:txBody>
                  <a:tcPr marL="114300" marR="95250" marT="66675" marB="5715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08B7ED4-50D4-457D-93D7-0717F49AB27F}"/>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Lower is better. Spline beats each neural model under BH-140. Spline vs CAE n=8 does not survive Holm. Neural leaders: VAE n=3 and CAE n=8.</a:t>
            </a:r>
          </a:p>
        </p:txBody>
      </p:sp>
      <p:sp>
        <p:nvSpPr>
          <p:cNvPr id="6" name="">
            <a:extLst xmlns:a="http://schemas.openxmlformats.org/drawingml/2006/main">
              <a:ext uri="{FF2B5EF4-FFF2-40B4-BE49-F238E27FC236}">
                <a16:creationId xmlns:a16="http://schemas.microsoft.com/office/drawing/2014/main" id="{3363D41D-DFC2-4AB5-AC76-4096F528C266}"/>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45 seconds    4 / 25</a:t>
            </a:r>
          </a:p>
        </p:txBody>
      </p:sp>
    </p:spTree>
    <p:extLst>
      <p:ext uri="{BB962C8B-B14F-4D97-AF65-F5344CB8AC3E}">
        <p14:creationId xmlns:p14="http://schemas.microsoft.com/office/powerpoint/2010/main" val="205997690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99BE95B-FB73-4E9C-B81A-5E399A078BB1}"/>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928CA4DA-23B0-4AF9-A131-DFE8B788AA3E}"/>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Generation uses separate context trials</a:t>
            </a:r>
          </a:p>
        </p:txBody>
      </p:sp>
      <p:sp>
        <p:nvSpPr>
          <p:cNvPr id="3" name="">
            <a:extLst xmlns:a="http://schemas.openxmlformats.org/drawingml/2006/main">
              <a:ext uri="{FF2B5EF4-FFF2-40B4-BE49-F238E27FC236}">
                <a16:creationId xmlns:a16="http://schemas.microsoft.com/office/drawing/2014/main" id="{8C54F720-9115-4885-9724-15E8921940EC}"/>
              </a:ext>
            </a:extLst>
          </p:cNvPr>
          <p:cNvSpPr>
            <a:spLocks xmlns:a="http://schemas.openxmlformats.org/drawingml/2006/main" noGrp="1"/>
          </p:cNvSpPr>
          <p:nvPr/>
        </p:nvSpPr>
        <p:spPr>
          <a:xfrm xmlns:a="http://schemas.openxmlformats.org/drawingml/2006/main">
            <a:off x="552450" y="1562100"/>
            <a:ext cx="110013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Context trials establish a personal latent center.</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120 latent draws use that center and a shared training covariance.</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The decoder produces new paths and durations.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763f7a782f241ae"/>
          <a:stretch xmlns:a="http://schemas.openxmlformats.org/drawingml/2006/main"/>
        </p:blipFill>
        <p:spPr>
          <a:xfrm xmlns:a="http://schemas.openxmlformats.org/drawingml/2006/main">
            <a:off x="3758675" y="3171825"/>
            <a:ext cx="4255550" cy="6477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D70441D-6840-4DC4-8A4A-5B5C1648D730}"/>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Query trajectories and query timing labels are withheld. Task-condition metadata supplies a matched mixture where the model uses it.</a:t>
            </a:r>
          </a:p>
        </p:txBody>
      </p:sp>
      <p:sp>
        <p:nvSpPr>
          <p:cNvPr id="6" name="">
            <a:extLst xmlns:a="http://schemas.openxmlformats.org/drawingml/2006/main">
              <a:ext uri="{FF2B5EF4-FFF2-40B4-BE49-F238E27FC236}">
                <a16:creationId xmlns:a16="http://schemas.microsoft.com/office/drawing/2014/main" id="{CE170C84-F1B4-4B6C-9D20-0436DD5FA1BA}"/>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60 seconds    5 / 25</a:t>
            </a:r>
          </a:p>
        </p:txBody>
      </p:sp>
    </p:spTree>
    <p:extLst>
      <p:ext uri="{BB962C8B-B14F-4D97-AF65-F5344CB8AC3E}">
        <p14:creationId xmlns:p14="http://schemas.microsoft.com/office/powerpoint/2010/main" val="92943553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ADFBA5-16F4-45B0-805B-A7EF7C19B88E}"/>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9C3E4066-DA86-4862-9F65-E352A9A3D5EA}"/>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Generated kinematic-feature distributions</a:t>
            </a:r>
          </a:p>
        </p:txBody>
      </p:sp>
      <p:sp>
        <p:nvSpPr>
          <p:cNvPr id="3" name="">
            <a:extLst xmlns:a="http://schemas.openxmlformats.org/drawingml/2006/main">
              <a:ext uri="{FF2B5EF4-FFF2-40B4-BE49-F238E27FC236}">
                <a16:creationId xmlns:a16="http://schemas.microsoft.com/office/drawing/2014/main" id="{7F213D6D-A8DE-4127-AA08-B88B6283FDA2}"/>
              </a:ext>
            </a:extLst>
          </p:cNvPr>
          <p:cNvSpPr>
            <a:spLocks xmlns:a="http://schemas.openxmlformats.org/drawingml/2006/main" noGrp="1"/>
          </p:cNvSpPr>
          <p:nvPr/>
        </p:nvSpPr>
        <p:spPr>
          <a:xfrm xmlns:a="http://schemas.openxmlformats.org/drawingml/2006/main">
            <a:off x="552450" y="1562100"/>
            <a:ext cx="11001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Eleven features cover timing, speed, geometry, endpoints and speed peaks.</a:t>
            </a:r>
          </a:p>
        </p:txBody>
      </p:sp>
      <p:graphicFrame>
        <p:nvGraphicFramePr>
          <p:cNvPr id="10" name=""/>
          <p:cNvGraphicFramePr/>
          <p:nvPr/>
        </p:nvGraphicFramePr>
        <p:xfrm>
          <a:off xmlns:a="http://schemas.openxmlformats.org/drawingml/2006/main" x="552450" y="2266950"/>
          <a:ext xmlns:a="http://schemas.openxmlformats.org/drawingml/2006/main" cx="11049000" cy="3000375"/>
        </p:xfrm>
        <a:graphic xmlns:a="http://schemas.openxmlformats.org/drawingml/2006/main">
          <a:graphicData uri="http://schemas.openxmlformats.org/drawingml/2006/table">
            <a:tbl>
              <a:tblPr/>
              <a:tblGrid>
                <a:gridCol w="3314700"/>
                <a:gridCol w="1933575"/>
                <a:gridCol w="1933575"/>
                <a:gridCol w="1933575"/>
                <a:gridCol w="1933575"/>
              </a:tblGrid>
              <a:tr h="333375">
                <a:tc>
                  <a:txBody>
                    <a:bodyPr/>
                    <a:lstStyle/>
                    <a:p>
                      <a:r>
                        <a:rPr sz="1725" b="1">
                          <a:solidFill>
                            <a:srgbClr val="FFFFFF"/>
                          </a:solidFill>
                          <a:latin typeface="Arial"/>
                          <a:ea typeface="Arial"/>
                          <a:cs typeface="Arial"/>
                        </a:rPr>
                        <a:t>Model</a:t>
                      </a:r>
                    </a:p>
                  </a:txBody>
                  <a:tcPr marL="114300" marR="95250" marT="38100" marB="38100" anchor="ctr">
                    <a:solidFill>
                      <a:srgbClr val="18384B"/>
                    </a:solidFill>
                  </a:tcPr>
                </a:tc>
                <a:tc>
                  <a:txBody>
                    <a:bodyPr/>
                    <a:lstStyle/>
                    <a:p>
                      <a:r>
                        <a:rPr sz="1725" b="1">
                          <a:solidFill>
                            <a:srgbClr val="FFFFFF"/>
                          </a:solidFill>
                          <a:latin typeface="Arial"/>
                          <a:ea typeface="Arial"/>
                          <a:cs typeface="Arial"/>
                        </a:rPr>
                        <a:t>n</a:t>
                      </a:r>
                    </a:p>
                  </a:txBody>
                  <a:tcPr marL="114300" marR="95250" marT="38100" marB="38100" anchor="ctr">
                    <a:solidFill>
                      <a:srgbClr val="18384B"/>
                    </a:solidFill>
                  </a:tcPr>
                </a:tc>
                <a:tc>
                  <a:txBody>
                    <a:bodyPr/>
                    <a:lstStyle/>
                    <a:p>
                      <a:r>
                        <a:rPr sz="1725" b="1">
                          <a:solidFill>
                            <a:srgbClr val="FFFFFF"/>
                          </a:solidFill>
                          <a:latin typeface="Arial"/>
                          <a:ea typeface="Arial"/>
                          <a:cs typeface="Arial"/>
                        </a:rPr>
                        <a:t>Mean KS</a:t>
                      </a:r>
                    </a:p>
                  </a:txBody>
                  <a:tcPr marL="114300" marR="95250" marT="38100" marB="38100" anchor="ctr">
                    <a:solidFill>
                      <a:srgbClr val="18384B"/>
                    </a:solidFill>
                  </a:tcPr>
                </a:tc>
                <a:tc>
                  <a:txBody>
                    <a:bodyPr/>
                    <a:lstStyle/>
                    <a:p>
                      <a:r>
                        <a:rPr sz="1725" b="1">
                          <a:solidFill>
                            <a:srgbClr val="FFFFFF"/>
                          </a:solidFill>
                          <a:latin typeface="Arial"/>
                          <a:ea typeface="Arial"/>
                          <a:cs typeface="Arial"/>
                        </a:rPr>
                        <a:t>Energy</a:t>
                      </a:r>
                    </a:p>
                  </a:txBody>
                  <a:tcPr marL="114300" marR="95250" marT="38100" marB="38100" anchor="ctr">
                    <a:solidFill>
                      <a:srgbClr val="18384B"/>
                    </a:solidFill>
                  </a:tcPr>
                </a:tc>
                <a:tc>
                  <a:txBody>
                    <a:bodyPr/>
                    <a:lstStyle/>
                    <a:p>
                      <a:r>
                        <a:rPr sz="1725" b="1">
                          <a:solidFill>
                            <a:srgbClr val="FFFFFF"/>
                          </a:solidFill>
                          <a:latin typeface="Arial"/>
                          <a:ea typeface="Arial"/>
                          <a:cs typeface="Arial"/>
                        </a:rPr>
                        <a:t>MMD²</a:t>
                      </a:r>
                    </a:p>
                  </a:txBody>
                  <a:tcPr marL="114300" marR="95250" marT="38100" marB="38100" anchor="ctr">
                    <a:solidFill>
                      <a:srgbClr val="18384B"/>
                    </a:solidFill>
                  </a:tcPr>
                </a:tc>
              </a:tr>
              <a:tr h="333375">
                <a:tc>
                  <a:txBody>
                    <a:bodyPr/>
                    <a:lstStyle/>
                    <a:p>
                      <a:r>
                        <a:rPr sz="1725" b="0">
                          <a:solidFill>
                            <a:srgbClr val="18384B"/>
                          </a:solidFill>
                          <a:latin typeface="Arial"/>
                          <a:ea typeface="Arial"/>
                          <a:cs typeface="Arial"/>
                        </a:rPr>
                        <a:t>Spline + PCA</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3</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0.3251</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0.9774</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0.1815</a:t>
                      </a:r>
                    </a:p>
                  </a:txBody>
                  <a:tcPr marL="114300" marR="95250" marT="38100" marB="38100" anchor="ctr">
                    <a:solidFill>
                      <a:srgbClr val="F1F4F6"/>
                    </a:solidFill>
                  </a:tcPr>
                </a:tc>
              </a:tr>
              <a:tr h="333375">
                <a:tc>
                  <a:txBody>
                    <a:bodyPr/>
                    <a:lstStyle/>
                    <a:p>
                      <a:r>
                        <a:rPr sz="1725" b="0">
                          <a:solidFill>
                            <a:srgbClr val="18384B"/>
                          </a:solidFill>
                          <a:latin typeface="Arial"/>
                          <a:ea typeface="Arial"/>
                          <a:cs typeface="Arial"/>
                        </a:rPr>
                        <a:t>CAE</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3</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0.2876</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0.8015</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0.1414</a:t>
                      </a:r>
                    </a:p>
                  </a:txBody>
                  <a:tcPr marL="114300" marR="95250" marT="38100" marB="38100" anchor="ctr">
                    <a:solidFill>
                      <a:srgbClr val="FFFFFF"/>
                    </a:solidFill>
                  </a:tcPr>
                </a:tc>
              </a:tr>
              <a:tr h="333375">
                <a:tc>
                  <a:txBody>
                    <a:bodyPr/>
                    <a:lstStyle/>
                    <a:p>
                      <a:r>
                        <a:rPr sz="1725" b="0">
                          <a:solidFill>
                            <a:srgbClr val="18384B"/>
                          </a:solidFill>
                          <a:latin typeface="Arial"/>
                          <a:ea typeface="Arial"/>
                          <a:cs typeface="Arial"/>
                        </a:rPr>
                        <a:t>CVAE</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3</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0.2778</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0.7454</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0.1309</a:t>
                      </a:r>
                    </a:p>
                  </a:txBody>
                  <a:tcPr marL="114300" marR="95250" marT="38100" marB="38100" anchor="ctr">
                    <a:solidFill>
                      <a:srgbClr val="F1F4F6"/>
                    </a:solidFill>
                  </a:tcPr>
                </a:tc>
              </a:tr>
              <a:tr h="333375">
                <a:tc>
                  <a:txBody>
                    <a:bodyPr/>
                    <a:lstStyle/>
                    <a:p>
                      <a:r>
                        <a:rPr sz="1725" b="0">
                          <a:solidFill>
                            <a:srgbClr val="18384B"/>
                          </a:solidFill>
                          <a:latin typeface="Arial"/>
                          <a:ea typeface="Arial"/>
                          <a:cs typeface="Arial"/>
                        </a:rPr>
                        <a:t>VAE</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3</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0.2846</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0.7476</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0.1303</a:t>
                      </a:r>
                    </a:p>
                  </a:txBody>
                  <a:tcPr marL="114300" marR="95250" marT="38100" marB="38100" anchor="ctr">
                    <a:solidFill>
                      <a:srgbClr val="FFFFFF"/>
                    </a:solidFill>
                  </a:tcPr>
                </a:tc>
              </a:tr>
              <a:tr h="333375">
                <a:tc>
                  <a:txBody>
                    <a:bodyPr/>
                    <a:lstStyle/>
                    <a:p>
                      <a:r>
                        <a:rPr sz="1725" b="0">
                          <a:solidFill>
                            <a:srgbClr val="18384B"/>
                          </a:solidFill>
                          <a:latin typeface="Arial"/>
                          <a:ea typeface="Arial"/>
                          <a:cs typeface="Arial"/>
                        </a:rPr>
                        <a:t>Spline + PCA</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8</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0.2548</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0.7347</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0.1153</a:t>
                      </a:r>
                    </a:p>
                  </a:txBody>
                  <a:tcPr marL="114300" marR="95250" marT="38100" marB="38100" anchor="ctr">
                    <a:solidFill>
                      <a:srgbClr val="F1F4F6"/>
                    </a:solidFill>
                  </a:tcPr>
                </a:tc>
              </a:tr>
              <a:tr h="333375">
                <a:tc>
                  <a:txBody>
                    <a:bodyPr/>
                    <a:lstStyle/>
                    <a:p>
                      <a:r>
                        <a:rPr sz="1725" b="0">
                          <a:solidFill>
                            <a:srgbClr val="18384B"/>
                          </a:solidFill>
                          <a:latin typeface="Arial"/>
                          <a:ea typeface="Arial"/>
                          <a:cs typeface="Arial"/>
                        </a:rPr>
                        <a:t>CAE</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8</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0.2587</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0.6202</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0.1111</a:t>
                      </a:r>
                    </a:p>
                  </a:txBody>
                  <a:tcPr marL="114300" marR="95250" marT="38100" marB="38100" anchor="ctr">
                    <a:solidFill>
                      <a:srgbClr val="FFFFFF"/>
                    </a:solidFill>
                  </a:tcPr>
                </a:tc>
              </a:tr>
              <a:tr h="333375">
                <a:tc>
                  <a:txBody>
                    <a:bodyPr/>
                    <a:lstStyle/>
                    <a:p>
                      <a:r>
                        <a:rPr sz="1725" b="0">
                          <a:solidFill>
                            <a:srgbClr val="18384B"/>
                          </a:solidFill>
                          <a:latin typeface="Arial"/>
                          <a:ea typeface="Arial"/>
                          <a:cs typeface="Arial"/>
                        </a:rPr>
                        <a:t>CVAE</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8</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0.2194</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0.4305</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0.0675</a:t>
                      </a:r>
                    </a:p>
                  </a:txBody>
                  <a:tcPr marL="114300" marR="95250" marT="38100" marB="38100" anchor="ctr">
                    <a:solidFill>
                      <a:srgbClr val="F1F4F6"/>
                    </a:solidFill>
                  </a:tcPr>
                </a:tc>
              </a:tr>
              <a:tr h="333375">
                <a:tc>
                  <a:txBody>
                    <a:bodyPr/>
                    <a:lstStyle/>
                    <a:p>
                      <a:r>
                        <a:rPr sz="1725" b="0">
                          <a:solidFill>
                            <a:srgbClr val="18384B"/>
                          </a:solidFill>
                          <a:latin typeface="Arial"/>
                          <a:ea typeface="Arial"/>
                          <a:cs typeface="Arial"/>
                        </a:rPr>
                        <a:t>VAE</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8</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0.2151</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0.4110</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0.0639</a:t>
                      </a:r>
                    </a:p>
                  </a:txBody>
                  <a:tcPr marL="114300" marR="95250" marT="38100" marB="3810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BF0DFA7-5F70-4239-93BA-6760EA135069}"/>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Lower is better. VAE and CVAE beat spline on all three metrics at both dimensions under BH and Holm (140 tests). VAE n=8 has the lowest means, without a uniform significant advantage over CVAE.</a:t>
            </a:r>
          </a:p>
        </p:txBody>
      </p:sp>
      <p:sp>
        <p:nvSpPr>
          <p:cNvPr id="6" name="">
            <a:extLst xmlns:a="http://schemas.openxmlformats.org/drawingml/2006/main">
              <a:ext uri="{FF2B5EF4-FFF2-40B4-BE49-F238E27FC236}">
                <a16:creationId xmlns:a16="http://schemas.microsoft.com/office/drawing/2014/main" id="{D29F9D5A-DB9A-41B7-8A42-D5382EBDB8FC}"/>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55 seconds    6 / 25</a:t>
            </a:r>
          </a:p>
        </p:txBody>
      </p:sp>
    </p:spTree>
    <p:extLst>
      <p:ext uri="{BB962C8B-B14F-4D97-AF65-F5344CB8AC3E}">
        <p14:creationId xmlns:p14="http://schemas.microsoft.com/office/powerpoint/2010/main" val="204134154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B50DB4-E802-47A5-B491-B2EFE9A261DD}"/>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0C5A9769-C03B-402E-93F7-8DFB18BB1A72}"/>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Full-trajectory generation supports VAE and CVAE</a:t>
            </a:r>
          </a:p>
        </p:txBody>
      </p:sp>
      <p:sp>
        <p:nvSpPr>
          <p:cNvPr id="3" name="">
            <a:extLst xmlns:a="http://schemas.openxmlformats.org/drawingml/2006/main">
              <a:ext uri="{FF2B5EF4-FFF2-40B4-BE49-F238E27FC236}">
                <a16:creationId xmlns:a16="http://schemas.microsoft.com/office/drawing/2014/main" id="{6AFA93E4-C529-4203-A9B6-1EA1F5059D55}"/>
              </a:ext>
            </a:extLst>
          </p:cNvPr>
          <p:cNvSpPr>
            <a:spLocks xmlns:a="http://schemas.openxmlformats.org/drawingml/2006/main" noGrp="1"/>
          </p:cNvSpPr>
          <p:nvPr/>
        </p:nvSpPr>
        <p:spPr>
          <a:xfrm xmlns:a="http://schemas.openxmlformats.org/drawingml/2006/main">
            <a:off x="552450" y="1562100"/>
            <a:ext cx="11001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The new test preserves all 100 ordered positions.</a:t>
            </a:r>
          </a:p>
        </p:txBody>
      </p:sp>
      <p:graphicFrame>
        <p:nvGraphicFramePr>
          <p:cNvPr id="10" name=""/>
          <p:cNvGraphicFramePr/>
          <p:nvPr/>
        </p:nvGraphicFramePr>
        <p:xfrm>
          <a:off xmlns:a="http://schemas.openxmlformats.org/drawingml/2006/main" x="552450" y="2266950"/>
          <a:ext xmlns:a="http://schemas.openxmlformats.org/drawingml/2006/main" cx="11049000" cy="3000375"/>
        </p:xfrm>
        <a:graphic xmlns:a="http://schemas.openxmlformats.org/drawingml/2006/main">
          <a:graphicData uri="http://schemas.openxmlformats.org/drawingml/2006/table">
            <a:tbl>
              <a:tblPr/>
              <a:tblGrid>
                <a:gridCol w="3314700"/>
                <a:gridCol w="1878330"/>
                <a:gridCol w="2927985"/>
                <a:gridCol w="2927985"/>
              </a:tblGrid>
              <a:tr h="333375">
                <a:tc>
                  <a:txBody>
                    <a:bodyPr/>
                    <a:lstStyle/>
                    <a:p>
                      <a:r>
                        <a:rPr sz="1725" b="1">
                          <a:solidFill>
                            <a:srgbClr val="FFFFFF"/>
                          </a:solidFill>
                          <a:latin typeface="Arial"/>
                          <a:ea typeface="Arial"/>
                          <a:cs typeface="Arial"/>
                        </a:rPr>
                        <a:t>Model</a:t>
                      </a:r>
                    </a:p>
                  </a:txBody>
                  <a:tcPr marL="114300" marR="95250" marT="38100" marB="38100" anchor="ctr">
                    <a:solidFill>
                      <a:srgbClr val="18384B"/>
                    </a:solidFill>
                  </a:tcPr>
                </a:tc>
                <a:tc>
                  <a:txBody>
                    <a:bodyPr/>
                    <a:lstStyle/>
                    <a:p>
                      <a:r>
                        <a:rPr sz="1725" b="1">
                          <a:solidFill>
                            <a:srgbClr val="FFFFFF"/>
                          </a:solidFill>
                          <a:latin typeface="Arial"/>
                          <a:ea typeface="Arial"/>
                          <a:cs typeface="Arial"/>
                        </a:rPr>
                        <a:t>n</a:t>
                      </a:r>
                    </a:p>
                  </a:txBody>
                  <a:tcPr marL="114300" marR="95250" marT="38100" marB="38100" anchor="ctr">
                    <a:solidFill>
                      <a:srgbClr val="18384B"/>
                    </a:solidFill>
                  </a:tcPr>
                </a:tc>
                <a:tc>
                  <a:txBody>
                    <a:bodyPr/>
                    <a:lstStyle/>
                    <a:p>
                      <a:r>
                        <a:rPr sz="1725" b="1">
                          <a:solidFill>
                            <a:srgbClr val="FFFFFF"/>
                          </a:solidFill>
                          <a:latin typeface="Arial"/>
                          <a:ea typeface="Arial"/>
                          <a:cs typeface="Arial"/>
                        </a:rPr>
                        <a:t>Path energy</a:t>
                      </a:r>
                    </a:p>
                  </a:txBody>
                  <a:tcPr marL="114300" marR="95250" marT="38100" marB="38100" anchor="ctr">
                    <a:solidFill>
                      <a:srgbClr val="18384B"/>
                    </a:solidFill>
                  </a:tcPr>
                </a:tc>
                <a:tc>
                  <a:txBody>
                    <a:bodyPr/>
                    <a:lstStyle/>
                    <a:p>
                      <a:r>
                        <a:rPr sz="1725" b="1">
                          <a:solidFill>
                            <a:srgbClr val="FFFFFF"/>
                          </a:solidFill>
                          <a:latin typeface="Arial"/>
                          <a:ea typeface="Arial"/>
                          <a:cs typeface="Arial"/>
                        </a:rPr>
                        <a:t>Path MMD²</a:t>
                      </a:r>
                    </a:p>
                  </a:txBody>
                  <a:tcPr marL="114300" marR="95250" marT="38100" marB="38100" anchor="ctr">
                    <a:solidFill>
                      <a:srgbClr val="18384B"/>
                    </a:solidFill>
                  </a:tcPr>
                </a:tc>
              </a:tr>
              <a:tr h="333375">
                <a:tc>
                  <a:txBody>
                    <a:bodyPr/>
                    <a:lstStyle/>
                    <a:p>
                      <a:r>
                        <a:rPr sz="1725" b="0">
                          <a:solidFill>
                            <a:srgbClr val="18384B"/>
                          </a:solidFill>
                          <a:latin typeface="Arial"/>
                          <a:ea typeface="Arial"/>
                          <a:cs typeface="Arial"/>
                        </a:rPr>
                        <a:t>Spline + PCA</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3</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0.1068</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0.0777</a:t>
                      </a:r>
                    </a:p>
                  </a:txBody>
                  <a:tcPr marL="114300" marR="95250" marT="38100" marB="38100" anchor="ctr">
                    <a:solidFill>
                      <a:srgbClr val="F1F4F6"/>
                    </a:solidFill>
                  </a:tcPr>
                </a:tc>
              </a:tr>
              <a:tr h="333375">
                <a:tc>
                  <a:txBody>
                    <a:bodyPr/>
                    <a:lstStyle/>
                    <a:p>
                      <a:r>
                        <a:rPr sz="1725" b="0">
                          <a:solidFill>
                            <a:srgbClr val="18384B"/>
                          </a:solidFill>
                          <a:latin typeface="Arial"/>
                          <a:ea typeface="Arial"/>
                          <a:cs typeface="Arial"/>
                        </a:rPr>
                        <a:t>CAE</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3</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0.1272</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0.0818</a:t>
                      </a:r>
                    </a:p>
                  </a:txBody>
                  <a:tcPr marL="114300" marR="95250" marT="38100" marB="38100" anchor="ctr">
                    <a:solidFill>
                      <a:srgbClr val="FFFFFF"/>
                    </a:solidFill>
                  </a:tcPr>
                </a:tc>
              </a:tr>
              <a:tr h="333375">
                <a:tc>
                  <a:txBody>
                    <a:bodyPr/>
                    <a:lstStyle/>
                    <a:p>
                      <a:r>
                        <a:rPr sz="1725" b="0">
                          <a:solidFill>
                            <a:srgbClr val="18384B"/>
                          </a:solidFill>
                          <a:latin typeface="Arial"/>
                          <a:ea typeface="Arial"/>
                          <a:cs typeface="Arial"/>
                        </a:rPr>
                        <a:t>CVAE</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3</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0.1024</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0.0578</a:t>
                      </a:r>
                    </a:p>
                  </a:txBody>
                  <a:tcPr marL="114300" marR="95250" marT="38100" marB="38100" anchor="ctr">
                    <a:solidFill>
                      <a:srgbClr val="F1F4F6"/>
                    </a:solidFill>
                  </a:tcPr>
                </a:tc>
              </a:tr>
              <a:tr h="333375">
                <a:tc>
                  <a:txBody>
                    <a:bodyPr/>
                    <a:lstStyle/>
                    <a:p>
                      <a:r>
                        <a:rPr sz="1725" b="0">
                          <a:solidFill>
                            <a:srgbClr val="18384B"/>
                          </a:solidFill>
                          <a:latin typeface="Arial"/>
                          <a:ea typeface="Arial"/>
                          <a:cs typeface="Arial"/>
                        </a:rPr>
                        <a:t>VAE</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3</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0.1005</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0.0572</a:t>
                      </a:r>
                    </a:p>
                  </a:txBody>
                  <a:tcPr marL="114300" marR="95250" marT="38100" marB="38100" anchor="ctr">
                    <a:solidFill>
                      <a:srgbClr val="FFFFFF"/>
                    </a:solidFill>
                  </a:tcPr>
                </a:tc>
              </a:tr>
              <a:tr h="333375">
                <a:tc>
                  <a:txBody>
                    <a:bodyPr/>
                    <a:lstStyle/>
                    <a:p>
                      <a:r>
                        <a:rPr sz="1725" b="0">
                          <a:solidFill>
                            <a:srgbClr val="18384B"/>
                          </a:solidFill>
                          <a:latin typeface="Arial"/>
                          <a:ea typeface="Arial"/>
                          <a:cs typeface="Arial"/>
                        </a:rPr>
                        <a:t>Spline + PCA</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8</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0.0981</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0.0705</a:t>
                      </a:r>
                    </a:p>
                  </a:txBody>
                  <a:tcPr marL="114300" marR="95250" marT="38100" marB="38100" anchor="ctr">
                    <a:solidFill>
                      <a:srgbClr val="F1F4F6"/>
                    </a:solidFill>
                  </a:tcPr>
                </a:tc>
              </a:tr>
              <a:tr h="333375">
                <a:tc>
                  <a:txBody>
                    <a:bodyPr/>
                    <a:lstStyle/>
                    <a:p>
                      <a:r>
                        <a:rPr sz="1725" b="0">
                          <a:solidFill>
                            <a:srgbClr val="18384B"/>
                          </a:solidFill>
                          <a:latin typeface="Arial"/>
                          <a:ea typeface="Arial"/>
                          <a:cs typeface="Arial"/>
                        </a:rPr>
                        <a:t>CAE</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8</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0.0947</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0.0652</a:t>
                      </a:r>
                    </a:p>
                  </a:txBody>
                  <a:tcPr marL="114300" marR="95250" marT="38100" marB="38100" anchor="ctr">
                    <a:solidFill>
                      <a:srgbClr val="FFFFFF"/>
                    </a:solidFill>
                  </a:tcPr>
                </a:tc>
              </a:tr>
              <a:tr h="333375">
                <a:tc>
                  <a:txBody>
                    <a:bodyPr/>
                    <a:lstStyle/>
                    <a:p>
                      <a:r>
                        <a:rPr sz="1725" b="0">
                          <a:solidFill>
                            <a:srgbClr val="18384B"/>
                          </a:solidFill>
                          <a:latin typeface="Arial"/>
                          <a:ea typeface="Arial"/>
                          <a:cs typeface="Arial"/>
                        </a:rPr>
                        <a:t>CVAE</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8</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0.0549</a:t>
                      </a:r>
                    </a:p>
                  </a:txBody>
                  <a:tcPr marL="114300" marR="95250" marT="38100" marB="38100" anchor="ctr">
                    <a:solidFill>
                      <a:srgbClr val="F1F4F6"/>
                    </a:solidFill>
                  </a:tcPr>
                </a:tc>
                <a:tc>
                  <a:txBody>
                    <a:bodyPr/>
                    <a:lstStyle/>
                    <a:p>
                      <a:r>
                        <a:rPr sz="1725" b="0">
                          <a:solidFill>
                            <a:srgbClr val="18384B"/>
                          </a:solidFill>
                          <a:latin typeface="Arial"/>
                          <a:ea typeface="Arial"/>
                          <a:cs typeface="Arial"/>
                        </a:rPr>
                        <a:t>0.0244</a:t>
                      </a:r>
                    </a:p>
                  </a:txBody>
                  <a:tcPr marL="114300" marR="95250" marT="38100" marB="38100" anchor="ctr">
                    <a:solidFill>
                      <a:srgbClr val="F1F4F6"/>
                    </a:solidFill>
                  </a:tcPr>
                </a:tc>
              </a:tr>
              <a:tr h="333375">
                <a:tc>
                  <a:txBody>
                    <a:bodyPr/>
                    <a:lstStyle/>
                    <a:p>
                      <a:r>
                        <a:rPr sz="1725" b="0">
                          <a:solidFill>
                            <a:srgbClr val="18384B"/>
                          </a:solidFill>
                          <a:latin typeface="Arial"/>
                          <a:ea typeface="Arial"/>
                          <a:cs typeface="Arial"/>
                        </a:rPr>
                        <a:t>VAE</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8</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0.0548</a:t>
                      </a:r>
                    </a:p>
                  </a:txBody>
                  <a:tcPr marL="114300" marR="95250" marT="38100" marB="38100" anchor="ctr">
                    <a:solidFill>
                      <a:srgbClr val="FFFFFF"/>
                    </a:solidFill>
                  </a:tcPr>
                </a:tc>
                <a:tc>
                  <a:txBody>
                    <a:bodyPr/>
                    <a:lstStyle/>
                    <a:p>
                      <a:r>
                        <a:rPr sz="1725" b="0">
                          <a:solidFill>
                            <a:srgbClr val="18384B"/>
                          </a:solidFill>
                          <a:latin typeface="Arial"/>
                          <a:ea typeface="Arial"/>
                          <a:cs typeface="Arial"/>
                        </a:rPr>
                        <a:t>0.0238</a:t>
                      </a:r>
                    </a:p>
                  </a:txBody>
                  <a:tcPr marL="114300" marR="95250" marT="38100" marB="3810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712C954-7E54-44CE-9FF3-6E5D89FCFBFD}"/>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At n=8, VAE/CVAE beat spline on both metrics under BH and Holm-80, also with balanced axes. VAE vs CVAE: q=.672 (energy), 1.000 (MMD). At n=3, evidence depends on metric and scaling.</a:t>
            </a:r>
          </a:p>
        </p:txBody>
      </p:sp>
      <p:sp>
        <p:nvSpPr>
          <p:cNvPr id="6" name="">
            <a:extLst xmlns:a="http://schemas.openxmlformats.org/drawingml/2006/main">
              <a:ext uri="{FF2B5EF4-FFF2-40B4-BE49-F238E27FC236}">
                <a16:creationId xmlns:a16="http://schemas.microsoft.com/office/drawing/2014/main" id="{3CA48717-D2F4-44DE-ABB5-7421155DF8A0}"/>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70 seconds    7 / 25</a:t>
            </a:r>
          </a:p>
        </p:txBody>
      </p:sp>
    </p:spTree>
    <p:extLst>
      <p:ext uri="{BB962C8B-B14F-4D97-AF65-F5344CB8AC3E}">
        <p14:creationId xmlns:p14="http://schemas.microsoft.com/office/powerpoint/2010/main" val="73160596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96E3981-9EDC-4AF6-AA54-2D3063177FBC}"/>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7420A911-360B-47C9-88B0-CC30B9B74DD7}"/>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The participant’s own center improves generation</a:t>
            </a:r>
          </a:p>
        </p:txBody>
      </p:sp>
      <p:sp>
        <p:nvSpPr>
          <p:cNvPr id="3" name="">
            <a:extLst xmlns:a="http://schemas.openxmlformats.org/drawingml/2006/main">
              <a:ext uri="{FF2B5EF4-FFF2-40B4-BE49-F238E27FC236}">
                <a16:creationId xmlns:a16="http://schemas.microsoft.com/office/drawing/2014/main" id="{D45AF088-BDA1-4D46-A29F-AF522B469B4C}"/>
              </a:ext>
            </a:extLst>
          </p:cNvPr>
          <p:cNvSpPr>
            <a:spLocks xmlns:a="http://schemas.openxmlformats.org/drawingml/2006/main" noGrp="1"/>
          </p:cNvSpPr>
          <p:nvPr/>
        </p:nvSpPr>
        <p:spPr>
          <a:xfrm xmlns:a="http://schemas.openxmlformats.org/drawingml/2006/main">
            <a:off x="552450" y="1562100"/>
            <a:ext cx="11001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We change the center while holding decoder, noise and task draws fixed.</a:t>
            </a:r>
          </a:p>
        </p:txBody>
      </p:sp>
      <p:graphicFrame>
        <p:nvGraphicFramePr>
          <p:cNvPr id="10" name=""/>
          <p:cNvGraphicFramePr/>
          <p:nvPr/>
        </p:nvGraphicFramePr>
        <p:xfrm>
          <a:off xmlns:a="http://schemas.openxmlformats.org/drawingml/2006/main" x="552450" y="2266950"/>
          <a:ext xmlns:a="http://schemas.openxmlformats.org/drawingml/2006/main" cx="11049000" cy="1981200"/>
        </p:xfrm>
        <a:graphic xmlns:a="http://schemas.openxmlformats.org/drawingml/2006/main">
          <a:graphicData uri="http://schemas.openxmlformats.org/drawingml/2006/table">
            <a:tbl>
              <a:tblPr/>
              <a:tblGrid>
                <a:gridCol w="3314700"/>
                <a:gridCol w="1878330"/>
                <a:gridCol w="2927985"/>
                <a:gridCol w="2927985"/>
              </a:tblGrid>
              <a:tr h="495300">
                <a:tc>
                  <a:txBody>
                    <a:bodyPr/>
                    <a:lstStyle/>
                    <a:p>
                      <a:r>
                        <a:rPr sz="1650" b="1">
                          <a:solidFill>
                            <a:srgbClr val="FFFFFF"/>
                          </a:solidFill>
                          <a:latin typeface="Arial"/>
                          <a:ea typeface="Arial"/>
                          <a:cs typeface="Arial"/>
                        </a:rPr>
                        <a:t>Model</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Own center</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Population center</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Other participants</a:t>
                      </a:r>
                    </a:p>
                  </a:txBody>
                  <a:tcPr marL="114300" marR="95250" marT="66675" marB="57150" anchor="ctr">
                    <a:solidFill>
                      <a:srgbClr val="18384B"/>
                    </a:solidFill>
                  </a:tcPr>
                </a:tc>
              </a:tr>
              <a:tr h="495300">
                <a:tc>
                  <a:txBody>
                    <a:bodyPr/>
                    <a:lstStyle/>
                    <a:p>
                      <a:r>
                        <a:rPr sz="1650" b="0">
                          <a:solidFill>
                            <a:srgbClr val="18384B"/>
                          </a:solidFill>
                          <a:latin typeface="Arial"/>
                          <a:ea typeface="Arial"/>
                          <a:cs typeface="Arial"/>
                        </a:rPr>
                        <a:t>CVAE n=3</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0.2778</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0.3110</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0.3380</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CVAE n=8</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0.2194</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0.2896</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0.3172</a:t>
                      </a:r>
                    </a:p>
                  </a:txBody>
                  <a:tcPr marL="114300" marR="95250" marT="66675" marB="57150" anchor="ctr">
                    <a:solidFill>
                      <a:srgbClr val="FFFFFF"/>
                    </a:solidFill>
                  </a:tcPr>
                </a:tc>
              </a:tr>
              <a:tr h="495300">
                <a:tc>
                  <a:txBody>
                    <a:bodyPr/>
                    <a:lstStyle/>
                    <a:p>
                      <a:r>
                        <a:rPr sz="1650" b="0">
                          <a:solidFill>
                            <a:srgbClr val="18384B"/>
                          </a:solidFill>
                          <a:latin typeface="Arial"/>
                          <a:ea typeface="Arial"/>
                          <a:cs typeface="Arial"/>
                        </a:rPr>
                        <a:t>VAE n=8</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0.2151</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0.2841</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0.3144</a:t>
                      </a:r>
                    </a:p>
                  </a:txBody>
                  <a:tcPr marL="114300" marR="95250" marT="66675" marB="57150" anchor="ctr">
                    <a:solidFill>
                      <a:srgbClr val="F1F4F6"/>
                    </a:solidFill>
                  </a:tcPr>
                </a:tc>
              </a:tr>
            </a:tbl>
          </a:graphicData>
        </a:graphic>
      </p:graphicFrame>
      <p:sp>
        <p:nvSpPr>
          <p:cNvPr id="5" name="">
            <a:extLst xmlns:a="http://schemas.openxmlformats.org/drawingml/2006/main">
              <a:ext uri="{FF2B5EF4-FFF2-40B4-BE49-F238E27FC236}">
                <a16:creationId xmlns:a16="http://schemas.microsoft.com/office/drawing/2014/main" id="{8E246B1C-7294-4810-8D7B-7DC069572AFE}"/>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Mean feature KS; lower is better. All VAE control comparisons: BH q &lt; 1.6×10⁻⁶ (6 tests). All CVAE comparisons: q &lt; .000382 (12 tests).</a:t>
            </a:r>
          </a:p>
        </p:txBody>
      </p:sp>
      <p:sp>
        <p:nvSpPr>
          <p:cNvPr id="6" name="">
            <a:extLst xmlns:a="http://schemas.openxmlformats.org/drawingml/2006/main">
              <a:ext uri="{FF2B5EF4-FFF2-40B4-BE49-F238E27FC236}">
                <a16:creationId xmlns:a16="http://schemas.microsoft.com/office/drawing/2014/main" id="{314DAF5A-F4E2-46DE-A49B-21BEDFB48D2F}"/>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45 seconds    8 / 25</a:t>
            </a:r>
          </a:p>
        </p:txBody>
      </p:sp>
    </p:spTree>
    <p:extLst>
      <p:ext uri="{BB962C8B-B14F-4D97-AF65-F5344CB8AC3E}">
        <p14:creationId xmlns:p14="http://schemas.microsoft.com/office/powerpoint/2010/main" val="49027881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E78E36-893F-4822-99F7-5C55B8088697}"/>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5A87C64A-565F-4C43-BA7F-945724BA7CBA}"/>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What the compact model achieves</a:t>
            </a:r>
          </a:p>
        </p:txBody>
      </p:sp>
      <p:sp>
        <p:nvSpPr>
          <p:cNvPr id="3" name="">
            <a:extLst xmlns:a="http://schemas.openxmlformats.org/drawingml/2006/main">
              <a:ext uri="{FF2B5EF4-FFF2-40B4-BE49-F238E27FC236}">
                <a16:creationId xmlns:a16="http://schemas.microsoft.com/office/drawing/2014/main" id="{A5ACD1E6-B635-4946-B92B-854E9B2DF35D}"/>
              </a:ext>
            </a:extLst>
          </p:cNvPr>
          <p:cNvSpPr>
            <a:spLocks xmlns:a="http://schemas.openxmlformats.org/drawingml/2006/main" noGrp="1"/>
          </p:cNvSpPr>
          <p:nvPr/>
        </p:nvSpPr>
        <p:spPr>
          <a:xfrm xmlns:a="http://schemas.openxmlformats.org/drawingml/2006/main">
            <a:off x="552450" y="1562100"/>
            <a:ext cx="110013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VAE n=8 is the dashboard default; CVAE remains a comparable alternative.</a:t>
            </a:r>
          </a:p>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Spline + PCA retains the strongest reconstruction.</a:t>
            </a:r>
          </a:p>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Stored context resampling achieves lower mean path discrepancy than compact models.</a:t>
            </a:r>
          </a:p>
        </p:txBody>
      </p:sp>
      <p:graphicFrame>
        <p:nvGraphicFramePr>
          <p:cNvPr id="10" name=""/>
          <p:cNvGraphicFramePr/>
          <p:nvPr/>
        </p:nvGraphicFramePr>
        <p:xfrm>
          <a:off xmlns:a="http://schemas.openxmlformats.org/drawingml/2006/main" x="552450" y="2762250"/>
          <a:ext xmlns:a="http://schemas.openxmlformats.org/drawingml/2006/main" cx="11049000" cy="1981200"/>
        </p:xfrm>
        <a:graphic xmlns:a="http://schemas.openxmlformats.org/drawingml/2006/main">
          <a:graphicData uri="http://schemas.openxmlformats.org/drawingml/2006/table">
            <a:tbl>
              <a:tblPr/>
              <a:tblGrid>
                <a:gridCol w="5082540"/>
                <a:gridCol w="2983230"/>
                <a:gridCol w="2983230"/>
              </a:tblGrid>
              <a:tr h="495300">
                <a:tc>
                  <a:txBody>
                    <a:bodyPr/>
                    <a:lstStyle/>
                    <a:p>
                      <a:r>
                        <a:rPr sz="1650" b="1">
                          <a:solidFill>
                            <a:srgbClr val="FFFFFF"/>
                          </a:solidFill>
                          <a:latin typeface="Arial"/>
                          <a:ea typeface="Arial"/>
                          <a:cs typeface="Arial"/>
                        </a:rPr>
                        <a:t>Raw path reference</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Energy</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MMD²</a:t>
                      </a:r>
                    </a:p>
                  </a:txBody>
                  <a:tcPr marL="114300" marR="95250" marT="66675" marB="57150" anchor="ctr">
                    <a:solidFill>
                      <a:srgbClr val="18384B"/>
                    </a:solidFill>
                  </a:tcPr>
                </a:tc>
              </a:tr>
              <a:tr h="495300">
                <a:tc>
                  <a:txBody>
                    <a:bodyPr/>
                    <a:lstStyle/>
                    <a:p>
                      <a:r>
                        <a:rPr sz="1650" b="0">
                          <a:solidFill>
                            <a:srgbClr val="18384B"/>
                          </a:solidFill>
                          <a:latin typeface="Arial"/>
                          <a:ea typeface="Arial"/>
                          <a:cs typeface="Arial"/>
                        </a:rPr>
                        <a:t>VAE n=8</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0.0548</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0.0238</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Resample stored context</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0.0328</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0.0054</a:t>
                      </a:r>
                    </a:p>
                  </a:txBody>
                  <a:tcPr marL="114300" marR="95250" marT="66675" marB="57150" anchor="ctr">
                    <a:solidFill>
                      <a:srgbClr val="FFFFFF"/>
                    </a:solidFill>
                  </a:tcPr>
                </a:tc>
              </a:tr>
              <a:tr h="495300">
                <a:tc>
                  <a:txBody>
                    <a:bodyPr/>
                    <a:lstStyle/>
                    <a:p>
                      <a:r>
                        <a:rPr sz="1650" b="0">
                          <a:solidFill>
                            <a:srgbClr val="18384B"/>
                          </a:solidFill>
                          <a:latin typeface="Arial"/>
                          <a:ea typeface="Arial"/>
                          <a:cs typeface="Arial"/>
                        </a:rPr>
                        <a:t>Repeat context mean</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0.4621</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0.2452</a:t>
                      </a:r>
                    </a:p>
                  </a:txBody>
                  <a:tcPr marL="114300" marR="95250" marT="66675" marB="57150" anchor="ctr">
                    <a:solidFill>
                      <a:srgbClr val="F1F4F6"/>
                    </a:solidFill>
                  </a:tcPr>
                </a:tc>
              </a:tr>
            </a:tbl>
          </a:graphicData>
        </a:graphic>
      </p:graphicFrame>
      <p:sp>
        <p:nvSpPr>
          <p:cNvPr id="5" name="">
            <a:extLst xmlns:a="http://schemas.openxmlformats.org/drawingml/2006/main">
              <a:ext uri="{FF2B5EF4-FFF2-40B4-BE49-F238E27FC236}">
                <a16:creationId xmlns:a16="http://schemas.microsoft.com/office/drawing/2014/main" id="{306A8B8C-3B3A-40E6-AF79-8416F107A86B}"/>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Reference differences are descriptive. Resampling retains whole paths; the mean-only reference collapses variation. Latent summary probes also leave information unrecovered.</a:t>
            </a:r>
          </a:p>
        </p:txBody>
      </p:sp>
      <p:sp>
        <p:nvSpPr>
          <p:cNvPr id="6" name="">
            <a:extLst xmlns:a="http://schemas.openxmlformats.org/drawingml/2006/main">
              <a:ext uri="{FF2B5EF4-FFF2-40B4-BE49-F238E27FC236}">
                <a16:creationId xmlns:a16="http://schemas.microsoft.com/office/drawing/2014/main" id="{ECB47AC7-82C6-4B2B-BF68-7ED21B6056FD}"/>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45 seconds    9 / 25</a:t>
            </a:r>
          </a:p>
        </p:txBody>
      </p:sp>
    </p:spTree>
    <p:extLst>
      <p:ext uri="{BB962C8B-B14F-4D97-AF65-F5344CB8AC3E}">
        <p14:creationId xmlns:p14="http://schemas.microsoft.com/office/powerpoint/2010/main" val="61686173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088EC12-1985-4947-92ED-71964AAE10D9}"/>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INTERCEPTION MOVEMENT MODELING</a:t>
            </a:r>
          </a:p>
        </p:txBody>
      </p:sp>
      <p:sp>
        <p:nvSpPr>
          <p:cNvPr id="2" name="">
            <a:extLst xmlns:a="http://schemas.openxmlformats.org/drawingml/2006/main">
              <a:ext uri="{FF2B5EF4-FFF2-40B4-BE49-F238E27FC236}">
                <a16:creationId xmlns:a16="http://schemas.microsoft.com/office/drawing/2014/main" id="{D4B53216-546A-4088-A397-6B6BED04F07C}"/>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Dashboard demonstration</a:t>
            </a:r>
          </a:p>
        </p:txBody>
      </p:sp>
      <p:sp>
        <p:nvSpPr>
          <p:cNvPr id="3" name="">
            <a:extLst xmlns:a="http://schemas.openxmlformats.org/drawingml/2006/main">
              <a:ext uri="{FF2B5EF4-FFF2-40B4-BE49-F238E27FC236}">
                <a16:creationId xmlns:a16="http://schemas.microsoft.com/office/drawing/2014/main" id="{6CABD95C-D622-40F7-8854-6CE4BA65E23D}"/>
              </a:ext>
            </a:extLst>
          </p:cNvPr>
          <p:cNvSpPr>
            <a:spLocks xmlns:a="http://schemas.openxmlformats.org/drawingml/2006/main" noGrp="1"/>
          </p:cNvSpPr>
          <p:nvPr/>
        </p:nvSpPr>
        <p:spPr>
          <a:xfrm xmlns:a="http://schemas.openxmlformats.org/drawingml/2006/main">
            <a:off x="552450" y="1524000"/>
            <a:ext cx="11049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84B"/>
                </a:solidFill>
                <a:latin typeface="Arial"/>
                <a:ea typeface="Arial"/>
                <a:cs typeface="Arial"/>
              </a:defRPr>
            </a:pPr>
            <a:r>
              <a:rPr sz="1875" b="0">
                <a:solidFill>
                  <a:srgbClr val="18384B"/>
                </a:solidFill>
                <a:latin typeface="Arial"/>
                <a:ea typeface="Arial"/>
                <a:cs typeface="Arial"/>
              </a:rPr>
              <a:t>Default: VAE, n = 8</a:t>
            </a:r>
          </a:p>
          <a:p xmlns:a="http://schemas.openxmlformats.org/drawingml/2006/main">
            <a:pPr>
              <a:defRPr sz="1875" b="0">
                <a:solidFill>
                  <a:srgbClr val="18384B"/>
                </a:solidFill>
                <a:latin typeface="Arial"/>
                <a:ea typeface="Arial"/>
                <a:cs typeface="Arial"/>
              </a:defRPr>
            </a:pPr>
            <a:r>
              <a:rPr sz="1875" b="0">
                <a:solidFill>
                  <a:srgbClr val="18384B"/>
                </a:solidFill>
                <a:latin typeface="Arial"/>
                <a:ea typeface="Arial"/>
                <a:cs typeface="Arial"/>
              </a:rPr>
              <a:t>Compare n = 3, CVAE and spline + PCA</a:t>
            </a:r>
          </a:p>
          <a:p xmlns:a="http://schemas.openxmlformats.org/drawingml/2006/main">
            <a:pPr>
              <a:defRPr sz="1875" b="0">
                <a:solidFill>
                  <a:srgbClr val="18384B"/>
                </a:solidFill>
                <a:latin typeface="Arial"/>
                <a:ea typeface="Arial"/>
                <a:cs typeface="Arial"/>
              </a:defRPr>
            </a:pPr>
            <a:r>
              <a:rPr sz="1875" b="0">
                <a:solidFill>
                  <a:srgbClr val="18384B"/>
                </a:solidFill>
                <a:latin typeface="Arial"/>
                <a:ea typeface="Arial"/>
                <a:cs typeface="Arial"/>
              </a:rPr>
              <a:t>Return to the benchmark view for cohort results</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d1967ea229140a2"/>
          <a:stretch xmlns:a="http://schemas.openxmlformats.org/drawingml/2006/main"/>
        </p:blipFill>
        <p:spPr>
          <a:xfrm xmlns:a="http://schemas.openxmlformats.org/drawingml/2006/main">
            <a:off x="2414127" y="2743200"/>
            <a:ext cx="7344697" cy="27432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4FD2B46-AACC-46D9-AF43-635C242F6206}"/>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This backup example is subject01, n=8, fold 2, seed 42. Live dashboard references use fold 0, seed 42. Equal x/y scale.</a:t>
            </a:r>
          </a:p>
        </p:txBody>
      </p:sp>
      <p:sp>
        <p:nvSpPr>
          <p:cNvPr id="6" name="">
            <a:extLst xmlns:a="http://schemas.openxmlformats.org/drawingml/2006/main">
              <a:ext uri="{FF2B5EF4-FFF2-40B4-BE49-F238E27FC236}">
                <a16:creationId xmlns:a16="http://schemas.microsoft.com/office/drawing/2014/main" id="{6E16327D-DD9D-448C-8684-B92AACB2E7A7}"/>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80 seconds    10 / 25</a:t>
            </a:r>
          </a:p>
        </p:txBody>
      </p:sp>
    </p:spTree>
    <p:extLst>
      <p:ext uri="{BB962C8B-B14F-4D97-AF65-F5344CB8AC3E}">
        <p14:creationId xmlns:p14="http://schemas.microsoft.com/office/powerpoint/2010/main" val="102172416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EB87BEF-CDE7-4728-A684-F90C81067644}"/>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683E8EA9-ECC8-4171-BE7C-35A035EEB9FF}"/>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resampling and the two time windows</a:t>
            </a:r>
          </a:p>
        </p:txBody>
      </p:sp>
      <p:sp>
        <p:nvSpPr>
          <p:cNvPr id="3" name="">
            <a:extLst xmlns:a="http://schemas.openxmlformats.org/drawingml/2006/main">
              <a:ext uri="{FF2B5EF4-FFF2-40B4-BE49-F238E27FC236}">
                <a16:creationId xmlns:a16="http://schemas.microsoft.com/office/drawing/2014/main" id="{03886CD4-52A2-4445-BB5A-46C692232E32}"/>
              </a:ext>
            </a:extLst>
          </p:cNvPr>
          <p:cNvSpPr>
            <a:spLocks xmlns:a="http://schemas.openxmlformats.org/drawingml/2006/main" noGrp="1"/>
          </p:cNvSpPr>
          <p:nvPr/>
        </p:nvSpPr>
        <p:spPr>
          <a:xfrm xmlns:a="http://schemas.openxmlformats.org/drawingml/2006/main">
            <a:off x="552450" y="1562100"/>
            <a:ext cx="110013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Model input: target motion to final tracker sample.</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Feature input: detected finger onset to end.</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A phase of 0.5 means half the selected time interval, not half the path length.</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5526fd7f4204f51"/>
          <a:stretch xmlns:a="http://schemas.openxmlformats.org/drawingml/2006/main"/>
        </p:blipFill>
        <p:spPr>
          <a:xfrm xmlns:a="http://schemas.openxmlformats.org/drawingml/2006/main">
            <a:off x="2436548" y="3171825"/>
            <a:ext cx="6899804" cy="6477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38FEF62-F36B-47D5-8372-EAC2A8AEA876}"/>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100 samples are a common representation, not 100 independent observations.</a:t>
            </a:r>
          </a:p>
        </p:txBody>
      </p:sp>
      <p:sp>
        <p:nvSpPr>
          <p:cNvPr id="6" name="">
            <a:extLst xmlns:a="http://schemas.openxmlformats.org/drawingml/2006/main">
              <a:ext uri="{FF2B5EF4-FFF2-40B4-BE49-F238E27FC236}">
                <a16:creationId xmlns:a16="http://schemas.microsoft.com/office/drawing/2014/main" id="{0E2A0595-AFB3-4D0D-BE29-078366B2CDE4}"/>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11 / 25</a:t>
            </a:r>
          </a:p>
        </p:txBody>
      </p:sp>
    </p:spTree>
    <p:extLst>
      <p:ext uri="{BB962C8B-B14F-4D97-AF65-F5344CB8AC3E}">
        <p14:creationId xmlns:p14="http://schemas.microsoft.com/office/powerpoint/2010/main" val="116648876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9FDA0AC-111E-4762-83DD-D57C1CDF5120}"/>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97E39439-907C-4420-9013-A2EB862E3A53}"/>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what becomes the PCA matrix?</a:t>
            </a:r>
          </a:p>
        </p:txBody>
      </p:sp>
      <p:graphicFrame>
        <p:nvGraphicFramePr>
          <p:cNvPr id="8" name=""/>
          <p:cNvGraphicFramePr/>
          <p:nvPr/>
        </p:nvGraphicFramePr>
        <p:xfrm>
          <a:off xmlns:a="http://schemas.openxmlformats.org/drawingml/2006/main" x="552450" y="1562100"/>
          <a:ext xmlns:a="http://schemas.openxmlformats.org/drawingml/2006/main" cx="11049000" cy="2933700"/>
        </p:xfrm>
        <a:graphic xmlns:a="http://schemas.openxmlformats.org/drawingml/2006/main">
          <a:graphicData uri="http://schemas.openxmlformats.org/drawingml/2006/table">
            <a:tbl>
              <a:tblPr/>
              <a:tblGrid>
                <a:gridCol w="5082540"/>
                <a:gridCol w="2983230"/>
                <a:gridCol w="2983230"/>
              </a:tblGrid>
              <a:tr h="419100">
                <a:tc>
                  <a:txBody>
                    <a:bodyPr/>
                    <a:lstStyle/>
                    <a:p>
                      <a:r>
                        <a:rPr sz="1650" b="1">
                          <a:solidFill>
                            <a:srgbClr val="FFFFFF"/>
                          </a:solidFill>
                          <a:latin typeface="Arial"/>
                          <a:ea typeface="Arial"/>
                          <a:cs typeface="Arial"/>
                        </a:rPr>
                        <a:t>Object</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Dimensions</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One row / one column means</a:t>
                      </a:r>
                    </a:p>
                  </a:txBody>
                  <a:tcPr marL="114300" marR="95250" marT="66675" marB="57150" anchor="ctr">
                    <a:solidFill>
                      <a:srgbClr val="18384B"/>
                    </a:solidFill>
                  </a:tcPr>
                </a:tc>
              </a:tr>
              <a:tr h="419100">
                <a:tc>
                  <a:txBody>
                    <a:bodyPr/>
                    <a:lstStyle/>
                    <a:p>
                      <a:r>
                        <a:rPr sz="1650" b="0">
                          <a:solidFill>
                            <a:srgbClr val="18384B"/>
                          </a:solidFill>
                          <a:latin typeface="Arial"/>
                          <a:ea typeface="Arial"/>
                          <a:cs typeface="Arial"/>
                        </a:rPr>
                        <a:t>Sampled trial</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100 x 2</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Time point / x or y</a:t>
                      </a:r>
                    </a:p>
                  </a:txBody>
                  <a:tcPr marL="114300" marR="95250" marT="66675" marB="57150" anchor="ctr">
                    <a:solidFill>
                      <a:srgbClr val="F1F4F6"/>
                    </a:solidFill>
                  </a:tcPr>
                </a:tc>
              </a:tr>
              <a:tr h="419100">
                <a:tc>
                  <a:txBody>
                    <a:bodyPr/>
                    <a:lstStyle/>
                    <a:p>
                      <a:r>
                        <a:rPr sz="1650" b="0">
                          <a:solidFill>
                            <a:srgbClr val="18384B"/>
                          </a:solidFill>
                          <a:latin typeface="Arial"/>
                          <a:ea typeface="Arial"/>
                          <a:cs typeface="Arial"/>
                        </a:rPr>
                        <a:t>Spline basis B</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100 x 9</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Time point / basis function</a:t>
                      </a:r>
                    </a:p>
                  </a:txBody>
                  <a:tcPr marL="114300" marR="95250" marT="66675" marB="57150" anchor="ctr">
                    <a:solidFill>
                      <a:srgbClr val="FFFFFF"/>
                    </a:solidFill>
                  </a:tcPr>
                </a:tc>
              </a:tr>
              <a:tr h="419100">
                <a:tc>
                  <a:txBody>
                    <a:bodyPr/>
                    <a:lstStyle/>
                    <a:p>
                      <a:r>
                        <a:rPr sz="1650" b="0">
                          <a:solidFill>
                            <a:srgbClr val="18384B"/>
                          </a:solidFill>
                          <a:latin typeface="Arial"/>
                          <a:ea typeface="Arial"/>
                          <a:cs typeface="Arial"/>
                        </a:rPr>
                        <a:t>Trial coefficient vector</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18</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Nine x coefficients followed by nine y</a:t>
                      </a:r>
                    </a:p>
                  </a:txBody>
                  <a:tcPr marL="114300" marR="95250" marT="66675" marB="57150" anchor="ctr">
                    <a:solidFill>
                      <a:srgbClr val="F1F4F6"/>
                    </a:solidFill>
                  </a:tcPr>
                </a:tc>
              </a:tr>
              <a:tr h="419100">
                <a:tc>
                  <a:txBody>
                    <a:bodyPr/>
                    <a:lstStyle/>
                    <a:p>
                      <a:r>
                        <a:rPr sz="1650" b="0">
                          <a:solidFill>
                            <a:srgbClr val="18384B"/>
                          </a:solidFill>
                          <a:latin typeface="Arial"/>
                          <a:ea typeface="Arial"/>
                          <a:cs typeface="Arial"/>
                        </a:rPr>
                        <a:t>Training coefficient matrix</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N training x 18</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Trial / coefficient</a:t>
                      </a:r>
                    </a:p>
                  </a:txBody>
                  <a:tcPr marL="114300" marR="95250" marT="66675" marB="57150" anchor="ctr">
                    <a:solidFill>
                      <a:srgbClr val="FFFFFF"/>
                    </a:solidFill>
                  </a:tcPr>
                </a:tc>
              </a:tr>
              <a:tr h="419100">
                <a:tc>
                  <a:txBody>
                    <a:bodyPr/>
                    <a:lstStyle/>
                    <a:p>
                      <a:r>
                        <a:rPr sz="1650" b="0">
                          <a:solidFill>
                            <a:srgbClr val="18384B"/>
                          </a:solidFill>
                          <a:latin typeface="Arial"/>
                          <a:ea typeface="Arial"/>
                          <a:cs typeface="Arial"/>
                        </a:rPr>
                        <a:t>PCA directions V</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18 x n</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Coefficient / retained component</a:t>
                      </a:r>
                    </a:p>
                  </a:txBody>
                  <a:tcPr marL="114300" marR="95250" marT="66675" marB="57150" anchor="ctr">
                    <a:solidFill>
                      <a:srgbClr val="F1F4F6"/>
                    </a:solidFill>
                  </a:tcPr>
                </a:tc>
              </a:tr>
              <a:tr h="419100">
                <a:tc>
                  <a:txBody>
                    <a:bodyPr/>
                    <a:lstStyle/>
                    <a:p>
                      <a:r>
                        <a:rPr sz="1650" b="0">
                          <a:solidFill>
                            <a:srgbClr val="18384B"/>
                          </a:solidFill>
                          <a:latin typeface="Arial"/>
                          <a:ea typeface="Arial"/>
                          <a:cs typeface="Arial"/>
                        </a:rPr>
                        <a:t>Training latent codes</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N training x n</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Trial / latent coordinate</a:t>
                      </a:r>
                    </a:p>
                  </a:txBody>
                  <a:tcPr marL="114300" marR="95250" marT="66675" marB="5715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56D21026-B05A-4C79-B19F-719C3CBFFC5F}"/>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Five interior knots + degree 3 + 1 = nine coefficients per axis.</a:t>
            </a:r>
          </a:p>
        </p:txBody>
      </p:sp>
      <p:sp>
        <p:nvSpPr>
          <p:cNvPr id="5" name="">
            <a:extLst xmlns:a="http://schemas.openxmlformats.org/drawingml/2006/main">
              <a:ext uri="{FF2B5EF4-FFF2-40B4-BE49-F238E27FC236}">
                <a16:creationId xmlns:a16="http://schemas.microsoft.com/office/drawing/2014/main" id="{423D90B9-7A32-4B00-87AD-C41FB36A5E98}"/>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12 / 25</a:t>
            </a:r>
          </a:p>
        </p:txBody>
      </p:sp>
    </p:spTree>
    <p:extLst>
      <p:ext uri="{BB962C8B-B14F-4D97-AF65-F5344CB8AC3E}">
        <p14:creationId xmlns:p14="http://schemas.microsoft.com/office/powerpoint/2010/main" val="126898365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508D97-63E2-45B8-BEA4-C1B168AD40DC}"/>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BD0FB246-0D54-4A58-915C-E7C78DEC04DA}"/>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fitting and decoding spline + PCA</a:t>
            </a:r>
          </a:p>
        </p:txBody>
      </p:sp>
      <p:sp>
        <p:nvSpPr>
          <p:cNvPr id="3" name="">
            <a:extLst xmlns:a="http://schemas.openxmlformats.org/drawingml/2006/main">
              <a:ext uri="{FF2B5EF4-FFF2-40B4-BE49-F238E27FC236}">
                <a16:creationId xmlns:a16="http://schemas.microsoft.com/office/drawing/2014/main" id="{2CA7704D-D090-4652-9EE0-7DAABD3C6774}"/>
              </a:ext>
            </a:extLst>
          </p:cNvPr>
          <p:cNvSpPr>
            <a:spLocks xmlns:a="http://schemas.openxmlformats.org/drawingml/2006/main" noGrp="1"/>
          </p:cNvSpPr>
          <p:nvPr/>
        </p:nvSpPr>
        <p:spPr>
          <a:xfrm xmlns:a="http://schemas.openxmlformats.org/drawingml/2006/main">
            <a:off x="552450" y="1562100"/>
            <a:ext cx="110013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Fit the two coordinate coefficient vectors by least squares.</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Validation selects raw or standardized coefficients.</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Inverse PCA gives coefficients; multiplying by B restores the path.</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7167ebdaca04629"/>
          <a:stretch xmlns:a="http://schemas.openxmlformats.org/drawingml/2006/main"/>
        </p:blipFill>
        <p:spPr>
          <a:xfrm xmlns:a="http://schemas.openxmlformats.org/drawingml/2006/main">
            <a:off x="1815835" y="3171825"/>
            <a:ext cx="8141229" cy="6477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5F2DDCD-E934-4E6B-9462-AEF0A56C1453}"/>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m and d combine centering/scaling; V contains retained PCA directions. Raw PCA uses d = 1.</a:t>
            </a:r>
          </a:p>
        </p:txBody>
      </p:sp>
      <p:sp>
        <p:nvSpPr>
          <p:cNvPr id="6" name="">
            <a:extLst xmlns:a="http://schemas.openxmlformats.org/drawingml/2006/main">
              <a:ext uri="{FF2B5EF4-FFF2-40B4-BE49-F238E27FC236}">
                <a16:creationId xmlns:a16="http://schemas.microsoft.com/office/drawing/2014/main" id="{D88E82B4-5730-49AE-8B40-31C4EDD5DFC3}"/>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13 / 25</a:t>
            </a:r>
          </a:p>
        </p:txBody>
      </p:sp>
    </p:spTree>
    <p:extLst>
      <p:ext uri="{BB962C8B-B14F-4D97-AF65-F5344CB8AC3E}">
        <p14:creationId xmlns:p14="http://schemas.microsoft.com/office/powerpoint/2010/main" val="76664019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9A40B75-D989-449C-B58F-92517B07FBEB}"/>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0A45A8DD-30E9-440C-A76D-627B215B8693}"/>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predicting physical timing</a:t>
            </a:r>
          </a:p>
        </p:txBody>
      </p:sp>
      <p:graphicFrame>
        <p:nvGraphicFramePr>
          <p:cNvPr id="8" name=""/>
          <p:cNvGraphicFramePr/>
          <p:nvPr/>
        </p:nvGraphicFramePr>
        <p:xfrm>
          <a:off xmlns:a="http://schemas.openxmlformats.org/drawingml/2006/main" x="552450" y="1562100"/>
          <a:ext xmlns:a="http://schemas.openxmlformats.org/drawingml/2006/main" cx="11049000" cy="2476500"/>
        </p:xfrm>
        <a:graphic xmlns:a="http://schemas.openxmlformats.org/drawingml/2006/main">
          <a:graphicData uri="http://schemas.openxmlformats.org/drawingml/2006/table">
            <a:tbl>
              <a:tblPr/>
              <a:tblGrid>
                <a:gridCol w="1988820"/>
                <a:gridCol w="4530090"/>
                <a:gridCol w="4530090"/>
              </a:tblGrid>
              <a:tr h="495300">
                <a:tc>
                  <a:txBody>
                    <a:bodyPr/>
                    <a:lstStyle/>
                    <a:p>
                      <a:r>
                        <a:rPr sz="1650" b="1">
                          <a:solidFill>
                            <a:srgbClr val="FFFFFF"/>
                          </a:solidFill>
                          <a:latin typeface="Arial"/>
                          <a:ea typeface="Arial"/>
                          <a:cs typeface="Arial"/>
                        </a:rPr>
                        <a:t>Stage</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Spline + PCA</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Neural models</a:t>
                      </a:r>
                    </a:p>
                  </a:txBody>
                  <a:tcPr marL="114300" marR="95250" marT="66675" marB="57150" anchor="ctr">
                    <a:solidFill>
                      <a:srgbClr val="18384B"/>
                    </a:solidFill>
                  </a:tcPr>
                </a:tc>
              </a:tr>
              <a:tr h="495300">
                <a:tc>
                  <a:txBody>
                    <a:bodyPr/>
                    <a:lstStyle/>
                    <a:p>
                      <a:r>
                        <a:rPr sz="1650" b="0">
                          <a:solidFill>
                            <a:srgbClr val="18384B"/>
                          </a:solidFill>
                          <a:latin typeface="Arial"/>
                          <a:ea typeface="Arial"/>
                          <a:cs typeface="Arial"/>
                        </a:rPr>
                        <a:t>Predictors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n PCA scores + 5 conditions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Latent code + conditions where enabled</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Targets</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Two standardized log(t + .001) values</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Same two standardized targets</a:t>
                      </a:r>
                    </a:p>
                  </a:txBody>
                  <a:tcPr marL="114300" marR="95250" marT="66675" marB="57150" anchor="ctr">
                    <a:solidFill>
                      <a:srgbClr val="FFFFFF"/>
                    </a:solidFill>
                  </a:tcPr>
                </a:tc>
              </a:tr>
              <a:tr h="495300">
                <a:tc>
                  <a:txBody>
                    <a:bodyPr/>
                    <a:lstStyle/>
                    <a:p>
                      <a:r>
                        <a:rPr sz="1650" b="0">
                          <a:solidFill>
                            <a:srgbClr val="18384B"/>
                          </a:solidFill>
                          <a:latin typeface="Arial"/>
                          <a:ea typeface="Arial"/>
                          <a:cs typeface="Arial"/>
                        </a:rPr>
                        <a:t>Predictor</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Ridge, alpha selected on validation</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Separate decoder output head</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Inverse</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Undo scaling, exponentiate, subtract .001</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Same inverse transform</a:t>
                      </a:r>
                    </a:p>
                  </a:txBody>
                  <a:tcPr marL="114300" marR="95250" marT="66675" marB="5715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37003FE6-A9D4-4C4C-B686-B7AEB9A4DBA6}"/>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Observed timing never enters the trajectory encoder. Reconstruction-time timing prediction sees the observed shape.</a:t>
            </a:r>
          </a:p>
        </p:txBody>
      </p:sp>
      <p:sp>
        <p:nvSpPr>
          <p:cNvPr id="5" name="">
            <a:extLst xmlns:a="http://schemas.openxmlformats.org/drawingml/2006/main">
              <a:ext uri="{FF2B5EF4-FFF2-40B4-BE49-F238E27FC236}">
                <a16:creationId xmlns:a16="http://schemas.microsoft.com/office/drawing/2014/main" id="{98FB1096-6EE2-4934-ACCE-B9BBE009001E}"/>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14 / 25</a:t>
            </a:r>
          </a:p>
        </p:txBody>
      </p:sp>
    </p:spTree>
    <p:extLst>
      <p:ext uri="{BB962C8B-B14F-4D97-AF65-F5344CB8AC3E}">
        <p14:creationId xmlns:p14="http://schemas.microsoft.com/office/powerpoint/2010/main" val="75644149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42F3AB-3963-4481-8391-218242F189FC}"/>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83209444-223D-460D-AE18-5974554FEFC1}"/>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the neural training objective</a:t>
            </a:r>
          </a:p>
        </p:txBody>
      </p:sp>
      <p:sp>
        <p:nvSpPr>
          <p:cNvPr id="3" name="">
            <a:extLst xmlns:a="http://schemas.openxmlformats.org/drawingml/2006/main">
              <a:ext uri="{FF2B5EF4-FFF2-40B4-BE49-F238E27FC236}">
                <a16:creationId xmlns:a16="http://schemas.microsoft.com/office/drawing/2014/main" id="{925A393E-A127-476E-9D8F-2365840B5664}"/>
              </a:ext>
            </a:extLst>
          </p:cNvPr>
          <p:cNvSpPr>
            <a:spLocks xmlns:a="http://schemas.openxmlformats.org/drawingml/2006/main" noGrp="1"/>
          </p:cNvSpPr>
          <p:nvPr/>
        </p:nvSpPr>
        <p:spPr>
          <a:xfrm xmlns:a="http://schemas.openxmlformats.org/drawingml/2006/main">
            <a:off x="552450" y="1562100"/>
            <a:ext cx="110013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Coordinate error sums 200 squared differences.</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Timing error sums two squared differences and receives weight 20.</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KL sums across latent dimensions; the batch averages the total.</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dfd487c58f4444f"/>
          <a:stretch xmlns:a="http://schemas.openxmlformats.org/drawingml/2006/main"/>
        </p:blipFill>
        <p:spPr>
          <a:xfrm xmlns:a="http://schemas.openxmlformats.org/drawingml/2006/main">
            <a:off x="1016402" y="3171825"/>
            <a:ext cx="9740096" cy="6477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2D2900A-1FB3-43FB-8A14-AB33A861DF0B}"/>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Replacing both summed terms by separate MSE means would change the effective timing weight.</a:t>
            </a:r>
          </a:p>
        </p:txBody>
      </p:sp>
      <p:sp>
        <p:nvSpPr>
          <p:cNvPr id="6" name="">
            <a:extLst xmlns:a="http://schemas.openxmlformats.org/drawingml/2006/main">
              <a:ext uri="{FF2B5EF4-FFF2-40B4-BE49-F238E27FC236}">
                <a16:creationId xmlns:a16="http://schemas.microsoft.com/office/drawing/2014/main" id="{7B37112E-DE3C-43D9-B68C-D94CE6BE126F}"/>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15 / 25</a:t>
            </a:r>
          </a:p>
        </p:txBody>
      </p:sp>
    </p:spTree>
    <p:extLst>
      <p:ext uri="{BB962C8B-B14F-4D97-AF65-F5344CB8AC3E}">
        <p14:creationId xmlns:p14="http://schemas.microsoft.com/office/powerpoint/2010/main" val="107767769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2615EDC-5B8B-4277-8296-5FF28B4F8FBF}"/>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5C39FF86-759A-484F-8EBC-962F4B8D8D2A}"/>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VAE, CVAE and CAE</a:t>
            </a:r>
          </a:p>
        </p:txBody>
      </p:sp>
      <p:graphicFrame>
        <p:nvGraphicFramePr>
          <p:cNvPr id="8" name=""/>
          <p:cNvGraphicFramePr/>
          <p:nvPr/>
        </p:nvGraphicFramePr>
        <p:xfrm>
          <a:off xmlns:a="http://schemas.openxmlformats.org/drawingml/2006/main" x="552450" y="1562100"/>
          <a:ext xmlns:a="http://schemas.openxmlformats.org/drawingml/2006/main" cx="11049000" cy="2971800"/>
        </p:xfrm>
        <a:graphic xmlns:a="http://schemas.openxmlformats.org/drawingml/2006/main">
          <a:graphicData uri="http://schemas.openxmlformats.org/drawingml/2006/table">
            <a:tbl>
              <a:tblPr/>
              <a:tblGrid>
                <a:gridCol w="3314700"/>
                <a:gridCol w="1878330"/>
                <a:gridCol w="2927985"/>
                <a:gridCol w="2927985"/>
              </a:tblGrid>
              <a:tr h="495300">
                <a:tc>
                  <a:txBody>
                    <a:bodyPr/>
                    <a:lstStyle/>
                    <a:p>
                      <a:r>
                        <a:rPr sz="1650" b="1">
                          <a:solidFill>
                            <a:srgbClr val="FFFFFF"/>
                          </a:solidFill>
                          <a:latin typeface="Arial"/>
                          <a:ea typeface="Arial"/>
                          <a:cs typeface="Arial"/>
                        </a:rPr>
                        <a:t>Property</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VAE</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CVAE</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CAE</a:t>
                      </a:r>
                    </a:p>
                  </a:txBody>
                  <a:tcPr marL="114300" marR="95250" marT="66675" marB="57150" anchor="ctr">
                    <a:solidFill>
                      <a:srgbClr val="18384B"/>
                    </a:solidFill>
                  </a:tcPr>
                </a:tc>
              </a:tr>
              <a:tr h="495300">
                <a:tc>
                  <a:txBody>
                    <a:bodyPr/>
                    <a:lstStyle/>
                    <a:p>
                      <a:r>
                        <a:rPr sz="1650" b="0">
                          <a:solidFill>
                            <a:srgbClr val="18384B"/>
                          </a:solidFill>
                          <a:latin typeface="Arial"/>
                          <a:ea typeface="Arial"/>
                          <a:cs typeface="Arial"/>
                        </a:rPr>
                        <a:t>Trajectory encoder</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Two hidden layers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Two hidden layers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Two hidden layers</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Task inputs</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Masked to zero</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Encoder and decoder</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Encoder and decoder</a:t>
                      </a:r>
                    </a:p>
                  </a:txBody>
                  <a:tcPr marL="114300" marR="95250" marT="66675" marB="57150" anchor="ctr">
                    <a:solidFill>
                      <a:srgbClr val="FFFFFF"/>
                    </a:solidFill>
                  </a:tcPr>
                </a:tc>
              </a:tr>
              <a:tr h="495300">
                <a:tc>
                  <a:txBody>
                    <a:bodyPr/>
                    <a:lstStyle/>
                    <a:p>
                      <a:r>
                        <a:rPr sz="1650" b="0">
                          <a:solidFill>
                            <a:srgbClr val="18384B"/>
                          </a:solidFill>
                          <a:latin typeface="Arial"/>
                          <a:ea typeface="Arial"/>
                          <a:cs typeface="Arial"/>
                        </a:rPr>
                        <a:t>Latent training code</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Gaussian sample</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Gaussian sample</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Deterministic</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KL penalty</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Yes</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Yes</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No</a:t>
                      </a:r>
                    </a:p>
                  </a:txBody>
                  <a:tcPr marL="114300" marR="95250" marT="66675" marB="57150" anchor="ctr">
                    <a:solidFill>
                      <a:srgbClr val="FFFFFF"/>
                    </a:solidFill>
                  </a:tcPr>
                </a:tc>
              </a:tr>
              <a:tr h="495300">
                <a:tc>
                  <a:txBody>
                    <a:bodyPr/>
                    <a:lstStyle/>
                    <a:p>
                      <a:r>
                        <a:rPr sz="1650" b="0">
                          <a:solidFill>
                            <a:srgbClr val="18384B"/>
                          </a:solidFill>
                          <a:latin typeface="Arial"/>
                          <a:ea typeface="Arial"/>
                          <a:cs typeface="Arial"/>
                        </a:rPr>
                        <a:t>Reconstruction code</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Posterior mean</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Posterior mean</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Deterministic code</a:t>
                      </a:r>
                    </a:p>
                  </a:txBody>
                  <a:tcPr marL="114300" marR="95250" marT="66675" marB="57150" anchor="ctr">
                    <a:solidFill>
                      <a:srgbClr val="F1F4F6"/>
                    </a:solidFill>
                  </a:tcPr>
                </a:tc>
              </a:tr>
            </a:tbl>
          </a:graphicData>
        </a:graphic>
      </p:graphicFrame>
      <p:sp>
        <p:nvSpPr>
          <p:cNvPr id="4" name="">
            <a:extLst xmlns:a="http://schemas.openxmlformats.org/drawingml/2006/main">
              <a:ext uri="{FF2B5EF4-FFF2-40B4-BE49-F238E27FC236}">
                <a16:creationId xmlns:a16="http://schemas.microsoft.com/office/drawing/2014/main" id="{8E42BC4D-049E-430E-A2A4-16F3E6545E3C}"/>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A nonsignificant conditional-model advantage does not mean the experimental conditions are irrelevant.</a:t>
            </a:r>
          </a:p>
        </p:txBody>
      </p:sp>
      <p:sp>
        <p:nvSpPr>
          <p:cNvPr id="5" name="">
            <a:extLst xmlns:a="http://schemas.openxmlformats.org/drawingml/2006/main">
              <a:ext uri="{FF2B5EF4-FFF2-40B4-BE49-F238E27FC236}">
                <a16:creationId xmlns:a16="http://schemas.microsoft.com/office/drawing/2014/main" id="{AED89B6B-7CFB-4B03-91CA-111303108FC5}"/>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16 / 25</a:t>
            </a:r>
          </a:p>
        </p:txBody>
      </p:sp>
    </p:spTree>
    <p:extLst>
      <p:ext uri="{BB962C8B-B14F-4D97-AF65-F5344CB8AC3E}">
        <p14:creationId xmlns:p14="http://schemas.microsoft.com/office/powerpoint/2010/main" val="202676539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065F51B-DCF8-4813-808E-928DC5AE5BA0}"/>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F3C1B5CD-F8C4-4883-A588-EF27E34D005F}"/>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where the generated variation comes from</a:t>
            </a:r>
          </a:p>
        </p:txBody>
      </p:sp>
      <p:sp>
        <p:nvSpPr>
          <p:cNvPr id="3" name="">
            <a:extLst xmlns:a="http://schemas.openxmlformats.org/drawingml/2006/main">
              <a:ext uri="{FF2B5EF4-FFF2-40B4-BE49-F238E27FC236}">
                <a16:creationId xmlns:a16="http://schemas.microsoft.com/office/drawing/2014/main" id="{8037EB3B-1ABE-4702-90EC-59A4348AFF46}"/>
              </a:ext>
            </a:extLst>
          </p:cNvPr>
          <p:cNvSpPr>
            <a:spLocks xmlns:a="http://schemas.openxmlformats.org/drawingml/2006/main" noGrp="1"/>
          </p:cNvSpPr>
          <p:nvPr/>
        </p:nvSpPr>
        <p:spPr>
          <a:xfrm xmlns:a="http://schemas.openxmlformats.org/drawingml/2006/main">
            <a:off x="552450" y="1562100"/>
            <a:ext cx="110013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The personal center averages context codes.</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Training residuals estimate within-person latent variation.</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Variational models also add average posterior variance.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d829cc00681402e"/>
          <a:stretch xmlns:a="http://schemas.openxmlformats.org/drawingml/2006/main"/>
        </p:blipFill>
        <p:spPr>
          <a:xfrm xmlns:a="http://schemas.openxmlformats.org/drawingml/2006/main">
            <a:off x="1327954" y="3171825"/>
            <a:ext cx="9116992" cy="6477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AB489D6-BAC8-400A-8F61-FBE472D319B3}"/>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One shared covariance for every participant; 120 draws around each personal center.</a:t>
            </a:r>
          </a:p>
        </p:txBody>
      </p:sp>
      <p:sp>
        <p:nvSpPr>
          <p:cNvPr id="6" name="">
            <a:extLst xmlns:a="http://schemas.openxmlformats.org/drawingml/2006/main">
              <a:ext uri="{FF2B5EF4-FFF2-40B4-BE49-F238E27FC236}">
                <a16:creationId xmlns:a16="http://schemas.microsoft.com/office/drawing/2014/main" id="{005BF9D2-CCEF-48A9-881B-2293FF09C7BE}"/>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17 / 25</a:t>
            </a:r>
          </a:p>
        </p:txBody>
      </p:sp>
    </p:spTree>
    <p:extLst>
      <p:ext uri="{BB962C8B-B14F-4D97-AF65-F5344CB8AC3E}">
        <p14:creationId xmlns:p14="http://schemas.microsoft.com/office/powerpoint/2010/main" val="32899052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8150A2-F94F-4973-9C3E-80E3FFB079D6}"/>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35DC1233-7E80-4C54-8AE5-DB679009EC3A}"/>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leakage and held-out evaluation</a:t>
            </a:r>
          </a:p>
        </p:txBody>
      </p:sp>
      <p:graphicFrame>
        <p:nvGraphicFramePr>
          <p:cNvPr id="8" name=""/>
          <p:cNvGraphicFramePr/>
          <p:nvPr/>
        </p:nvGraphicFramePr>
        <p:xfrm>
          <a:off xmlns:a="http://schemas.openxmlformats.org/drawingml/2006/main" x="552450" y="1562100"/>
          <a:ext xmlns:a="http://schemas.openxmlformats.org/drawingml/2006/main" cx="11049000" cy="2933700"/>
        </p:xfrm>
        <a:graphic xmlns:a="http://schemas.openxmlformats.org/drawingml/2006/main">
          <a:graphicData uri="http://schemas.openxmlformats.org/drawingml/2006/table">
            <a:tbl>
              <a:tblPr/>
              <a:tblGrid>
                <a:gridCol w="3314700"/>
                <a:gridCol w="1933575"/>
                <a:gridCol w="1933575"/>
                <a:gridCol w="1933575"/>
                <a:gridCol w="1933575"/>
              </a:tblGrid>
              <a:tr h="419100">
                <a:tc>
                  <a:txBody>
                    <a:bodyPr/>
                    <a:lstStyle/>
                    <a:p>
                      <a:r>
                        <a:rPr sz="1650" b="1">
                          <a:solidFill>
                            <a:srgbClr val="FFFFFF"/>
                          </a:solidFill>
                          <a:latin typeface="Arial"/>
                          <a:ea typeface="Arial"/>
                          <a:cs typeface="Arial"/>
                        </a:rPr>
                        <a:t>Information</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Training</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Validation</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Test context</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Test query</a:t>
                      </a:r>
                    </a:p>
                  </a:txBody>
                  <a:tcPr marL="114300" marR="95250" marT="66675" marB="57150" anchor="ctr">
                    <a:solidFill>
                      <a:srgbClr val="18384B"/>
                    </a:solidFill>
                  </a:tcPr>
                </a:tc>
              </a:tr>
              <a:tr h="419100">
                <a:tc>
                  <a:txBody>
                    <a:bodyPr/>
                    <a:lstStyle/>
                    <a:p>
                      <a:r>
                        <a:rPr sz="1650" b="0">
                          <a:solidFill>
                            <a:srgbClr val="18384B"/>
                          </a:solidFill>
                          <a:latin typeface="Arial"/>
                          <a:ea typeface="Arial"/>
                          <a:cs typeface="Arial"/>
                        </a:rPr>
                        <a:t>Fit network/PCA/scalers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Yes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No</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No</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No</a:t>
                      </a:r>
                    </a:p>
                  </a:txBody>
                  <a:tcPr marL="114300" marR="95250" marT="66675" marB="57150" anchor="ctr">
                    <a:solidFill>
                      <a:srgbClr val="F1F4F6"/>
                    </a:solidFill>
                  </a:tcPr>
                </a:tc>
              </a:tr>
              <a:tr h="419100">
                <a:tc>
                  <a:txBody>
                    <a:bodyPr/>
                    <a:lstStyle/>
                    <a:p>
                      <a:r>
                        <a:rPr sz="1650" b="0">
                          <a:solidFill>
                            <a:srgbClr val="18384B"/>
                          </a:solidFill>
                          <a:latin typeface="Arial"/>
                          <a:ea typeface="Arial"/>
                          <a:cs typeface="Arial"/>
                        </a:rPr>
                        <a:t>Select checkpoint/settings</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No</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Yes</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No</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No</a:t>
                      </a:r>
                    </a:p>
                  </a:txBody>
                  <a:tcPr marL="114300" marR="95250" marT="66675" marB="57150" anchor="ctr">
                    <a:solidFill>
                      <a:srgbClr val="FFFFFF"/>
                    </a:solidFill>
                  </a:tcPr>
                </a:tc>
              </a:tr>
              <a:tr h="419100">
                <a:tc>
                  <a:txBody>
                    <a:bodyPr/>
                    <a:lstStyle/>
                    <a:p>
                      <a:r>
                        <a:rPr sz="1650" b="0">
                          <a:solidFill>
                            <a:srgbClr val="18384B"/>
                          </a:solidFill>
                          <a:latin typeface="Arial"/>
                          <a:ea typeface="Arial"/>
                          <a:cs typeface="Arial"/>
                        </a:rPr>
                        <a:t>Personal center</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No</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No</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Yes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No</a:t>
                      </a:r>
                    </a:p>
                  </a:txBody>
                  <a:tcPr marL="114300" marR="95250" marT="66675" marB="57150" anchor="ctr">
                    <a:solidFill>
                      <a:srgbClr val="F1F4F6"/>
                    </a:solidFill>
                  </a:tcPr>
                </a:tc>
              </a:tr>
              <a:tr h="419100">
                <a:tc>
                  <a:txBody>
                    <a:bodyPr/>
                    <a:lstStyle/>
                    <a:p>
                      <a:r>
                        <a:rPr sz="1650" b="0">
                          <a:solidFill>
                            <a:srgbClr val="18384B"/>
                          </a:solidFill>
                          <a:latin typeface="Arial"/>
                          <a:ea typeface="Arial"/>
                          <a:cs typeface="Arial"/>
                        </a:rPr>
                        <a:t>Reconstruction input</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No</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No</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No</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Observed path</a:t>
                      </a:r>
                    </a:p>
                  </a:txBody>
                  <a:tcPr marL="114300" marR="95250" marT="66675" marB="57150" anchor="ctr">
                    <a:solidFill>
                      <a:srgbClr val="FFFFFF"/>
                    </a:solidFill>
                  </a:tcPr>
                </a:tc>
              </a:tr>
              <a:tr h="419100">
                <a:tc>
                  <a:txBody>
                    <a:bodyPr/>
                    <a:lstStyle/>
                    <a:p>
                      <a:r>
                        <a:rPr sz="1650" b="0">
                          <a:solidFill>
                            <a:srgbClr val="18384B"/>
                          </a:solidFill>
                          <a:latin typeface="Arial"/>
                          <a:ea typeface="Arial"/>
                          <a:cs typeface="Arial"/>
                        </a:rPr>
                        <a:t>Generation task mixture</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No</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No</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No</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Metadata only</a:t>
                      </a:r>
                    </a:p>
                  </a:txBody>
                  <a:tcPr marL="114300" marR="95250" marT="66675" marB="57150" anchor="ctr">
                    <a:solidFill>
                      <a:srgbClr val="F1F4F6"/>
                    </a:solidFill>
                  </a:tcPr>
                </a:tc>
              </a:tr>
              <a:tr h="419100">
                <a:tc>
                  <a:txBody>
                    <a:bodyPr/>
                    <a:lstStyle/>
                    <a:p>
                      <a:r>
                        <a:rPr sz="1650" b="0">
                          <a:solidFill>
                            <a:srgbClr val="18384B"/>
                          </a:solidFill>
                          <a:latin typeface="Arial"/>
                          <a:ea typeface="Arial"/>
                          <a:cs typeface="Arial"/>
                        </a:rPr>
                        <a:t>Generation scoring</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No</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No</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No</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Paths and timings</a:t>
                      </a:r>
                    </a:p>
                  </a:txBody>
                  <a:tcPr marL="114300" marR="95250" marT="66675" marB="5715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1FE81F3-9021-4A0B-811B-2295945A1D40}"/>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Population model fitting and participant enrollment are separate stages.</a:t>
            </a:r>
          </a:p>
        </p:txBody>
      </p:sp>
      <p:sp>
        <p:nvSpPr>
          <p:cNvPr id="5" name="">
            <a:extLst xmlns:a="http://schemas.openxmlformats.org/drawingml/2006/main">
              <a:ext uri="{FF2B5EF4-FFF2-40B4-BE49-F238E27FC236}">
                <a16:creationId xmlns:a16="http://schemas.microsoft.com/office/drawing/2014/main" id="{3D0358CE-5A93-48DC-A1EB-835AAEB710AF}"/>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18 / 25</a:t>
            </a:r>
          </a:p>
        </p:txBody>
      </p:sp>
    </p:spTree>
    <p:extLst>
      <p:ext uri="{BB962C8B-B14F-4D97-AF65-F5344CB8AC3E}">
        <p14:creationId xmlns:p14="http://schemas.microsoft.com/office/powerpoint/2010/main" val="106626500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19CB7BE-10E4-4574-9AC6-F7EF041788D7}"/>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B859980B-ECC9-4A17-B157-4177C4455C86}"/>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what the eleven features measure</a:t>
            </a:r>
          </a:p>
        </p:txBody>
      </p:sp>
      <p:graphicFrame>
        <p:nvGraphicFramePr>
          <p:cNvPr id="8" name=""/>
          <p:cNvGraphicFramePr/>
          <p:nvPr/>
        </p:nvGraphicFramePr>
        <p:xfrm>
          <a:off xmlns:a="http://schemas.openxmlformats.org/drawingml/2006/main" x="552450" y="1562100"/>
          <a:ext xmlns:a="http://schemas.openxmlformats.org/drawingml/2006/main" cx="11049000" cy="2476500"/>
        </p:xfrm>
        <a:graphic xmlns:a="http://schemas.openxmlformats.org/drawingml/2006/main">
          <a:graphicData uri="http://schemas.openxmlformats.org/drawingml/2006/table">
            <a:tbl>
              <a:tblPr/>
              <a:tblGrid>
                <a:gridCol w="2430780"/>
                <a:gridCol w="8618220"/>
              </a:tblGrid>
              <a:tr h="495300">
                <a:tc>
                  <a:txBody>
                    <a:bodyPr/>
                    <a:lstStyle/>
                    <a:p>
                      <a:r>
                        <a:rPr sz="1650" b="1">
                          <a:solidFill>
                            <a:srgbClr val="FFFFFF"/>
                          </a:solidFill>
                          <a:latin typeface="Arial"/>
                          <a:ea typeface="Arial"/>
                          <a:cs typeface="Arial"/>
                        </a:rPr>
                        <a:t>Group</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Features</a:t>
                      </a:r>
                    </a:p>
                  </a:txBody>
                  <a:tcPr marL="114300" marR="95250" marT="66675" marB="57150" anchor="ctr">
                    <a:solidFill>
                      <a:srgbClr val="18384B"/>
                    </a:solidFill>
                  </a:tcPr>
                </a:tc>
              </a:tr>
              <a:tr h="495300">
                <a:tc>
                  <a:txBody>
                    <a:bodyPr/>
                    <a:lstStyle/>
                    <a:p>
                      <a:r>
                        <a:rPr sz="1650" b="0">
                          <a:solidFill>
                            <a:srgbClr val="18384B"/>
                          </a:solidFill>
                          <a:latin typeface="Arial"/>
                          <a:ea typeface="Arial"/>
                          <a:cs typeface="Arial"/>
                        </a:rPr>
                        <a:t>Timing</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Initiation time; movement time; relative time to peak speed</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Speed</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Peak speed; heuristic speed-peak count</a:t>
                      </a:r>
                    </a:p>
                  </a:txBody>
                  <a:tcPr marL="114300" marR="95250" marT="66675" marB="57150" anchor="ctr">
                    <a:solidFill>
                      <a:srgbClr val="FFFFFF"/>
                    </a:solidFill>
                  </a:tcPr>
                </a:tc>
              </a:tr>
              <a:tr h="495300">
                <a:tc>
                  <a:txBody>
                    <a:bodyPr/>
                    <a:lstStyle/>
                    <a:p>
                      <a:r>
                        <a:rPr sz="1650" b="0">
                          <a:solidFill>
                            <a:srgbClr val="18384B"/>
                          </a:solidFill>
                          <a:latin typeface="Arial"/>
                          <a:ea typeface="Arial"/>
                          <a:cs typeface="Arial"/>
                        </a:rPr>
                        <a:t>Geometry</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Path length; straight-line distance; curvature ratio; maximum lateral deviation</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Endpoint</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Final x; final y</a:t>
                      </a:r>
                    </a:p>
                  </a:txBody>
                  <a:tcPr marL="114300" marR="95250" marT="66675" marB="5715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14EF4523-192D-49BD-885F-E0B3A3EFA79B}"/>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Generated feature computation uses predicted timing and an onset-based movement crop.</a:t>
            </a:r>
          </a:p>
        </p:txBody>
      </p:sp>
      <p:sp>
        <p:nvSpPr>
          <p:cNvPr id="5" name="">
            <a:extLst xmlns:a="http://schemas.openxmlformats.org/drawingml/2006/main">
              <a:ext uri="{FF2B5EF4-FFF2-40B4-BE49-F238E27FC236}">
                <a16:creationId xmlns:a16="http://schemas.microsoft.com/office/drawing/2014/main" id="{AC30912F-0915-4D80-9137-7CD1AF82B36B}"/>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19 / 25</a:t>
            </a:r>
          </a:p>
        </p:txBody>
      </p:sp>
    </p:spTree>
    <p:extLst>
      <p:ext uri="{BB962C8B-B14F-4D97-AF65-F5344CB8AC3E}">
        <p14:creationId xmlns:p14="http://schemas.microsoft.com/office/powerpoint/2010/main" val="150417636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79492CF-B27F-4B14-8612-915979BA293B}"/>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F7CB5B4C-D265-47B6-854E-CFFFC5685860}"/>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KS and joint distribution distances</a:t>
            </a:r>
          </a:p>
        </p:txBody>
      </p:sp>
      <p:sp>
        <p:nvSpPr>
          <p:cNvPr id="3" name="">
            <a:extLst xmlns:a="http://schemas.openxmlformats.org/drawingml/2006/main">
              <a:ext uri="{FF2B5EF4-FFF2-40B4-BE49-F238E27FC236}">
                <a16:creationId xmlns:a16="http://schemas.microsoft.com/office/drawing/2014/main" id="{AB004CA8-61F5-4460-804D-40C1354B1C37}"/>
              </a:ext>
            </a:extLst>
          </p:cNvPr>
          <p:cNvSpPr>
            <a:spLocks xmlns:a="http://schemas.openxmlformats.org/drawingml/2006/main" noGrp="1"/>
          </p:cNvSpPr>
          <p:nvPr/>
        </p:nvSpPr>
        <p:spPr>
          <a:xfrm xmlns:a="http://schemas.openxmlformats.org/drawingml/2006/main">
            <a:off x="552450" y="1562100"/>
            <a:ext cx="110013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KS: largest gap between two empirical cumulative curves.</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Mean KS: average of eleven feature statistics.</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Energy and MMD: compare whole vectors and account for joint structure.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a8df1c3400c4d12"/>
          <a:stretch xmlns:a="http://schemas.openxmlformats.org/drawingml/2006/main"/>
        </p:blipFill>
        <p:spPr>
          <a:xfrm xmlns:a="http://schemas.openxmlformats.org/drawingml/2006/main">
            <a:off x="3928725" y="3171825"/>
            <a:ext cx="3915451" cy="6477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33A827F-7987-4B1A-A971-7CF1B37EA74F}"/>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KS statistics are not p-values. Correlated features can affect joint geometry.</a:t>
            </a:r>
          </a:p>
        </p:txBody>
      </p:sp>
      <p:sp>
        <p:nvSpPr>
          <p:cNvPr id="6" name="">
            <a:extLst xmlns:a="http://schemas.openxmlformats.org/drawingml/2006/main">
              <a:ext uri="{FF2B5EF4-FFF2-40B4-BE49-F238E27FC236}">
                <a16:creationId xmlns:a16="http://schemas.microsoft.com/office/drawing/2014/main" id="{F177F0A8-A2CC-4AA6-98B3-5B4077403CEF}"/>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20 / 25</a:t>
            </a:r>
          </a:p>
        </p:txBody>
      </p:sp>
    </p:spTree>
    <p:extLst>
      <p:ext uri="{BB962C8B-B14F-4D97-AF65-F5344CB8AC3E}">
        <p14:creationId xmlns:p14="http://schemas.microsoft.com/office/powerpoint/2010/main" val="199926787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DAF42E3-D7DE-42B6-8FAC-992B030F6316}"/>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A8FE6430-647F-48E0-AC76-1865BF5FBB9A}"/>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energy discrepancy and mean collapse</a:t>
            </a:r>
          </a:p>
        </p:txBody>
      </p:sp>
      <p:sp>
        <p:nvSpPr>
          <p:cNvPr id="3" name="">
            <a:extLst xmlns:a="http://schemas.openxmlformats.org/drawingml/2006/main">
              <a:ext uri="{FF2B5EF4-FFF2-40B4-BE49-F238E27FC236}">
                <a16:creationId xmlns:a16="http://schemas.microsoft.com/office/drawing/2014/main" id="{E9416E8A-33A0-454C-A3B9-EB3FF6E7339E}"/>
              </a:ext>
            </a:extLst>
          </p:cNvPr>
          <p:cNvSpPr>
            <a:spLocks xmlns:a="http://schemas.openxmlformats.org/drawingml/2006/main" noGrp="1"/>
          </p:cNvSpPr>
          <p:nvPr/>
        </p:nvSpPr>
        <p:spPr>
          <a:xfrm xmlns:a="http://schemas.openxmlformats.org/drawingml/2006/main">
            <a:off x="552450" y="1562100"/>
            <a:ext cx="11001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Energy compares cross-set distances with within-set distances.</a:t>
            </a:r>
          </a:p>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A generator needs plausible variation as well as a good center.</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3ee31f8209624a99"/>
          <a:stretch xmlns:a="http://schemas.openxmlformats.org/drawingml/2006/main"/>
        </p:blipFill>
        <p:spPr>
          <a:xfrm xmlns:a="http://schemas.openxmlformats.org/drawingml/2006/main">
            <a:off x="2916598" y="2266950"/>
            <a:ext cx="5939703" cy="647700"/>
          </a:xfrm>
          <a:prstGeom xmlns:a="http://schemas.openxmlformats.org/drawingml/2006/main" prst="rect">
            <a:avLst/>
          </a:prstGeom>
        </p:spPr>
      </p:pic>
      <p:graphicFrame>
        <p:nvGraphicFramePr>
          <p:cNvPr id="12" name=""/>
          <p:cNvGraphicFramePr/>
          <p:nvPr/>
        </p:nvGraphicFramePr>
        <p:xfrm>
          <a:off xmlns:a="http://schemas.openxmlformats.org/drawingml/2006/main" x="552450" y="3086100"/>
          <a:ext xmlns:a="http://schemas.openxmlformats.org/drawingml/2006/main" cx="11049000" cy="1485900"/>
        </p:xfrm>
        <a:graphic xmlns:a="http://schemas.openxmlformats.org/drawingml/2006/main">
          <a:graphicData uri="http://schemas.openxmlformats.org/drawingml/2006/table">
            <a:tbl>
              <a:tblPr/>
              <a:tblGrid>
                <a:gridCol w="5082540"/>
                <a:gridCol w="2983230"/>
                <a:gridCol w="2983230"/>
              </a:tblGrid>
              <a:tr h="495300">
                <a:tc>
                  <a:txBody>
                    <a:bodyPr/>
                    <a:lstStyle/>
                    <a:p>
                      <a:r>
                        <a:rPr sz="1650" b="1">
                          <a:solidFill>
                            <a:srgbClr val="FFFFFF"/>
                          </a:solidFill>
                          <a:latin typeface="Arial"/>
                          <a:ea typeface="Arial"/>
                          <a:cs typeface="Arial"/>
                        </a:rPr>
                        <a:t>Example reference</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Mean-path RMSE</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Path energy</a:t>
                      </a:r>
                    </a:p>
                  </a:txBody>
                  <a:tcPr marL="114300" marR="95250" marT="66675" marB="57150" anchor="ctr">
                    <a:solidFill>
                      <a:srgbClr val="18384B"/>
                    </a:solidFill>
                  </a:tcPr>
                </a:tc>
              </a:tr>
              <a:tr h="495300">
                <a:tc>
                  <a:txBody>
                    <a:bodyPr/>
                    <a:lstStyle/>
                    <a:p>
                      <a:r>
                        <a:rPr sz="1650" b="0">
                          <a:solidFill>
                            <a:srgbClr val="18384B"/>
                          </a:solidFill>
                          <a:latin typeface="Arial"/>
                          <a:ea typeface="Arial"/>
                          <a:cs typeface="Arial"/>
                        </a:rPr>
                        <a:t>VAE n=8</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0.1604</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0.0548</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Repeated context mean</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0.1146</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0.4621</a:t>
                      </a:r>
                    </a:p>
                  </a:txBody>
                  <a:tcPr marL="114300" marR="95250" marT="66675" marB="5715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230B66CA-9080-4CBD-8449-B9EA33A02C31}"/>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Lower is better. The mean-only output has a closer mean but a much worse distribution.</a:t>
            </a:r>
          </a:p>
        </p:txBody>
      </p:sp>
      <p:sp>
        <p:nvSpPr>
          <p:cNvPr id="7" name="">
            <a:extLst xmlns:a="http://schemas.openxmlformats.org/drawingml/2006/main">
              <a:ext uri="{FF2B5EF4-FFF2-40B4-BE49-F238E27FC236}">
                <a16:creationId xmlns:a16="http://schemas.microsoft.com/office/drawing/2014/main" id="{FA35CD8A-682A-4885-B5FB-5BE81BA9C597}"/>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21 / 25</a:t>
            </a:r>
          </a:p>
        </p:txBody>
      </p:sp>
    </p:spTree>
    <p:extLst>
      <p:ext uri="{BB962C8B-B14F-4D97-AF65-F5344CB8AC3E}">
        <p14:creationId xmlns:p14="http://schemas.microsoft.com/office/powerpoint/2010/main" val="64135476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E3A600-D7F2-4115-BB28-EADAE2BC27E5}"/>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9CC67B7E-8000-4059-B67A-BB1C1252D520}"/>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Gaussian-kernel MMD</a:t>
            </a:r>
          </a:p>
        </p:txBody>
      </p:sp>
      <p:sp>
        <p:nvSpPr>
          <p:cNvPr id="3" name="">
            <a:extLst xmlns:a="http://schemas.openxmlformats.org/drawingml/2006/main">
              <a:ext uri="{FF2B5EF4-FFF2-40B4-BE49-F238E27FC236}">
                <a16:creationId xmlns:a16="http://schemas.microsoft.com/office/drawing/2014/main" id="{B87595EA-4906-4DF6-B8FA-99FFFC248BD8}"/>
              </a:ext>
            </a:extLst>
          </p:cNvPr>
          <p:cNvSpPr>
            <a:spLocks xmlns:a="http://schemas.openxmlformats.org/drawingml/2006/main" noGrp="1"/>
          </p:cNvSpPr>
          <p:nvPr/>
        </p:nvSpPr>
        <p:spPr>
          <a:xfrm xmlns:a="http://schemas.openxmlformats.org/drawingml/2006/main">
            <a:off x="552450" y="1562100"/>
            <a:ext cx="110013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Kernel: exp(−gamma × squared Euclidean distance).</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Gamma comes from the median positive training pair distance.</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Within-set diagonals are excluded in the unbiased estimator.</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adc2453d87f47df"/>
          <a:stretch xmlns:a="http://schemas.openxmlformats.org/drawingml/2006/main"/>
        </p:blipFill>
        <p:spPr>
          <a:xfrm xmlns:a="http://schemas.openxmlformats.org/drawingml/2006/main">
            <a:off x="3877162" y="3171825"/>
            <a:ext cx="4018577" cy="6477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1A86146-E3E9-4954-B511-2E9DC32F33FA}"/>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Finite-sample unbiased MMD squared may be slightly negative. It is not an accuracy percentage.</a:t>
            </a:r>
          </a:p>
        </p:txBody>
      </p:sp>
      <p:sp>
        <p:nvSpPr>
          <p:cNvPr id="6" name="">
            <a:extLst xmlns:a="http://schemas.openxmlformats.org/drawingml/2006/main">
              <a:ext uri="{FF2B5EF4-FFF2-40B4-BE49-F238E27FC236}">
                <a16:creationId xmlns:a16="http://schemas.microsoft.com/office/drawing/2014/main" id="{57B9F622-25CE-4912-9180-E6FB9682B217}"/>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22 / 25</a:t>
            </a:r>
          </a:p>
        </p:txBody>
      </p:sp>
    </p:spTree>
    <p:extLst>
      <p:ext uri="{BB962C8B-B14F-4D97-AF65-F5344CB8AC3E}">
        <p14:creationId xmlns:p14="http://schemas.microsoft.com/office/powerpoint/2010/main" val="170871408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DB74C6-6E40-46B8-BA69-558D89996EF1}"/>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5800CF6A-7006-4125-BB32-351FEE546425}"/>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28 paired scores, not thousands of independent trials</a:t>
            </a:r>
          </a:p>
        </p:txBody>
      </p:sp>
      <p:sp>
        <p:nvSpPr>
          <p:cNvPr id="3" name="">
            <a:extLst xmlns:a="http://schemas.openxmlformats.org/drawingml/2006/main">
              <a:ext uri="{FF2B5EF4-FFF2-40B4-BE49-F238E27FC236}">
                <a16:creationId xmlns:a16="http://schemas.microsoft.com/office/drawing/2014/main" id="{5B3FFE8E-EBE8-4343-BF76-AC3F2250D871}"/>
              </a:ext>
            </a:extLst>
          </p:cNvPr>
          <p:cNvSpPr>
            <a:spLocks xmlns:a="http://schemas.openxmlformats.org/drawingml/2006/main" noGrp="1"/>
          </p:cNvSpPr>
          <p:nvPr/>
        </p:nvSpPr>
        <p:spPr>
          <a:xfrm xmlns:a="http://schemas.openxmlformats.org/drawingml/2006/main">
            <a:off x="552450" y="1562100"/>
            <a:ext cx="110013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First average neural seeds within each participant.</a:t>
            </a:r>
          </a:p>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Then compare paired participant scores using two-sided Pratt Wilcoxon.</a:t>
            </a:r>
          </a:p>
          <a:p xmlns:a="http://schemas.openxmlformats.org/drawingml/2006/main">
            <a:pPr>
              <a:defRPr sz="1725" b="0">
                <a:solidFill>
                  <a:srgbClr val="18384B"/>
                </a:solidFill>
                <a:latin typeface="Arial"/>
                <a:ea typeface="Arial"/>
                <a:cs typeface="Arial"/>
              </a:defRPr>
            </a:pPr>
            <a:r>
              <a:rPr sz="1725" b="0">
                <a:solidFill>
                  <a:srgbClr val="18384B"/>
                </a:solidFill>
                <a:latin typeface="Arial"/>
                <a:ea typeface="Arial"/>
                <a:cs typeface="Arial"/>
              </a:rPr>
              <a:t>Round differences to 12 decimals before ranking.</a:t>
            </a:r>
          </a:p>
        </p:txBody>
      </p:sp>
      <p:graphicFrame>
        <p:nvGraphicFramePr>
          <p:cNvPr id="10" name=""/>
          <p:cNvGraphicFramePr/>
          <p:nvPr/>
        </p:nvGraphicFramePr>
        <p:xfrm>
          <a:off xmlns:a="http://schemas.openxmlformats.org/drawingml/2006/main" x="552450" y="2762250"/>
          <a:ext xmlns:a="http://schemas.openxmlformats.org/drawingml/2006/main" cx="11049000" cy="2476500"/>
        </p:xfrm>
        <a:graphic xmlns:a="http://schemas.openxmlformats.org/drawingml/2006/main">
          <a:graphicData uri="http://schemas.openxmlformats.org/drawingml/2006/table">
            <a:tbl>
              <a:tblPr/>
              <a:tblGrid>
                <a:gridCol w="7623810"/>
                <a:gridCol w="3425190"/>
              </a:tblGrid>
              <a:tr h="495300">
                <a:tc>
                  <a:txBody>
                    <a:bodyPr/>
                    <a:lstStyle/>
                    <a:p>
                      <a:r>
                        <a:rPr sz="1650" b="1">
                          <a:solidFill>
                            <a:srgbClr val="FFFFFF"/>
                          </a:solidFill>
                          <a:latin typeface="Arial"/>
                          <a:ea typeface="Arial"/>
                          <a:cs typeface="Arial"/>
                        </a:rPr>
                        <a:t>Correction family</a:t>
                      </a:r>
                    </a:p>
                  </a:txBody>
                  <a:tcPr marL="114300" marR="95250" marT="66675" marB="57150" anchor="ctr">
                    <a:solidFill>
                      <a:srgbClr val="18384B"/>
                    </a:solidFill>
                  </a:tcPr>
                </a:tc>
                <a:tc>
                  <a:txBody>
                    <a:bodyPr/>
                    <a:lstStyle/>
                    <a:p>
                      <a:r>
                        <a:rPr sz="1650" b="1">
                          <a:solidFill>
                            <a:srgbClr val="FFFFFF"/>
                          </a:solidFill>
                          <a:latin typeface="Arial"/>
                          <a:ea typeface="Arial"/>
                          <a:cs typeface="Arial"/>
                        </a:rPr>
                        <a:t>Tests</a:t>
                      </a:r>
                    </a:p>
                  </a:txBody>
                  <a:tcPr marL="114300" marR="95250" marT="66675" marB="57150" anchor="ctr">
                    <a:solidFill>
                      <a:srgbClr val="18384B"/>
                    </a:solidFill>
                  </a:tcPr>
                </a:tc>
              </a:tr>
              <a:tr h="495300">
                <a:tc>
                  <a:txBody>
                    <a:bodyPr/>
                    <a:lstStyle/>
                    <a:p>
                      <a:r>
                        <a:rPr sz="1650" b="0">
                          <a:solidFill>
                            <a:srgbClr val="18384B"/>
                          </a:solidFill>
                          <a:latin typeface="Arial"/>
                          <a:ea typeface="Arial"/>
                          <a:cs typeface="Arial"/>
                        </a:rPr>
                        <a:t>Original seven endpoints × ten pairs × two dimensions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140</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New two path endpoints × ten pairs × two dimensions × two geometries</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80</a:t>
                      </a:r>
                    </a:p>
                  </a:txBody>
                  <a:tcPr marL="114300" marR="95250" marT="66675" marB="57150" anchor="ctr">
                    <a:solidFill>
                      <a:srgbClr val="FFFFFF"/>
                    </a:solidFill>
                  </a:tcPr>
                </a:tc>
              </a:tr>
              <a:tr h="495300">
                <a:tc>
                  <a:txBody>
                    <a:bodyPr/>
                    <a:lstStyle/>
                    <a:p>
                      <a:r>
                        <a:rPr sz="1650" b="0">
                          <a:solidFill>
                            <a:srgbClr val="18384B"/>
                          </a:solidFill>
                          <a:latin typeface="Arial"/>
                          <a:ea typeface="Arial"/>
                          <a:cs typeface="Arial"/>
                        </a:rPr>
                        <a:t>VAE replacement controls</a:t>
                      </a:r>
                    </a:p>
                  </a:txBody>
                  <a:tcPr marL="114300" marR="95250" marT="66675" marB="57150" anchor="ctr">
                    <a:solidFill>
                      <a:srgbClr val="F1F4F6"/>
                    </a:solidFill>
                  </a:tcPr>
                </a:tc>
                <a:tc>
                  <a:txBody>
                    <a:bodyPr/>
                    <a:lstStyle/>
                    <a:p>
                      <a:r>
                        <a:rPr sz="1650" b="0">
                          <a:solidFill>
                            <a:srgbClr val="18384B"/>
                          </a:solidFill>
                          <a:latin typeface="Arial"/>
                          <a:ea typeface="Arial"/>
                          <a:cs typeface="Arial"/>
                        </a:rPr>
                        <a:t>6</a:t>
                      </a:r>
                    </a:p>
                  </a:txBody>
                  <a:tcPr marL="114300" marR="95250" marT="66675" marB="57150" anchor="ctr">
                    <a:solidFill>
                      <a:srgbClr val="F1F4F6"/>
                    </a:solidFill>
                  </a:tcPr>
                </a:tc>
              </a:tr>
              <a:tr h="495300">
                <a:tc>
                  <a:txBody>
                    <a:bodyPr/>
                    <a:lstStyle/>
                    <a:p>
                      <a:r>
                        <a:rPr sz="1650" b="0">
                          <a:solidFill>
                            <a:srgbClr val="18384B"/>
                          </a:solidFill>
                          <a:latin typeface="Arial"/>
                          <a:ea typeface="Arial"/>
                          <a:cs typeface="Arial"/>
                        </a:rPr>
                        <a:t>CVAE replacement controls</a:t>
                      </a:r>
                    </a:p>
                  </a:txBody>
                  <a:tcPr marL="114300" marR="95250" marT="66675" marB="57150" anchor="ctr">
                    <a:solidFill>
                      <a:srgbClr val="FFFFFF"/>
                    </a:solidFill>
                  </a:tcPr>
                </a:tc>
                <a:tc>
                  <a:txBody>
                    <a:bodyPr/>
                    <a:lstStyle/>
                    <a:p>
                      <a:r>
                        <a:rPr sz="1650" b="0">
                          <a:solidFill>
                            <a:srgbClr val="18384B"/>
                          </a:solidFill>
                          <a:latin typeface="Arial"/>
                          <a:ea typeface="Arial"/>
                          <a:cs typeface="Arial"/>
                        </a:rPr>
                        <a:t>12</a:t>
                      </a:r>
                    </a:p>
                  </a:txBody>
                  <a:tcPr marL="114300" marR="95250" marT="66675" marB="5715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CC4C706-3E4F-42AE-81AF-4E2EF9055DF6}"/>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BH controls false discoveries under its assumptions. Holm is a familywise-error sensitivity. Nonsignificance is not equivalence.</a:t>
            </a:r>
          </a:p>
        </p:txBody>
      </p:sp>
      <p:sp>
        <p:nvSpPr>
          <p:cNvPr id="6" name="">
            <a:extLst xmlns:a="http://schemas.openxmlformats.org/drawingml/2006/main">
              <a:ext uri="{FF2B5EF4-FFF2-40B4-BE49-F238E27FC236}">
                <a16:creationId xmlns:a16="http://schemas.microsoft.com/office/drawing/2014/main" id="{6E6DDC4F-DE0B-474A-8F25-BE179FA09F36}"/>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23 / 25</a:t>
            </a:r>
          </a:p>
        </p:txBody>
      </p:sp>
    </p:spTree>
    <p:extLst>
      <p:ext uri="{BB962C8B-B14F-4D97-AF65-F5344CB8AC3E}">
        <p14:creationId xmlns:p14="http://schemas.microsoft.com/office/powerpoint/2010/main" val="94702898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38DA440-BB12-49D5-9A5E-B17E62AFCA8C}"/>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1B63AE5E-909B-43F5-8C95-EF108A61A47B}"/>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the boundaries of the conclusion</a:t>
            </a:r>
          </a:p>
        </p:txBody>
      </p:sp>
      <p:sp>
        <p:nvSpPr>
          <p:cNvPr id="3" name="">
            <a:extLst xmlns:a="http://schemas.openxmlformats.org/drawingml/2006/main">
              <a:ext uri="{FF2B5EF4-FFF2-40B4-BE49-F238E27FC236}">
                <a16:creationId xmlns:a16="http://schemas.microsoft.com/office/drawing/2014/main" id="{915205F1-795B-46A6-95C2-348A7EEBCF02}"/>
              </a:ext>
            </a:extLst>
          </p:cNvPr>
          <p:cNvSpPr>
            <a:spLocks xmlns:a="http://schemas.openxmlformats.org/drawingml/2006/main" noGrp="1"/>
          </p:cNvSpPr>
          <p:nvPr/>
        </p:nvSpPr>
        <p:spPr>
          <a:xfrm xmlns:a="http://schemas.openxmlformats.org/drawingml/2006/main">
            <a:off x="552450" y="1562100"/>
            <a:ext cx="110013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Useful same-session personal centers do not establish stable traits.</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Direct context summaries beat latent linear probes on all 14 tested targets.</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Condition routes work, but their value depends on the task and model.</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Minimum-jerk decomposition remains a separate investigation.</a:t>
            </a:r>
          </a:p>
        </p:txBody>
      </p:sp>
      <p:sp>
        <p:nvSpPr>
          <p:cNvPr id="4" name="">
            <a:extLst xmlns:a="http://schemas.openxmlformats.org/drawingml/2006/main">
              <a:ext uri="{FF2B5EF4-FFF2-40B4-BE49-F238E27FC236}">
                <a16:creationId xmlns:a16="http://schemas.microsoft.com/office/drawing/2014/main" id="{1B369DE9-D6B0-427F-98DD-9E391C49472C}"/>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The 31-page laboratory report retains the extended results and Jason’s open questions.</a:t>
            </a:r>
          </a:p>
        </p:txBody>
      </p:sp>
      <p:sp>
        <p:nvSpPr>
          <p:cNvPr id="5" name="">
            <a:extLst xmlns:a="http://schemas.openxmlformats.org/drawingml/2006/main">
              <a:ext uri="{FF2B5EF4-FFF2-40B4-BE49-F238E27FC236}">
                <a16:creationId xmlns:a16="http://schemas.microsoft.com/office/drawing/2014/main" id="{76A42011-BB15-401F-89FB-5CFC22F73179}"/>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24 / 25</a:t>
            </a:r>
          </a:p>
        </p:txBody>
      </p:sp>
    </p:spTree>
    <p:extLst>
      <p:ext uri="{BB962C8B-B14F-4D97-AF65-F5344CB8AC3E}">
        <p14:creationId xmlns:p14="http://schemas.microsoft.com/office/powerpoint/2010/main" val="79960649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8890505-B4C0-4C3D-A5F3-C8881FA51D27}"/>
              </a:ext>
            </a:extLst>
          </p:cNvPr>
          <p:cNvSpPr>
            <a:spLocks xmlns:a="http://schemas.openxmlformats.org/drawingml/2006/main" noGrp="1"/>
          </p:cNvSpPr>
          <p:nvPr/>
        </p:nvSpPr>
        <p:spPr>
          <a:xfrm xmlns:a="http://schemas.openxmlformats.org/drawingml/2006/main">
            <a:off x="533400" y="2476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C83"/>
                </a:solidFill>
                <a:latin typeface="Arial"/>
                <a:ea typeface="Arial"/>
                <a:cs typeface="Arial"/>
              </a:defRPr>
            </a:pPr>
            <a:r>
              <a:rPr sz="1125" b="1">
                <a:solidFill>
                  <a:srgbClr val="087C83"/>
                </a:solidFill>
                <a:latin typeface="Arial"/>
                <a:ea typeface="Arial"/>
                <a:cs typeface="Arial"/>
              </a:rPr>
              <a:t>METHODS AND STATISTICS BACKUP</a:t>
            </a:r>
          </a:p>
        </p:txBody>
      </p:sp>
      <p:sp>
        <p:nvSpPr>
          <p:cNvPr id="2" name="">
            <a:extLst xmlns:a="http://schemas.openxmlformats.org/drawingml/2006/main">
              <a:ext uri="{FF2B5EF4-FFF2-40B4-BE49-F238E27FC236}">
                <a16:creationId xmlns:a16="http://schemas.microsoft.com/office/drawing/2014/main" id="{D12E233E-1529-4E9E-9DF9-36A2BBB1DBF0}"/>
              </a:ext>
            </a:extLst>
          </p:cNvPr>
          <p:cNvSpPr>
            <a:spLocks xmlns:a="http://schemas.openxmlformats.org/drawingml/2006/main" noGrp="1"/>
          </p:cNvSpPr>
          <p:nvPr/>
        </p:nvSpPr>
        <p:spPr>
          <a:xfrm xmlns:a="http://schemas.openxmlformats.org/drawingml/2006/main">
            <a:off x="533400" y="628650"/>
            <a:ext cx="11125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84B"/>
                </a:solidFill>
                <a:latin typeface="Arial"/>
                <a:ea typeface="Arial"/>
                <a:cs typeface="Arial"/>
              </a:defRPr>
            </a:pPr>
            <a:r>
              <a:rPr sz="2700" b="1">
                <a:solidFill>
                  <a:srgbClr val="18384B"/>
                </a:solidFill>
                <a:latin typeface="Arial"/>
                <a:ea typeface="Arial"/>
                <a:cs typeface="Arial"/>
              </a:rPr>
              <a:t>Backup: launch and source navigation</a:t>
            </a:r>
          </a:p>
        </p:txBody>
      </p:sp>
      <p:sp>
        <p:nvSpPr>
          <p:cNvPr id="3" name="">
            <a:extLst xmlns:a="http://schemas.openxmlformats.org/drawingml/2006/main">
              <a:ext uri="{FF2B5EF4-FFF2-40B4-BE49-F238E27FC236}">
                <a16:creationId xmlns:a16="http://schemas.microsoft.com/office/drawing/2014/main" id="{02196D4F-BE7E-43E1-AE40-1A9AB92E1EAF}"/>
              </a:ext>
            </a:extLst>
          </p:cNvPr>
          <p:cNvSpPr>
            <a:spLocks xmlns:a="http://schemas.openxmlformats.org/drawingml/2006/main" noGrp="1"/>
          </p:cNvSpPr>
          <p:nvPr/>
        </p:nvSpPr>
        <p:spPr>
          <a:xfrm xmlns:a="http://schemas.openxmlformats.org/drawingml/2006/main">
            <a:off x="552450" y="1562100"/>
            <a:ext cx="110013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Repository terminal:</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python -m streamlit run src/confirmatory_dashboard.py --server.port 8510</a:t>
            </a:r>
          </a:p>
          <a:p xmlns:a="http://schemas.openxmlformats.org/drawingml/2006/main">
            <a:r>
              <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Browser: http://127.0.0.1:8510</a:t>
            </a:r>
          </a:p>
          <a:p xmlns:a="http://schemas.openxmlformats.org/drawingml/2006/main">
            <a:pPr>
              <a:defRPr sz="2175" b="0">
                <a:solidFill>
                  <a:srgbClr val="18384B"/>
                </a:solidFill>
                <a:latin typeface="Arial"/>
                <a:ea typeface="Arial"/>
                <a:cs typeface="Arial"/>
              </a:defRPr>
            </a:pPr>
            <a:r>
              <a:rPr sz="2175" b="0">
                <a:solidFill>
                  <a:srgbClr val="18384B"/>
                </a:solidFill>
                <a:latin typeface="Arial"/>
                <a:ea typeface="Arial"/>
                <a:cs typeface="Arial"/>
              </a:rPr>
              <a:t>Stop: Ctrl+C in that terminal</a:t>
            </a:r>
          </a:p>
        </p:txBody>
      </p:sp>
      <p:sp>
        <p:nvSpPr>
          <p:cNvPr id="4" name="">
            <a:extLst xmlns:a="http://schemas.openxmlformats.org/drawingml/2006/main">
              <a:ext uri="{FF2B5EF4-FFF2-40B4-BE49-F238E27FC236}">
                <a16:creationId xmlns:a16="http://schemas.microsoft.com/office/drawing/2014/main" id="{9FF11C37-3895-4F28-A5A1-AB32B0F20B07}"/>
              </a:ext>
            </a:extLst>
          </p:cNvPr>
          <p:cNvSpPr>
            <a:spLocks xmlns:a="http://schemas.openxmlformats.org/drawingml/2006/main" noGrp="1"/>
          </p:cNvSpPr>
          <p:nvPr/>
        </p:nvSpPr>
        <p:spPr>
          <a:xfrm xmlns:a="http://schemas.openxmlformats.org/drawingml/2006/main">
            <a:off x="552450" y="5762625"/>
            <a:ext cx="110299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3B5867"/>
                </a:solidFill>
                <a:latin typeface="Arial"/>
                <a:ea typeface="Arial"/>
                <a:cs typeface="Arial"/>
              </a:defRPr>
            </a:pPr>
            <a:r>
              <a:rPr sz="1425" b="0">
                <a:solidFill>
                  <a:srgbClr val="3B5867"/>
                </a:solidFill>
                <a:latin typeface="Arial"/>
                <a:ea typeface="Arial"/>
                <a:cs typeface="Arial"/>
              </a:rPr>
              <a:t>The standalone dashboard archive contains launch instructions for use without the full research checkout.</a:t>
            </a:r>
          </a:p>
        </p:txBody>
      </p:sp>
      <p:sp>
        <p:nvSpPr>
          <p:cNvPr id="5" name="">
            <a:extLst xmlns:a="http://schemas.openxmlformats.org/drawingml/2006/main">
              <a:ext uri="{FF2B5EF4-FFF2-40B4-BE49-F238E27FC236}">
                <a16:creationId xmlns:a16="http://schemas.microsoft.com/office/drawing/2014/main" id="{F906AA80-2C0B-40B9-8101-19D1FE590D46}"/>
              </a:ext>
            </a:extLst>
          </p:cNvPr>
          <p:cNvSpPr>
            <a:spLocks xmlns:a="http://schemas.openxmlformats.org/drawingml/2006/main" noGrp="1"/>
          </p:cNvSpPr>
          <p:nvPr/>
        </p:nvSpPr>
        <p:spPr>
          <a:xfrm xmlns:a="http://schemas.openxmlformats.org/drawingml/2006/main">
            <a:off x="552450" y="6534150"/>
            <a:ext cx="11029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17583"/>
                </a:solidFill>
                <a:latin typeface="Arial"/>
                <a:ea typeface="Arial"/>
                <a:cs typeface="Arial"/>
              </a:defRPr>
            </a:pPr>
            <a:r>
              <a:rPr sz="1050" b="0">
                <a:solidFill>
                  <a:srgbClr val="617583"/>
                </a:solidFill>
                <a:latin typeface="Arial"/>
                <a:ea typeface="Arial"/>
                <a:cs typeface="Arial"/>
              </a:rPr>
              <a:t>Backup    25 / 25</a:t>
            </a:r>
          </a:p>
        </p:txBody>
      </p:sp>
    </p:spTree>
    <p:extLst>
      <p:ext uri="{BB962C8B-B14F-4D97-AF65-F5344CB8AC3E}">
        <p14:creationId xmlns:p14="http://schemas.microsoft.com/office/powerpoint/2010/main" val="10964067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2026-09-13T22:13:51.5780000Z</dcterms:created>
  <dcterms:modified xsi:type="dcterms:W3CDTF">2026-09-13T22:13:51.5780000Z</dcterms:modified>
</coreProperties>
</file>