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201f6fea1741df" /><Relationship Type="http://schemas.openxmlformats.org/officeDocument/2006/relationships/extended-properties" Target="/docProps/app.xml" Id="R65ce07603e1c406a" /><Relationship Type="http://schemas.openxmlformats.org/officeDocument/2006/relationships/officeDocument" Target="/ppt/presentation.xml" Id="Rbe9591f38b584ec1" /></Relationships>
</file>

<file path=ppt/presentation.xml><?xml version="1.0" encoding="utf-8"?>
<p:presentation xmlns:p="http://schemas.openxmlformats.org/presentationml/2006/main">
  <p:sldMasterIdLst>
    <p:sldMasterId xmlns:r="http://schemas.openxmlformats.org/officeDocument/2006/relationships" id="2147483648" r:id="R29b6cc7b25484aba"/>
  </p:sldMasterIdLst>
  <p:notesMasterIdLst>
    <p:notesMasterId xmlns:r="http://schemas.openxmlformats.org/officeDocument/2006/relationships" r:id="R526eff7d12854f56"/>
  </p:notesMasterIdLst>
  <p:sldIdLst>
    <p:sldId xmlns:r="http://schemas.openxmlformats.org/officeDocument/2006/relationships" id="256" r:id="R224c48877b7e483c"/>
    <p:sldId xmlns:r="http://schemas.openxmlformats.org/officeDocument/2006/relationships" id="257" r:id="Raf70be6b2ef34e3b"/>
    <p:sldId xmlns:r="http://schemas.openxmlformats.org/officeDocument/2006/relationships" id="258" r:id="Rbb519c33e0c5455e"/>
    <p:sldId xmlns:r="http://schemas.openxmlformats.org/officeDocument/2006/relationships" id="259" r:id="R059c7f7a999a4a2f"/>
    <p:sldId xmlns:r="http://schemas.openxmlformats.org/officeDocument/2006/relationships" id="260" r:id="R4563b83977204e5d"/>
    <p:sldId xmlns:r="http://schemas.openxmlformats.org/officeDocument/2006/relationships" id="261" r:id="R75eca38ab9c342be"/>
    <p:sldId xmlns:r="http://schemas.openxmlformats.org/officeDocument/2006/relationships" id="262" r:id="R73ca34ecdd664ec0"/>
    <p:sldId xmlns:r="http://schemas.openxmlformats.org/officeDocument/2006/relationships" id="263" r:id="Rf359f7fc974c4703"/>
    <p:sldId xmlns:r="http://schemas.openxmlformats.org/officeDocument/2006/relationships" id="264" r:id="R80447beb718344f6"/>
    <p:sldId xmlns:r="http://schemas.openxmlformats.org/officeDocument/2006/relationships" id="265" r:id="R584004076b2945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5e3a14b81e49d7" /><Relationship Type="http://schemas.openxmlformats.org/officeDocument/2006/relationships/slideMaster" Target="/ppt/slideMasters/slideMaster1.xml" Id="R29b6cc7b25484aba" /><Relationship Type="http://schemas.openxmlformats.org/officeDocument/2006/relationships/notesMaster" Target="/ppt/notesMasters/notesMaster1.xml" Id="R526eff7d12854f56" /><Relationship Type="http://schemas.openxmlformats.org/officeDocument/2006/relationships/presProps" Target="/ppt/presProps.xml" Id="R31969a2e4bdd4606" /><Relationship Type="http://schemas.openxmlformats.org/officeDocument/2006/relationships/tableStyles" Target="/ppt/tableStyles.xml" Id="Rd3f567a17fdf482c" /><Relationship Type="http://schemas.openxmlformats.org/officeDocument/2006/relationships/slide" Target="/ppt/slides/slide1.xml" Id="R224c48877b7e483c" /><Relationship Type="http://schemas.openxmlformats.org/officeDocument/2006/relationships/slide" Target="/ppt/slides/slide2.xml" Id="Raf70be6b2ef34e3b" /><Relationship Type="http://schemas.openxmlformats.org/officeDocument/2006/relationships/slide" Target="/ppt/slides/slide3.xml" Id="Rbb519c33e0c5455e" /><Relationship Type="http://schemas.openxmlformats.org/officeDocument/2006/relationships/slide" Target="/ppt/slides/slide4.xml" Id="R059c7f7a999a4a2f" /><Relationship Type="http://schemas.openxmlformats.org/officeDocument/2006/relationships/slide" Target="/ppt/slides/slide5.xml" Id="R4563b83977204e5d" /><Relationship Type="http://schemas.openxmlformats.org/officeDocument/2006/relationships/slide" Target="/ppt/slides/slide6.xml" Id="R75eca38ab9c342be" /><Relationship Type="http://schemas.openxmlformats.org/officeDocument/2006/relationships/slide" Target="/ppt/slides/slide7.xml" Id="R73ca34ecdd664ec0" /><Relationship Type="http://schemas.openxmlformats.org/officeDocument/2006/relationships/slide" Target="/ppt/slides/slide8.xml" Id="Rf359f7fc974c4703" /><Relationship Type="http://schemas.openxmlformats.org/officeDocument/2006/relationships/slide" Target="/ppt/slides/slide9.xml" Id="R80447beb718344f6" /><Relationship Type="http://schemas.openxmlformats.org/officeDocument/2006/relationships/slide" Target="/ppt/slides/slide10.xml" Id="R584004076b2945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7d27b52cae4f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c3217285f14394" /><Relationship Type="http://schemas.openxmlformats.org/officeDocument/2006/relationships/notesMaster" Target="/ppt/notesMasters/notesMaster1.xml" Id="Recc62d8b686b45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2becfb424842eb" /><Relationship Type="http://schemas.openxmlformats.org/officeDocument/2006/relationships/notesMaster" Target="/ppt/notesMasters/notesMaster1.xml" Id="R755058a03ca549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88f5acf3e946fc" /><Relationship Type="http://schemas.openxmlformats.org/officeDocument/2006/relationships/notesMaster" Target="/ppt/notesMasters/notesMaster1.xml" Id="Rb5dda39203714f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8f346ca24b4785" /><Relationship Type="http://schemas.openxmlformats.org/officeDocument/2006/relationships/notesMaster" Target="/ppt/notesMasters/notesMaster1.xml" Id="R02b2468aae724d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d7cc66b21a4896" /><Relationship Type="http://schemas.openxmlformats.org/officeDocument/2006/relationships/notesMaster" Target="/ppt/notesMasters/notesMaster1.xml" Id="R3d09fee00f4d4d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c486b254764fec" /><Relationship Type="http://schemas.openxmlformats.org/officeDocument/2006/relationships/notesMaster" Target="/ppt/notesMasters/notesMaster1.xml" Id="R1fe1c2ad6fa94c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84cc46b5f04eee" /><Relationship Type="http://schemas.openxmlformats.org/officeDocument/2006/relationships/notesMaster" Target="/ppt/notesMasters/notesMaster1.xml" Id="R3ea0860c9ccb46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b3c5c4d7f24581" /><Relationship Type="http://schemas.openxmlformats.org/officeDocument/2006/relationships/notesMaster" Target="/ppt/notesMasters/notesMaster1.xml" Id="R7de26a5811ac4b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f76a5b0b214ae4" /><Relationship Type="http://schemas.openxmlformats.org/officeDocument/2006/relationships/notesMaster" Target="/ppt/notesMasters/notesMaster1.xml" Id="R192d15ccdd6f42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f2130883fb47f4" /><Relationship Type="http://schemas.openxmlformats.org/officeDocument/2006/relationships/notesMaster" Target="/ppt/notesMasters/notesMaster1.xml" Id="R3bbfe586ba1d4d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goal is to model the variability of interception movements using a compact representation of a participant. We compare neural models with spline plus PCA and implement them in a dashboard. The principal result concerns generation at eight dimensions. Three numbers were our original compact target, so we keep that comparison visible. Say distribution, rather than promising an exact prediction of the next trial. Sources: course report Abstract and Introduction.</a:t>
            </a:r>
          </a:p>
          <a:p xmlns:a="http://schemas.openxmlformats.org/drawingml/2006/main">
            <a:r>
              <a:t>Suggested duration: 25 seconds. Design reference: Paz Flashner's production/presentation_styled.pdf. Content: course report and evidence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participant moves a finger from the lower starting region to the upper interception region as the target arrives. There are three starting categories on each side, with a related speed range. We excluded four trials without an arrival and 27 very late arrivals. The two low-count participants mostly had fewer files available, not extensive exclusions. Population training excludes the seven test people. We then use some recordings from each test person as context and reserve the other recordings as query. Source: course report section 2; src/data_loading.py, src/preprocessing.py; production/cohort_trial_counts.csv. Task image: production/presentation_assets/task_schematic.png, inherited from Paz’s supplied presentation. Data were collected by Beatris Giterman in Jason Friedman’s laboratory. Spatial coordinates are cm; nominal starting positions are mm from screen center.</a:t>
            </a:r>
          </a:p>
          <a:p xmlns:a="http://schemas.openxmlformats.org/drawingml/2006/main">
            <a:r>
              <a:t>Suggested duration: 50 seconds. Design reference: Paz Flashner's production/presentation_styled.pdf. Content: course report and evidence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we resample a filtered go-to-end recording onto 100 equally spaced phases. This keeps relative waiting but removes seconds from the coordinate input. In spline plus PCA, one trial gives nine x and nine y spline coefficients. We stack training trials as rows, giving N by 18, and fit PCA on that matrix. The neural model receives the 200 coordinate values directly after training-derived standardization. CVAE and VAE have mean and variance heads and a KL penalty. CAE is deterministic and has no KL penalty. CVAE/CAE receive conditions at encoder and decoder; VAE zeros them. The timing targets are never encoder inputs. The separate methods explanation PDF explains the actual objective and inverse matrices. Sources: src/baseline_spline.py, src/confirmatory_spline.py, src/vae_model.py, src/train.py. Five interior knots plus cubic degree three plus one give nine basis coefficients per axis. Timing uses log(t + 0.001) to accommodate zero and compress its scale, then training standardization.</a:t>
            </a:r>
          </a:p>
          <a:p xmlns:a="http://schemas.openxmlformats.org/drawingml/2006/main">
            <a:r>
              <a:t>Suggested duration: 65 seconds. Design reference: Paz Flashner's production/presentation_styled.pdf. Content: course report and evidence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Reconstruction means compressing and decoding the same observed trajectory. We compare the resulting 200 coordinates with the original and average squared errors. Thus it measures information retained by the representation; it is not a prediction without seeing the trial. Scores first average within person and across neural seeds, then equally across 28 people. Spline has the lowest mean at both capacities. The six spline-versus-neural comparisons pass BH, but the spline-versus-CAE eight-dimensional difference has Holm p=0.106. The other five survive Holm. VAE wins the neural reconstruction comparison at three dimensions under BH; CAE is best at eight. Source: production/audit_2026_09_08/all_model_means.csv and all_pairs_140.csv.</a:t>
            </a:r>
          </a:p>
          <a:p xmlns:a="http://schemas.openxmlformats.org/drawingml/2006/main">
            <a:r>
              <a:t>Suggested duration: 45 seconds. Design reference: Paz Flashner's production/presentation_styled.pdf. Content: course report and evidence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fingerprint is the average of the encoded context means. We then add training-derived latent noise to that center and decode 120 movements. All participants share the covariance, but their centers differ. VAE generation here is not simply drawing from the standard-normal training prior. For CVAE the query-condition mixture supplies conditions, but the decoder never receives the actual query paths or their durations. The comparison is between two sets of trials, so there is no correct one-to-one pairing of a generated path with an observed trial. Source: src/context_query.py, src/confirmatory_spline.py, scripts/run_review_controls.py; appendix A4.</a:t>
            </a:r>
          </a:p>
          <a:p xmlns:a="http://schemas.openxmlformats.org/drawingml/2006/main">
            <a:r>
              <a:t>Suggested duration: 60 seconds. Design reference: Paz Flashner's production/presentation_styled.pdf. Content: course report and evidence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KS measures the largest gap between empirical cumulative curves for one feature. We average eleven KS statistics, not eleven p-values. Energy and MMD instead compare the joint eleven-feature vectors after training standardization. VAE eight has mean KS 0.2151, energy 0.4110 and MMD squared 0.0639. CVAE is close. VAE versus CVAE eight has BH q=.0257 for energy, .137 for KS and .0518 for MMD; none survives Holm. We can select VAE as a practical default but cannot claim it significantly wins every endpoint. Features depend on predicted durations as well as shape. Sources: course report Table 2; audited means and 140-test CSV. The figure uses density histograms with twelve shared bins per feature and the same stored samples. Histograms are illustrations; KS still uses the original empirical cumulative distributions without binning.</a:t>
            </a:r>
          </a:p>
          <a:p xmlns:a="http://schemas.openxmlformats.org/drawingml/2006/main">
            <a:r>
              <a:t>Suggested duration: 55 seconds. Design reference: Paz Flashner's production/presentation_styled.pdf. Content: course report and evidence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new central analysis. We flatten each whole phase-normalized path and divide by square root of 200. Euclidean distance then means RMS coordinate difference. Energy and MMD compare the generated set with the held-out set and also account for within-set variation. At eight dimensions both variational models improve on spline, and this survives both multiple-testing corrections and equalizing the training variation of the two axes. Their difference from each other is not significant. At three dimensions, raw MMD favors them over spline, but raw energy does not, and balanced-axis MMD no longer passes BH. This is why the eight-dimensional conclusion is stronger. These are phase-path results, not a validation of physical timing. Source: production/trajectory_distribution_2026_09_13/summary.csv, paired_comparisons.csv and protocol.json.</a:t>
            </a:r>
          </a:p>
          <a:p xmlns:a="http://schemas.openxmlformats.org/drawingml/2006/main">
            <a:r>
              <a:t>Suggested duration: 70 seconds. Design reference: Paz Flashner's production/presentation_styled.pdf. Content: course report and evidence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direct check that the personal center helps the generator. Replacing it by a population center or another person’s center makes the feature distributions worse. We keep random draws and other inputs fixed, so the center is what changes. This supports useful information about this participant’s session. It does not give a name to each latent axis or show the same fingerprint would remain stable on another day. The control uses feature endpoints; we have not repeated it on the new full-trajectory endpoints. Source: frozen laboratory report section on personal fingerprints; course report Figure 3 and appendix A4.</a:t>
            </a:r>
          </a:p>
          <a:p xmlns:a="http://schemas.openxmlformats.org/drawingml/2006/main">
            <a:r>
              <a:t>Suggested duration: 45 seconds. Design reference: Paz Flashner's production/presentation_styled.pdf. Content: course report and evidence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main conclusion is useful compact generation, not that deep learning beats every possible baseline. Keeping the entire context paths and resampling them yields lower mean discrepancies. That uses more participant memory and cannot be summarized as an eight-number fingerprint. Repeating only the context mean is much worse as a distribution despite having a good mean-path error. Direct context behavioral summaries also beat our latent linear probes. These observations describe what compression loses and motivate a richer model. Default selection used this cohort and needs independent confirmation. Sources: full-path summary CSV; production/all_models_direct_context_summary.csv; course Discussion. The new nine-feature sensitivity is covered in Appendix A11. Both variational models retain their corrected advantage over spline, but VAE versus CVAE does not pass BH on any reduced-feature metric.</a:t>
            </a:r>
          </a:p>
          <a:p xmlns:a="http://schemas.openxmlformats.org/drawingml/2006/main">
            <a:r>
              <a:t>Suggested duration: 45 seconds. Design reference: Paz Flashner's production/presentation_styled.pdf. Content: course report and evidence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dashboard already running in a browser. Explain that generated curves are samples, not predictions paired with particular recorded trials. Show the VAE eight default, then three dimensions and an alternative model. Do not interpret a single chosen plot as the significance test. VAE does not respond to condition controls because it ignores conditions. Spline condition changes affect only timing; CVAE/CAE use conditions for shape and timing. Finish with Benchmarks. If live launch fails, the slide contains recorded and generated examples from a fixed subject, chosen by identifier. Launch from the repository: python -m streamlit run src/confirmatory_dashboard.py --server.port 8510 --server.address 127.0.0.1 --browser.gatherUsageStats false. Open http://127.0.0.1:8510. Ctrl+C stops the terminal server. Source: production/MULTIMODEL_UPDATE.md; src/confirmatory_dashboard.py; generated-array figure provenance in course_figures.py.</a:t>
            </a:r>
          </a:p>
          <a:p xmlns:a="http://schemas.openxmlformats.org/drawingml/2006/main">
            <a:r>
              <a:t>Suggested duration: 80 seconds. Design reference: Paz Flashner's production/presentation_styled.pdf. Content: course report and evidence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d81950ae3144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7098cf5cca46a8" /><Relationship Type="http://schemas.openxmlformats.org/officeDocument/2006/relationships/slideLayout" Target="/ppt/slideLayouts/slideLayout1.xml" Id="R8fcd065bb24344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cd065bb24344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2f695f257e418a" /><Relationship Type="http://schemas.openxmlformats.org/officeDocument/2006/relationships/notesSlide" Target="/ppt/notesSlides/notesSlide1.xml" Id="R0734d121df814d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15c7d2c17d4a7f" /><Relationship Type="http://schemas.openxmlformats.org/officeDocument/2006/relationships/image" Target="/ppt/media/image.png" Id="Re5e3293177854b42" /><Relationship Type="http://schemas.openxmlformats.org/officeDocument/2006/relationships/notesSlide" Target="/ppt/notesSlides/notesSlide2.xml" Id="R71af19f21b8748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daf22d13b1488d" /><Relationship Type="http://schemas.openxmlformats.org/officeDocument/2006/relationships/notesSlide" Target="/ppt/notesSlides/notesSlide3.xml" Id="R205fb24e239a44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1d5c2cc5af4455" /><Relationship Type="http://schemas.openxmlformats.org/officeDocument/2006/relationships/image" Target="/ppt/media/image2.png" Id="Rfe13a3b16cb1488b" /><Relationship Type="http://schemas.openxmlformats.org/officeDocument/2006/relationships/chart" Target="/ppt/slides/charts/chart1.xml" Id="R5e42cc1cf28b4456" /><Relationship Type="http://schemas.openxmlformats.org/officeDocument/2006/relationships/notesSlide" Target="/ppt/notesSlides/notesSlide4.xml" Id="R2a0118dab07845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f6dd478a2c41e5" /><Relationship Type="http://schemas.openxmlformats.org/officeDocument/2006/relationships/image" Target="/ppt/media/image3.png" Id="Raf17b8dd1d5a4841" /><Relationship Type="http://schemas.openxmlformats.org/officeDocument/2006/relationships/notesSlide" Target="/ppt/notesSlides/notesSlide5.xml" Id="R6c6ce9e1593446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edfbec6a87432f" /><Relationship Type="http://schemas.openxmlformats.org/officeDocument/2006/relationships/image" Target="/ppt/media/image4.png" Id="R66a60725a61745b6" /><Relationship Type="http://schemas.openxmlformats.org/officeDocument/2006/relationships/chart" Target="/ppt/slides/charts/chart2.xml" Id="Rb881ac238c3440e4" /><Relationship Type="http://schemas.openxmlformats.org/officeDocument/2006/relationships/notesSlide" Target="/ppt/notesSlides/notesSlide6.xml" Id="R3be37df6c5b246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687c3651004505" /><Relationship Type="http://schemas.openxmlformats.org/officeDocument/2006/relationships/chart" Target="/ppt/slides/charts/chart3.xml" Id="R23e5b5f5ec5942c0" /><Relationship Type="http://schemas.openxmlformats.org/officeDocument/2006/relationships/chart" Target="/ppt/slides/charts/chart4.xml" Id="R62475538506647fb" /><Relationship Type="http://schemas.openxmlformats.org/officeDocument/2006/relationships/notesSlide" Target="/ppt/notesSlides/notesSlide7.xml" Id="R59c65cfd3f4d40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96d646b35e4128" /><Relationship Type="http://schemas.openxmlformats.org/officeDocument/2006/relationships/chart" Target="/ppt/slides/charts/chart5.xml" Id="Rb1701f762d3f4da1" /><Relationship Type="http://schemas.openxmlformats.org/officeDocument/2006/relationships/notesSlide" Target="/ppt/notesSlides/notesSlide8.xml" Id="R909867a9ec8046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4404b2be864ecb" /><Relationship Type="http://schemas.openxmlformats.org/officeDocument/2006/relationships/notesSlide" Target="/ppt/notesSlides/notesSlide9.xml" Id="Rc2880111e5b748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b521c23bd04ba5" /><Relationship Type="http://schemas.openxmlformats.org/officeDocument/2006/relationships/image" Target="/ppt/media/image5.png" Id="R00c9cfeffb174ea7" /><Relationship Type="http://schemas.openxmlformats.org/officeDocument/2006/relationships/notesSlide" Target="/ppt/notesSlides/notesSlide10.xml" Id="R7dc5255b1b974df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 = 3</c:v>
          </c:tx>
          <c:spPr>
            <a:solidFill xmlns:a="http://schemas.openxmlformats.org/drawingml/2006/main">
              <a:srgbClr val="8395A3"/>
            </a:solidFill>
          </c:spPr>
          <c:cat>
            <c:strRef>
              <c:f>'Chart Data'!$A$2:$A$5</c:f>
              <c:strCache>
                <c:ptCount val="4"/>
                <c:pt idx="0">
                  <c:v>Spline</c:v>
                </c:pt>
                <c:pt idx="1">
                  <c:v>CAE</c:v>
                </c:pt>
                <c:pt idx="2">
                  <c:v>CVAE</c:v>
                </c:pt>
                <c:pt idx="3">
                  <c:v>VAE</c:v>
                </c:pt>
              </c:strCache>
            </c:strRef>
          </c:cat>
          <c:val>
            <c:numRef>
              <c:f>'Chart Data'!$B$2:$B$5</c:f>
              <c:numCache>
                <c:formatCode>0.00</c:formatCode>
                <c:ptCount val="4"/>
                <c:pt idx="0">
                  <c:v>0.097255</c:v>
                </c:pt>
                <c:pt idx="1">
                  <c:v>0.169661</c:v>
                </c:pt>
                <c:pt idx="2">
                  <c:v>0.176981</c:v>
                </c:pt>
                <c:pt idx="3">
                  <c:v>0.148299</c:v>
                </c:pt>
              </c:numCache>
            </c:numRef>
          </c:val>
        </c:ser>
        <c:ser>
          <c:idx val="1"/>
          <c:order val="1"/>
          <c:tx>
            <c:v>n = 8</c:v>
          </c:tx>
          <c:spPr>
            <a:solidFill xmlns:a="http://schemas.openxmlformats.org/drawingml/2006/main">
              <a:srgbClr val="087C83"/>
            </a:solidFill>
          </c:spPr>
          <c:cat>
            <c:strRef>
              <c:f>'Chart Data'!$C$2:$C$5</c:f>
              <c:strCache>
                <c:ptCount val="4"/>
                <c:pt idx="0">
                  <c:v>Spline</c:v>
                </c:pt>
                <c:pt idx="1">
                  <c:v>CAE</c:v>
                </c:pt>
                <c:pt idx="2">
                  <c:v>CVAE</c:v>
                </c:pt>
                <c:pt idx="3">
                  <c:v>VAE</c:v>
                </c:pt>
              </c:strCache>
            </c:strRef>
          </c:cat>
          <c:val>
            <c:numRef>
              <c:f>'Chart Data'!$D$2:$D$5</c:f>
              <c:numCache>
                <c:formatCode>0.00</c:formatCode>
                <c:ptCount val="4"/>
                <c:pt idx="0">
                  <c:v>0.022772</c:v>
                </c:pt>
                <c:pt idx="1">
                  <c:v>0.025968</c:v>
                </c:pt>
                <c:pt idx="2">
                  <c:v>0.032481</c:v>
                </c:pt>
                <c:pt idx="3">
                  <c:v>0.033487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61E2E"/>
                </a:solidFill>
                <a:latin typeface="Arial"/>
                <a:ea typeface="Arial"/>
                <a:cs typeface="Arial"/>
              </a:defRPr>
            </a:pPr>
          </a:p>
        </c:txPr>
        <c:crossAx val="48672768"/>
      </c:catAx>
      <c:valAx>
        <c:axId val="48672768"/>
        <c:scaling>
          <c:orientation val="minMax"/>
          <c:min val="0"/>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1E2E"/>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61E2E"/>
              </a:solidFill>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 = 3</c:v>
          </c:tx>
          <c:spPr>
            <a:solidFill xmlns:a="http://schemas.openxmlformats.org/drawingml/2006/main">
              <a:srgbClr val="8395A3"/>
            </a:solidFill>
          </c:spPr>
          <c:cat>
            <c:strRef>
              <c:f>'Chart Data'!$A$2:$A$5</c:f>
              <c:strCache>
                <c:ptCount val="4"/>
                <c:pt idx="0">
                  <c:v>Spline</c:v>
                </c:pt>
                <c:pt idx="1">
                  <c:v>CAE</c:v>
                </c:pt>
                <c:pt idx="2">
                  <c:v>CVAE</c:v>
                </c:pt>
                <c:pt idx="3">
                  <c:v>VAE</c:v>
                </c:pt>
              </c:strCache>
            </c:strRef>
          </c:cat>
          <c:val>
            <c:numRef>
              <c:f>'Chart Data'!$B$2:$B$5</c:f>
              <c:numCache>
                <c:formatCode>0.00</c:formatCode>
                <c:ptCount val="4"/>
                <c:pt idx="0">
                  <c:v>0.325126</c:v>
                </c:pt>
                <c:pt idx="1">
                  <c:v>0.287578</c:v>
                </c:pt>
                <c:pt idx="2">
                  <c:v>0.277795</c:v>
                </c:pt>
                <c:pt idx="3">
                  <c:v>0.284587</c:v>
                </c:pt>
              </c:numCache>
            </c:numRef>
          </c:val>
        </c:ser>
        <c:ser>
          <c:idx val="1"/>
          <c:order val="1"/>
          <c:tx>
            <c:v>n = 8</c:v>
          </c:tx>
          <c:spPr>
            <a:solidFill xmlns:a="http://schemas.openxmlformats.org/drawingml/2006/main">
              <a:srgbClr val="087C83"/>
            </a:solidFill>
          </c:spPr>
          <c:cat>
            <c:strRef>
              <c:f>'Chart Data'!$C$2:$C$5</c:f>
              <c:strCache>
                <c:ptCount val="4"/>
                <c:pt idx="0">
                  <c:v>Spline</c:v>
                </c:pt>
                <c:pt idx="1">
                  <c:v>CAE</c:v>
                </c:pt>
                <c:pt idx="2">
                  <c:v>CVAE</c:v>
                </c:pt>
                <c:pt idx="3">
                  <c:v>VAE</c:v>
                </c:pt>
              </c:strCache>
            </c:strRef>
          </c:cat>
          <c:val>
            <c:numRef>
              <c:f>'Chart Data'!$D$2:$D$5</c:f>
              <c:numCache>
                <c:formatCode>0.00</c:formatCode>
                <c:ptCount val="4"/>
                <c:pt idx="0">
                  <c:v>0.254794</c:v>
                </c:pt>
                <c:pt idx="1">
                  <c:v>0.258686</c:v>
                </c:pt>
                <c:pt idx="2">
                  <c:v>0.219404</c:v>
                </c:pt>
                <c:pt idx="3">
                  <c:v>0.215121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61E2E"/>
                </a:solidFill>
                <a:latin typeface="Arial"/>
                <a:ea typeface="Arial"/>
                <a:cs typeface="Arial"/>
              </a:defRPr>
            </a:pPr>
          </a:p>
        </c:txPr>
        <c:crossAx val="48672768"/>
      </c:catAx>
      <c:valAx>
        <c:axId val="48672768"/>
        <c:scaling>
          <c:orientation val="minMax"/>
          <c:min val="0"/>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1E2E"/>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61E2E"/>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 = 3</c:v>
          </c:tx>
          <c:spPr>
            <a:solidFill xmlns:a="http://schemas.openxmlformats.org/drawingml/2006/main">
              <a:srgbClr val="8395A3"/>
            </a:solidFill>
          </c:spPr>
          <c:cat>
            <c:strRef>
              <c:f>'Chart Data'!$A$2:$A$5</c:f>
              <c:strCache>
                <c:ptCount val="4"/>
                <c:pt idx="0">
                  <c:v>Spline</c:v>
                </c:pt>
                <c:pt idx="1">
                  <c:v>CAE</c:v>
                </c:pt>
                <c:pt idx="2">
                  <c:v>CVAE</c:v>
                </c:pt>
                <c:pt idx="3">
                  <c:v>VAE</c:v>
                </c:pt>
              </c:strCache>
            </c:strRef>
          </c:cat>
          <c:val>
            <c:numRef>
              <c:f>'Chart Data'!$B$2:$B$5</c:f>
              <c:numCache>
                <c:formatCode>0.00</c:formatCode>
                <c:ptCount val="4"/>
                <c:pt idx="0">
                  <c:v>0.106772</c:v>
                </c:pt>
                <c:pt idx="1">
                  <c:v>0.127181</c:v>
                </c:pt>
                <c:pt idx="2">
                  <c:v>0.102368</c:v>
                </c:pt>
                <c:pt idx="3">
                  <c:v>0.100478</c:v>
                </c:pt>
              </c:numCache>
            </c:numRef>
          </c:val>
        </c:ser>
        <c:ser>
          <c:idx val="1"/>
          <c:order val="1"/>
          <c:tx>
            <c:v>n = 8</c:v>
          </c:tx>
          <c:spPr>
            <a:solidFill xmlns:a="http://schemas.openxmlformats.org/drawingml/2006/main">
              <a:srgbClr val="087C83"/>
            </a:solidFill>
          </c:spPr>
          <c:cat>
            <c:strRef>
              <c:f>'Chart Data'!$C$2:$C$5</c:f>
              <c:strCache>
                <c:ptCount val="4"/>
                <c:pt idx="0">
                  <c:v>Spline</c:v>
                </c:pt>
                <c:pt idx="1">
                  <c:v>CAE</c:v>
                </c:pt>
                <c:pt idx="2">
                  <c:v>CVAE</c:v>
                </c:pt>
                <c:pt idx="3">
                  <c:v>VAE</c:v>
                </c:pt>
              </c:strCache>
            </c:strRef>
          </c:cat>
          <c:val>
            <c:numRef>
              <c:f>'Chart Data'!$D$2:$D$5</c:f>
              <c:numCache>
                <c:formatCode>0.00</c:formatCode>
                <c:ptCount val="4"/>
                <c:pt idx="0">
                  <c:v>0.098113</c:v>
                </c:pt>
                <c:pt idx="1">
                  <c:v>0.094698</c:v>
                </c:pt>
                <c:pt idx="2">
                  <c:v>0.054924</c:v>
                </c:pt>
                <c:pt idx="3">
                  <c:v>0.054768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61E2E"/>
                </a:solidFill>
                <a:latin typeface="Arial"/>
                <a:ea typeface="Arial"/>
                <a:cs typeface="Arial"/>
              </a:defRPr>
            </a:pPr>
          </a:p>
        </c:txPr>
        <c:crossAx val="48672768"/>
      </c:catAx>
      <c:valAx>
        <c:axId val="48672768"/>
        <c:scaling>
          <c:orientation val="minMax"/>
          <c:min val="0"/>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1E2E"/>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61E2E"/>
              </a:solidFill>
              <a:latin typeface="Arial"/>
              <a:ea typeface="Arial"/>
              <a:cs typeface="Arial"/>
            </a:defRPr>
          </a:pPr>
        </a:p>
      </c:txPr>
    </c:legend>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 = 3</c:v>
          </c:tx>
          <c:spPr>
            <a:solidFill xmlns:a="http://schemas.openxmlformats.org/drawingml/2006/main">
              <a:srgbClr val="8395A3"/>
            </a:solidFill>
          </c:spPr>
          <c:cat>
            <c:strRef>
              <c:f>'Chart Data'!$A$2:$A$5</c:f>
              <c:strCache>
                <c:ptCount val="4"/>
                <c:pt idx="0">
                  <c:v>Spline</c:v>
                </c:pt>
                <c:pt idx="1">
                  <c:v>CAE</c:v>
                </c:pt>
                <c:pt idx="2">
                  <c:v>CVAE</c:v>
                </c:pt>
                <c:pt idx="3">
                  <c:v>VAE</c:v>
                </c:pt>
              </c:strCache>
            </c:strRef>
          </c:cat>
          <c:val>
            <c:numRef>
              <c:f>'Chart Data'!$B$2:$B$5</c:f>
              <c:numCache>
                <c:formatCode>0.00</c:formatCode>
                <c:ptCount val="4"/>
                <c:pt idx="0">
                  <c:v>0.077684</c:v>
                </c:pt>
                <c:pt idx="1">
                  <c:v>0.081831</c:v>
                </c:pt>
                <c:pt idx="2">
                  <c:v>0.057768</c:v>
                </c:pt>
                <c:pt idx="3">
                  <c:v>0.057186</c:v>
                </c:pt>
              </c:numCache>
            </c:numRef>
          </c:val>
        </c:ser>
        <c:ser>
          <c:idx val="1"/>
          <c:order val="1"/>
          <c:tx>
            <c:v>n = 8</c:v>
          </c:tx>
          <c:spPr>
            <a:solidFill xmlns:a="http://schemas.openxmlformats.org/drawingml/2006/main">
              <a:srgbClr val="087C83"/>
            </a:solidFill>
          </c:spPr>
          <c:cat>
            <c:strRef>
              <c:f>'Chart Data'!$C$2:$C$5</c:f>
              <c:strCache>
                <c:ptCount val="4"/>
                <c:pt idx="0">
                  <c:v>Spline</c:v>
                </c:pt>
                <c:pt idx="1">
                  <c:v>CAE</c:v>
                </c:pt>
                <c:pt idx="2">
                  <c:v>CVAE</c:v>
                </c:pt>
                <c:pt idx="3">
                  <c:v>VAE</c:v>
                </c:pt>
              </c:strCache>
            </c:strRef>
          </c:cat>
          <c:val>
            <c:numRef>
              <c:f>'Chart Data'!$D$2:$D$5</c:f>
              <c:numCache>
                <c:formatCode>0.00</c:formatCode>
                <c:ptCount val="4"/>
                <c:pt idx="0">
                  <c:v>0.070464</c:v>
                </c:pt>
                <c:pt idx="1">
                  <c:v>0.065199</c:v>
                </c:pt>
                <c:pt idx="2">
                  <c:v>0.024419</c:v>
                </c:pt>
                <c:pt idx="3">
                  <c:v>0.023808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61E2E"/>
                </a:solidFill>
                <a:latin typeface="Arial"/>
                <a:ea typeface="Arial"/>
                <a:cs typeface="Arial"/>
              </a:defRPr>
            </a:pPr>
          </a:p>
        </c:txPr>
        <c:crossAx val="48672768"/>
      </c:catAx>
      <c:valAx>
        <c:axId val="48672768"/>
        <c:scaling>
          <c:orientation val="minMax"/>
          <c:min val="0"/>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1E2E"/>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61E2E"/>
              </a:solidFill>
              <a:latin typeface="Arial"/>
              <a:ea typeface="Arial"/>
              <a:cs typeface="Arial"/>
            </a:defRPr>
          </a:pPr>
        </a:p>
      </c:txPr>
    </c:legend>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Own</c:v>
          </c:tx>
          <c:spPr>
            <a:solidFill xmlns:a="http://schemas.openxmlformats.org/drawingml/2006/main">
              <a:srgbClr val="087C83"/>
            </a:solidFill>
          </c:spPr>
          <c:cat>
            <c:strRef>
              <c:f>'Chart Data'!$A$2:$A$4</c:f>
              <c:strCache>
                <c:ptCount val="3"/>
                <c:pt idx="0">
                  <c:v>CVAE n=3</c:v>
                </c:pt>
                <c:pt idx="1">
                  <c:v>CVAE n=8</c:v>
                </c:pt>
                <c:pt idx="2">
                  <c:v>VAE n=8</c:v>
                </c:pt>
              </c:strCache>
            </c:strRef>
          </c:cat>
          <c:val>
            <c:numRef>
              <c:f>'Chart Data'!$B$2:$B$4</c:f>
              <c:numCache>
                <c:formatCode>0.00</c:formatCode>
                <c:ptCount val="3"/>
                <c:pt idx="0">
                  <c:v>0.277795</c:v>
                </c:pt>
                <c:pt idx="1">
                  <c:v>0.219404</c:v>
                </c:pt>
                <c:pt idx="2">
                  <c:v>0.215121</c:v>
                </c:pt>
              </c:numCache>
            </c:numRef>
          </c:val>
        </c:ser>
        <c:ser>
          <c:idx val="1"/>
          <c:order val="1"/>
          <c:tx>
            <c:v>Population</c:v>
          </c:tx>
          <c:spPr>
            <a:solidFill xmlns:a="http://schemas.openxmlformats.org/drawingml/2006/main">
              <a:srgbClr val="8395A3"/>
            </a:solidFill>
          </c:spPr>
          <c:cat>
            <c:strRef>
              <c:f>'Chart Data'!$C$2:$C$4</c:f>
              <c:strCache>
                <c:ptCount val="3"/>
                <c:pt idx="0">
                  <c:v>CVAE n=3</c:v>
                </c:pt>
                <c:pt idx="1">
                  <c:v>CVAE n=8</c:v>
                </c:pt>
                <c:pt idx="2">
                  <c:v>VAE n=8</c:v>
                </c:pt>
              </c:strCache>
            </c:strRef>
          </c:cat>
          <c:val>
            <c:numRef>
              <c:f>'Chart Data'!$D$2:$D$4</c:f>
              <c:numCache>
                <c:formatCode>0.00</c:formatCode>
                <c:ptCount val="3"/>
                <c:pt idx="0">
                  <c:v>0.310956</c:v>
                </c:pt>
                <c:pt idx="1">
                  <c:v>0.289636</c:v>
                </c:pt>
                <c:pt idx="2">
                  <c:v>0.284126</c:v>
                </c:pt>
              </c:numCache>
            </c:numRef>
          </c:val>
        </c:ser>
        <c:ser>
          <c:idx val="2"/>
          <c:order val="2"/>
          <c:tx>
            <c:v>Other people</c:v>
          </c:tx>
          <c:spPr>
            <a:solidFill xmlns:a="http://schemas.openxmlformats.org/drawingml/2006/main">
              <a:srgbClr val="B38349"/>
            </a:solidFill>
          </c:spPr>
          <c:cat>
            <c:strRef>
              <c:f>'Chart Data'!$E$2:$E$4</c:f>
              <c:strCache>
                <c:ptCount val="3"/>
                <c:pt idx="0">
                  <c:v>CVAE n=3</c:v>
                </c:pt>
                <c:pt idx="1">
                  <c:v>CVAE n=8</c:v>
                </c:pt>
                <c:pt idx="2">
                  <c:v>VAE n=8</c:v>
                </c:pt>
              </c:strCache>
            </c:strRef>
          </c:cat>
          <c:val>
            <c:numRef>
              <c:f>'Chart Data'!$F$2:$F$4</c:f>
              <c:numCache>
                <c:formatCode>0.00</c:formatCode>
                <c:ptCount val="3"/>
                <c:pt idx="0">
                  <c:v>0.337977</c:v>
                </c:pt>
                <c:pt idx="1">
                  <c:v>0.317203</c:v>
                </c:pt>
                <c:pt idx="2">
                  <c:v>0.314405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61E2E"/>
                </a:solidFill>
                <a:latin typeface="Arial"/>
                <a:ea typeface="Arial"/>
                <a:cs typeface="Arial"/>
              </a:defRPr>
            </a:pPr>
          </a:p>
        </c:txPr>
        <c:crossAx val="48672768"/>
      </c:catAx>
      <c:valAx>
        <c:axId val="48672768"/>
        <c:scaling>
          <c:orientation val="minMax"/>
          <c:min val="0"/>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1E2E"/>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61E2E"/>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E172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8499F5-9260-46AA-99C7-0C4127DFF2B7}"/>
              </a:ext>
            </a:extLst>
          </p:cNvPr>
          <p:cNvSpPr>
            <a:spLocks xmlns:a="http://schemas.openxmlformats.org/drawingml/2006/main" noGrp="1"/>
          </p:cNvSpPr>
          <p:nvPr/>
        </p:nvSpPr>
        <p:spPr>
          <a:xfrm xmlns:a="http://schemas.openxmlformats.org/drawingml/2006/main">
            <a:off x="0" y="0"/>
            <a:ext cx="4064000" cy="66675"/>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CAFC88-CAB5-4C36-8A20-E305C3ACE66D}"/>
              </a:ext>
            </a:extLst>
          </p:cNvPr>
          <p:cNvSpPr>
            <a:spLocks xmlns:a="http://schemas.openxmlformats.org/drawingml/2006/main" noGrp="1"/>
          </p:cNvSpPr>
          <p:nvPr/>
        </p:nvSpPr>
        <p:spPr>
          <a:xfrm xmlns:a="http://schemas.openxmlformats.org/drawingml/2006/main">
            <a:off x="4064000" y="0"/>
            <a:ext cx="4064000" cy="66675"/>
          </a:xfrm>
          <a:prstGeom xmlns:a="http://schemas.openxmlformats.org/drawingml/2006/main" prst="rect">
            <a:avLst/>
          </a:prstGeom>
          <a:solidFill xmlns:a="http://schemas.openxmlformats.org/drawingml/2006/main">
            <a:srgbClr val="17A2A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2AF093-FB2B-4C40-BFE5-746091D396CD}"/>
              </a:ext>
            </a:extLst>
          </p:cNvPr>
          <p:cNvSpPr>
            <a:spLocks xmlns:a="http://schemas.openxmlformats.org/drawingml/2006/main" noGrp="1"/>
          </p:cNvSpPr>
          <p:nvPr/>
        </p:nvSpPr>
        <p:spPr>
          <a:xfrm xmlns:a="http://schemas.openxmlformats.org/drawingml/2006/main">
            <a:off x="8128000" y="0"/>
            <a:ext cx="4064000" cy="66675"/>
          </a:xfrm>
          <a:prstGeom xmlns:a="http://schemas.openxmlformats.org/drawingml/2006/main" prst="rect">
            <a:avLst/>
          </a:prstGeom>
          <a:solidFill xmlns:a="http://schemas.openxmlformats.org/drawingml/2006/main">
            <a:srgbClr val="7A5CF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7E702E-1916-478A-9A07-2BE71B920FD1}"/>
              </a:ext>
            </a:extLst>
          </p:cNvPr>
          <p:cNvSpPr>
            <a:spLocks xmlns:a="http://schemas.openxmlformats.org/drawingml/2006/main" noGrp="1"/>
          </p:cNvSpPr>
          <p:nvPr/>
        </p:nvSpPr>
        <p:spPr>
          <a:xfrm xmlns:a="http://schemas.openxmlformats.org/drawingml/2006/main">
            <a:off x="533400" y="1238250"/>
            <a:ext cx="11125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Modeling interception movement distributions</a:t>
            </a:r>
          </a:p>
        </p:txBody>
      </p:sp>
      <p:sp>
        <p:nvSpPr>
          <p:cNvPr id="5" name="">
            <a:extLst xmlns:a="http://schemas.openxmlformats.org/drawingml/2006/main">
              <a:ext uri="{FF2B5EF4-FFF2-40B4-BE49-F238E27FC236}">
                <a16:creationId xmlns:a16="http://schemas.microsoft.com/office/drawing/2014/main" id="{946C40A2-E67D-42DC-A7BD-1C658A5F0B4D}"/>
              </a:ext>
            </a:extLst>
          </p:cNvPr>
          <p:cNvSpPr>
            <a:spLocks xmlns:a="http://schemas.openxmlformats.org/drawingml/2006/main" noGrp="1"/>
          </p:cNvSpPr>
          <p:nvPr/>
        </p:nvSpPr>
        <p:spPr>
          <a:xfrm xmlns:a="http://schemas.openxmlformats.org/drawingml/2006/main">
            <a:off x="552450" y="2952750"/>
            <a:ext cx="10477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3B2C6"/>
                </a:solidFill>
                <a:latin typeface="Arial"/>
                <a:ea typeface="Arial"/>
                <a:cs typeface="Arial"/>
              </a:defRPr>
            </a:pPr>
            <a:r>
              <a:rPr sz="2025" b="0">
                <a:solidFill>
                  <a:srgbClr val="A3B2C6"/>
                </a:solidFill>
                <a:latin typeface="Arial"/>
                <a:ea typeface="Arial"/>
                <a:cs typeface="Arial"/>
              </a:rPr>
              <a:t>Seman Libbiss and Paz Flashner</a:t>
            </a:r>
          </a:p>
          <a:p xmlns:a="http://schemas.openxmlformats.org/drawingml/2006/main">
            <a:pPr>
              <a:defRPr sz="2025" b="0">
                <a:solidFill>
                  <a:srgbClr val="A3B2C6"/>
                </a:solidFill>
                <a:latin typeface="Arial"/>
                <a:ea typeface="Arial"/>
                <a:cs typeface="Arial"/>
              </a:defRPr>
            </a:pPr>
            <a:r>
              <a:rPr sz="2025" b="0">
                <a:solidFill>
                  <a:srgbClr val="A3B2C6"/>
                </a:solidFill>
                <a:latin typeface="Arial"/>
                <a:ea typeface="Arial"/>
                <a:cs typeface="Arial"/>
              </a:rPr>
              <a:t>Workshop on Deep Learning, Tel Aviv University</a:t>
            </a:r>
          </a:p>
          <a:p xmlns:a="http://schemas.openxmlformats.org/drawingml/2006/main">
            <a:pPr>
              <a:defRPr sz="2025" b="0">
                <a:solidFill>
                  <a:srgbClr val="A3B2C6"/>
                </a:solidFill>
                <a:latin typeface="Arial"/>
                <a:ea typeface="Arial"/>
                <a:cs typeface="Arial"/>
              </a:defRPr>
            </a:pPr>
            <a:r>
              <a:rPr sz="2025" b="0">
                <a:solidFill>
                  <a:srgbClr val="A3B2C6"/>
                </a:solidFill>
                <a:latin typeface="Arial"/>
                <a:ea typeface="Arial"/>
                <a:cs typeface="Arial"/>
              </a:rPr>
              <a:t>Jason Friedman and Moni Shahar</a:t>
            </a:r>
          </a:p>
        </p:txBody>
      </p:sp>
      <p:sp>
        <p:nvSpPr>
          <p:cNvPr id="6" name="">
            <a:extLst xmlns:a="http://schemas.openxmlformats.org/drawingml/2006/main">
              <a:ext uri="{FF2B5EF4-FFF2-40B4-BE49-F238E27FC236}">
                <a16:creationId xmlns:a16="http://schemas.microsoft.com/office/drawing/2014/main" id="{7F0B45D4-00F5-4B13-8F1A-9F4649B95700}"/>
              </a:ext>
            </a:extLst>
          </p:cNvPr>
          <p:cNvSpPr>
            <a:spLocks xmlns:a="http://schemas.openxmlformats.org/drawingml/2006/main" noGrp="1"/>
          </p:cNvSpPr>
          <p:nvPr/>
        </p:nvSpPr>
        <p:spPr>
          <a:xfrm xmlns:a="http://schemas.openxmlformats.org/drawingml/2006/main">
            <a:off x="552450" y="50482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EB1EC"/>
                </a:solidFill>
                <a:latin typeface="Arial"/>
                <a:ea typeface="Arial"/>
                <a:cs typeface="Arial"/>
              </a:defRPr>
            </a:pPr>
            <a:r>
              <a:rPr sz="2175" b="1">
                <a:solidFill>
                  <a:srgbClr val="3EB1EC"/>
                </a:solidFill>
                <a:latin typeface="Arial"/>
                <a:ea typeface="Arial"/>
                <a:cs typeface="Arial"/>
              </a:rPr>
              <a:t>A compact personal representation for stochastic movement generation</a:t>
            </a:r>
          </a:p>
        </p:txBody>
      </p:sp>
      <p:sp>
        <p:nvSpPr>
          <p:cNvPr id="7" name="">
            <a:extLst xmlns:a="http://schemas.openxmlformats.org/drawingml/2006/main">
              <a:ext uri="{FF2B5EF4-FFF2-40B4-BE49-F238E27FC236}">
                <a16:creationId xmlns:a16="http://schemas.microsoft.com/office/drawing/2014/main" id="{5662654B-D488-4F95-91E7-8C3716EB377F}"/>
              </a:ext>
            </a:extLst>
          </p:cNvPr>
          <p:cNvSpPr>
            <a:spLocks xmlns:a="http://schemas.openxmlformats.org/drawingml/2006/main" noGrp="1"/>
          </p:cNvSpPr>
          <p:nvPr/>
        </p:nvSpPr>
        <p:spPr>
          <a:xfrm xmlns:a="http://schemas.openxmlformats.org/drawingml/2006/main">
            <a:off x="11049000" y="65722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3B2C6"/>
                </a:solidFill>
                <a:latin typeface="Arial"/>
                <a:ea typeface="Arial"/>
                <a:cs typeface="Arial"/>
              </a:defRPr>
            </a:pPr>
            <a:r>
              <a:rPr sz="1050" b="0">
                <a:solidFill>
                  <a:srgbClr val="A3B2C6"/>
                </a:solidFill>
                <a:latin typeface="Arial"/>
                <a:ea typeface="Arial"/>
                <a:cs typeface="Arial"/>
              </a:rPr>
              <a:t>1 / 10</a:t>
            </a:r>
          </a:p>
        </p:txBody>
      </p:sp>
    </p:spTree>
    <p:extLst>
      <p:ext uri="{BB962C8B-B14F-4D97-AF65-F5344CB8AC3E}">
        <p14:creationId xmlns:p14="http://schemas.microsoft.com/office/powerpoint/2010/main" val="6267398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E482F9D-417F-4241-AEEC-BCA0EA275043}"/>
              </a:ext>
            </a:extLst>
          </p:cNvPr>
          <p:cNvSpPr>
            <a:spLocks xmlns:a="http://schemas.openxmlformats.org/drawingml/2006/main" noGrp="1"/>
          </p:cNvSpPr>
          <p:nvPr/>
        </p:nvSpPr>
        <p:spPr>
          <a:xfrm xmlns:a="http://schemas.openxmlformats.org/drawingml/2006/main">
            <a:off x="0" y="0"/>
            <a:ext cx="4064000" cy="66675"/>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ABE7CB-1459-4931-90CA-A8C820466294}"/>
              </a:ext>
            </a:extLst>
          </p:cNvPr>
          <p:cNvSpPr>
            <a:spLocks xmlns:a="http://schemas.openxmlformats.org/drawingml/2006/main" noGrp="1"/>
          </p:cNvSpPr>
          <p:nvPr/>
        </p:nvSpPr>
        <p:spPr>
          <a:xfrm xmlns:a="http://schemas.openxmlformats.org/drawingml/2006/main">
            <a:off x="4064000" y="0"/>
            <a:ext cx="4064000" cy="66675"/>
          </a:xfrm>
          <a:prstGeom xmlns:a="http://schemas.openxmlformats.org/drawingml/2006/main" prst="rect">
            <a:avLst/>
          </a:prstGeom>
          <a:solidFill xmlns:a="http://schemas.openxmlformats.org/drawingml/2006/main">
            <a:srgbClr val="17A2A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F03B9B8-4470-4082-899F-DBDEC1140A00}"/>
              </a:ext>
            </a:extLst>
          </p:cNvPr>
          <p:cNvSpPr>
            <a:spLocks xmlns:a="http://schemas.openxmlformats.org/drawingml/2006/main" noGrp="1"/>
          </p:cNvSpPr>
          <p:nvPr/>
        </p:nvSpPr>
        <p:spPr>
          <a:xfrm xmlns:a="http://schemas.openxmlformats.org/drawingml/2006/main">
            <a:off x="8128000" y="0"/>
            <a:ext cx="4064000" cy="66675"/>
          </a:xfrm>
          <a:prstGeom xmlns:a="http://schemas.openxmlformats.org/drawingml/2006/main" prst="rect">
            <a:avLst/>
          </a:prstGeom>
          <a:solidFill xmlns:a="http://schemas.openxmlformats.org/drawingml/2006/main">
            <a:srgbClr val="7A5CF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08AF92-85DB-40D5-B99F-80622D9A79CF}"/>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E1E6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73E239-42CC-4B58-BF4F-4035E0243306}"/>
              </a:ext>
            </a:extLst>
          </p:cNvPr>
          <p:cNvSpPr>
            <a:spLocks xmlns:a="http://schemas.openxmlformats.org/drawingml/2006/main" noGrp="1"/>
          </p:cNvSpPr>
          <p:nvPr/>
        </p:nvSpPr>
        <p:spPr>
          <a:xfrm xmlns:a="http://schemas.openxmlformats.org/drawingml/2006/main">
            <a:off x="533400" y="5143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1E2E"/>
                </a:solidFill>
                <a:latin typeface="Arial"/>
                <a:ea typeface="Arial"/>
                <a:cs typeface="Arial"/>
              </a:defRPr>
            </a:pPr>
            <a:r>
              <a:rPr sz="2700" b="1">
                <a:solidFill>
                  <a:srgbClr val="161E2E"/>
                </a:solidFill>
                <a:latin typeface="Arial"/>
                <a:ea typeface="Arial"/>
                <a:cs typeface="Arial"/>
              </a:rPr>
              <a:t>The task and the evaluation split</a:t>
            </a:r>
          </a:p>
        </p:txBody>
      </p:sp>
      <p:sp>
        <p:nvSpPr>
          <p:cNvPr id="6" name="">
            <a:extLst xmlns:a="http://schemas.openxmlformats.org/drawingml/2006/main">
              <a:ext uri="{FF2B5EF4-FFF2-40B4-BE49-F238E27FC236}">
                <a16:creationId xmlns:a16="http://schemas.microsoft.com/office/drawing/2014/main" id="{8E3638E0-191E-4E74-9086-92E4EAEFB75C}"/>
              </a:ext>
            </a:extLst>
          </p:cNvPr>
          <p:cNvSpPr>
            <a:spLocks xmlns:a="http://schemas.openxmlformats.org/drawingml/2006/main" noGrp="1"/>
          </p:cNvSpPr>
          <p:nvPr/>
        </p:nvSpPr>
        <p:spPr>
          <a:xfrm xmlns:a="http://schemas.openxmlformats.org/drawingml/2006/main">
            <a:off x="552450" y="153352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1E2E"/>
                </a:solidFill>
                <a:latin typeface="Arial"/>
                <a:ea typeface="Arial"/>
                <a:cs typeface="Arial"/>
              </a:defRPr>
            </a:pPr>
            <a:r>
              <a:rPr sz="1875" b="0">
                <a:solidFill>
                  <a:srgbClr val="161E2E"/>
                </a:solidFill>
                <a:latin typeface="Arial"/>
                <a:ea typeface="Arial"/>
                <a:cs typeface="Arial"/>
              </a:rPr>
              <a:t>4,732 trials from 28 participants</a:t>
            </a:r>
          </a:p>
          <a:p xmlns:a="http://schemas.openxmlformats.org/drawingml/2006/main">
            <a:pPr>
              <a:defRPr sz="1875" b="0">
                <a:solidFill>
                  <a:srgbClr val="161E2E"/>
                </a:solidFill>
                <a:latin typeface="Arial"/>
                <a:ea typeface="Arial"/>
                <a:cs typeface="Arial"/>
              </a:defRPr>
            </a:pPr>
            <a:r>
              <a:rPr sz="1875" b="0">
                <a:solidFill>
                  <a:srgbClr val="161E2E"/>
                </a:solidFill>
                <a:latin typeface="Arial"/>
                <a:ea typeface="Arial"/>
                <a:cs typeface="Arial"/>
              </a:rPr>
              <a:t>Four rotations: 17 train / 4 validation / 7 test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5e3293177854b42"/>
          <a:stretch xmlns:a="http://schemas.openxmlformats.org/drawingml/2006/main"/>
        </p:blipFill>
        <p:spPr>
          <a:xfrm xmlns:a="http://schemas.openxmlformats.org/drawingml/2006/main">
            <a:off x="2350549" y="2266950"/>
            <a:ext cx="7452802" cy="3371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EB4D2A7-562F-4BA4-A841-49BF99B8D445}"/>
              </a:ext>
            </a:extLst>
          </p:cNvPr>
          <p:cNvSpPr>
            <a:spLocks xmlns:a="http://schemas.openxmlformats.org/drawingml/2006/main" noGrp="1"/>
          </p:cNvSpPr>
          <p:nvPr/>
        </p:nvSpPr>
        <p:spPr>
          <a:xfrm xmlns:a="http://schemas.openxmlformats.org/drawingml/2006/main">
            <a:off x="533400" y="5705475"/>
            <a:ext cx="11125200" cy="742950"/>
          </a:xfrm>
          <a:prstGeom xmlns:a="http://schemas.openxmlformats.org/drawingml/2006/main" prst="rect">
            <a:avLst/>
          </a:prstGeom>
          <a:solidFill xmlns:a="http://schemas.openxmlformats.org/drawingml/2006/main">
            <a:srgbClr val="EFF5F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CF9B495-7B4F-4C4C-8C4F-B6C58F113BB4}"/>
              </a:ext>
            </a:extLst>
          </p:cNvPr>
          <p:cNvSpPr>
            <a:spLocks xmlns:a="http://schemas.openxmlformats.org/drawingml/2006/main" noGrp="1"/>
          </p:cNvSpPr>
          <p:nvPr/>
        </p:nvSpPr>
        <p:spPr>
          <a:xfrm xmlns:a="http://schemas.openxmlformats.org/drawingml/2006/main">
            <a:off x="533400" y="5705475"/>
            <a:ext cx="38100" cy="742950"/>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9836E99-C535-49AD-9C2C-D4D184A4EB46}"/>
              </a:ext>
            </a:extLst>
          </p:cNvPr>
          <p:cNvSpPr>
            <a:spLocks xmlns:a="http://schemas.openxmlformats.org/drawingml/2006/main" noGrp="1"/>
          </p:cNvSpPr>
          <p:nvPr/>
        </p:nvSpPr>
        <p:spPr>
          <a:xfrm xmlns:a="http://schemas.openxmlformats.org/drawingml/2006/main">
            <a:off x="685800" y="5800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3D4756"/>
                </a:solidFill>
                <a:latin typeface="Arial"/>
                <a:ea typeface="Arial"/>
                <a:cs typeface="Arial"/>
              </a:defRPr>
            </a:pPr>
            <a:r>
              <a:rPr sz="1425" b="0">
                <a:solidFill>
                  <a:srgbClr val="3D4756"/>
                </a:solidFill>
                <a:latin typeface="Arial"/>
                <a:ea typeface="Arial"/>
                <a:cs typeface="Arial"/>
              </a:rPr>
              <a:t>Free eye movement. All 180 trajectories from the first participant by identifier. Median retained trials: 179.5.</a:t>
            </a:r>
          </a:p>
        </p:txBody>
      </p:sp>
      <p:sp>
        <p:nvSpPr>
          <p:cNvPr id="11" name="">
            <a:extLst xmlns:a="http://schemas.openxmlformats.org/drawingml/2006/main">
              <a:ext uri="{FF2B5EF4-FFF2-40B4-BE49-F238E27FC236}">
                <a16:creationId xmlns:a16="http://schemas.microsoft.com/office/drawing/2014/main" id="{69A3FEB8-3184-43B8-AB18-85ECE2AF24AF}"/>
              </a:ext>
            </a:extLst>
          </p:cNvPr>
          <p:cNvSpPr>
            <a:spLocks xmlns:a="http://schemas.openxmlformats.org/drawingml/2006/main" noGrp="1"/>
          </p:cNvSpPr>
          <p:nvPr/>
        </p:nvSpPr>
        <p:spPr>
          <a:xfrm xmlns:a="http://schemas.openxmlformats.org/drawingml/2006/main">
            <a:off x="11049000" y="65722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37E8B"/>
                </a:solidFill>
                <a:latin typeface="Arial"/>
                <a:ea typeface="Arial"/>
                <a:cs typeface="Arial"/>
              </a:defRPr>
            </a:pPr>
            <a:r>
              <a:rPr sz="1050" b="0">
                <a:solidFill>
                  <a:srgbClr val="737E8B"/>
                </a:solidFill>
                <a:latin typeface="Arial"/>
                <a:ea typeface="Arial"/>
                <a:cs typeface="Arial"/>
              </a:rPr>
              <a:t>2 / 10</a:t>
            </a:r>
          </a:p>
        </p:txBody>
      </p:sp>
    </p:spTree>
    <p:extLst>
      <p:ext uri="{BB962C8B-B14F-4D97-AF65-F5344CB8AC3E}">
        <p14:creationId xmlns:p14="http://schemas.microsoft.com/office/powerpoint/2010/main" val="8746569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9147A2-17EF-4C0E-8F1D-A9149BD45DED}"/>
              </a:ext>
            </a:extLst>
          </p:cNvPr>
          <p:cNvSpPr>
            <a:spLocks xmlns:a="http://schemas.openxmlformats.org/drawingml/2006/main" noGrp="1"/>
          </p:cNvSpPr>
          <p:nvPr/>
        </p:nvSpPr>
        <p:spPr>
          <a:xfrm xmlns:a="http://schemas.openxmlformats.org/drawingml/2006/main">
            <a:off x="0" y="0"/>
            <a:ext cx="4064000" cy="66675"/>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8E825E-1170-4770-8357-E4B8FEDE3E64}"/>
              </a:ext>
            </a:extLst>
          </p:cNvPr>
          <p:cNvSpPr>
            <a:spLocks xmlns:a="http://schemas.openxmlformats.org/drawingml/2006/main" noGrp="1"/>
          </p:cNvSpPr>
          <p:nvPr/>
        </p:nvSpPr>
        <p:spPr>
          <a:xfrm xmlns:a="http://schemas.openxmlformats.org/drawingml/2006/main">
            <a:off x="4064000" y="0"/>
            <a:ext cx="4064000" cy="66675"/>
          </a:xfrm>
          <a:prstGeom xmlns:a="http://schemas.openxmlformats.org/drawingml/2006/main" prst="rect">
            <a:avLst/>
          </a:prstGeom>
          <a:solidFill xmlns:a="http://schemas.openxmlformats.org/drawingml/2006/main">
            <a:srgbClr val="17A2A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54D5579-1BA2-4B4E-9F74-6AD54BE66A5B}"/>
              </a:ext>
            </a:extLst>
          </p:cNvPr>
          <p:cNvSpPr>
            <a:spLocks xmlns:a="http://schemas.openxmlformats.org/drawingml/2006/main" noGrp="1"/>
          </p:cNvSpPr>
          <p:nvPr/>
        </p:nvSpPr>
        <p:spPr>
          <a:xfrm xmlns:a="http://schemas.openxmlformats.org/drawingml/2006/main">
            <a:off x="8128000" y="0"/>
            <a:ext cx="4064000" cy="66675"/>
          </a:xfrm>
          <a:prstGeom xmlns:a="http://schemas.openxmlformats.org/drawingml/2006/main" prst="rect">
            <a:avLst/>
          </a:prstGeom>
          <a:solidFill xmlns:a="http://schemas.openxmlformats.org/drawingml/2006/main">
            <a:srgbClr val="7A5CF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D93CBC-1000-47E7-A6BE-4DAB7573858F}"/>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E1E6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78A01DE-C2B5-46FB-A641-0214D6BB0CA0}"/>
              </a:ext>
            </a:extLst>
          </p:cNvPr>
          <p:cNvSpPr>
            <a:spLocks xmlns:a="http://schemas.openxmlformats.org/drawingml/2006/main" noGrp="1"/>
          </p:cNvSpPr>
          <p:nvPr/>
        </p:nvSpPr>
        <p:spPr>
          <a:xfrm xmlns:a="http://schemas.openxmlformats.org/drawingml/2006/main">
            <a:off x="533400" y="5143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1E2E"/>
                </a:solidFill>
                <a:latin typeface="Arial"/>
                <a:ea typeface="Arial"/>
                <a:cs typeface="Arial"/>
              </a:defRPr>
            </a:pPr>
            <a:r>
              <a:rPr sz="2700" b="1">
                <a:solidFill>
                  <a:srgbClr val="161E2E"/>
                </a:solidFill>
                <a:latin typeface="Arial"/>
                <a:ea typeface="Arial"/>
                <a:cs typeface="Arial"/>
              </a:rPr>
              <a:t>The compression pipelines</a:t>
            </a:r>
          </a:p>
        </p:txBody>
      </p:sp>
      <p:sp>
        <p:nvSpPr>
          <p:cNvPr id="6" name="">
            <a:extLst xmlns:a="http://schemas.openxmlformats.org/drawingml/2006/main">
              <a:ext uri="{FF2B5EF4-FFF2-40B4-BE49-F238E27FC236}">
                <a16:creationId xmlns:a16="http://schemas.microsoft.com/office/drawing/2014/main" id="{81ECCEE2-47DC-4FC2-BEFB-D5D1FC5D4FB8}"/>
              </a:ext>
            </a:extLst>
          </p:cNvPr>
          <p:cNvSpPr>
            <a:spLocks xmlns:a="http://schemas.openxmlformats.org/drawingml/2006/main" noGrp="1"/>
          </p:cNvSpPr>
          <p:nvPr/>
        </p:nvSpPr>
        <p:spPr>
          <a:xfrm xmlns:a="http://schemas.openxmlformats.org/drawingml/2006/main">
            <a:off x="552450" y="1562100"/>
            <a:ext cx="1100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1E2E"/>
                </a:solidFill>
                <a:latin typeface="Arial"/>
                <a:ea typeface="Arial"/>
                <a:cs typeface="Arial"/>
              </a:defRPr>
            </a:pPr>
            <a:r>
              <a:rPr sz="1725" b="0">
                <a:solidFill>
                  <a:srgbClr val="161E2E"/>
                </a:solidFill>
                <a:latin typeface="Arial"/>
                <a:ea typeface="Arial"/>
                <a:cs typeface="Arial"/>
              </a:rPr>
              <a:t>Every trajectory becomes 100 x 2 positions on normalized time.</a:t>
            </a:r>
          </a:p>
        </p:txBody>
      </p:sp>
      <p:graphicFrame>
        <p:nvGraphicFramePr>
          <p:cNvPr id="18" name=""/>
          <p:cNvGraphicFramePr/>
          <p:nvPr/>
        </p:nvGraphicFramePr>
        <p:xfrm>
          <a:off xmlns:a="http://schemas.openxmlformats.org/drawingml/2006/main" x="552450" y="2266950"/>
          <a:ext xmlns:a="http://schemas.openxmlformats.org/drawingml/2006/main" cx="11049000" cy="2476500"/>
        </p:xfrm>
        <a:graphic xmlns:a="http://schemas.openxmlformats.org/drawingml/2006/main">
          <a:graphicData uri="http://schemas.openxmlformats.org/drawingml/2006/table">
            <a:tbl>
              <a:tblPr/>
              <a:tblGrid>
                <a:gridCol w="1988820"/>
                <a:gridCol w="4530090"/>
                <a:gridCol w="4530090"/>
              </a:tblGrid>
              <a:tr h="495300">
                <a:tc>
                  <a:txBody>
                    <a:bodyPr/>
                    <a:lstStyle/>
                    <a:p>
                      <a:r>
                        <a:rPr sz="1650" b="1">
                          <a:solidFill>
                            <a:srgbClr val="FFFFFF"/>
                          </a:solidFill>
                          <a:latin typeface="Arial"/>
                          <a:ea typeface="Arial"/>
                          <a:cs typeface="Arial"/>
                        </a:rPr>
                        <a:t>Stage</a:t>
                      </a:r>
                    </a:p>
                  </a:txBody>
                  <a:tcPr marL="114300" marR="95250" marT="66675" marB="57150" anchor="ctr">
                    <a:solidFill>
                      <a:srgbClr val="161E2E"/>
                    </a:solidFill>
                  </a:tcPr>
                </a:tc>
                <a:tc>
                  <a:txBody>
                    <a:bodyPr/>
                    <a:lstStyle/>
                    <a:p>
                      <a:r>
                        <a:rPr sz="1650" b="1">
                          <a:solidFill>
                            <a:srgbClr val="FFFFFF"/>
                          </a:solidFill>
                          <a:latin typeface="Arial"/>
                          <a:ea typeface="Arial"/>
                          <a:cs typeface="Arial"/>
                        </a:rPr>
                        <a:t>Spline + PCA</a:t>
                      </a:r>
                    </a:p>
                  </a:txBody>
                  <a:tcPr marL="114300" marR="95250" marT="66675" marB="57150" anchor="ctr">
                    <a:solidFill>
                      <a:srgbClr val="161E2E"/>
                    </a:solidFill>
                  </a:tcPr>
                </a:tc>
                <a:tc>
                  <a:txBody>
                    <a:bodyPr/>
                    <a:lstStyle/>
                    <a:p>
                      <a:r>
                        <a:rPr sz="1650" b="1">
                          <a:solidFill>
                            <a:srgbClr val="FFFFFF"/>
                          </a:solidFill>
                          <a:latin typeface="Arial"/>
                          <a:ea typeface="Arial"/>
                          <a:cs typeface="Arial"/>
                        </a:rPr>
                        <a:t>Neural models</a:t>
                      </a:r>
                    </a:p>
                  </a:txBody>
                  <a:tcPr marL="114300" marR="95250" marT="66675" marB="57150" anchor="ctr">
                    <a:solidFill>
                      <a:srgbClr val="161E2E"/>
                    </a:solidFill>
                  </a:tcPr>
                </a:tc>
              </a:tr>
              <a:tr h="495300">
                <a:tc>
                  <a:txBody>
                    <a:bodyPr/>
                    <a:lstStyle/>
                    <a:p>
                      <a:r>
                        <a:rPr sz="1650" b="0">
                          <a:solidFill>
                            <a:srgbClr val="161E2E"/>
                          </a:solidFill>
                          <a:latin typeface="Arial"/>
                          <a:ea typeface="Arial"/>
                          <a:cs typeface="Arial"/>
                        </a:rPr>
                        <a:t>Input</a:t>
                      </a:r>
                    </a:p>
                  </a:txBody>
                  <a:tcPr marL="114300" marR="95250" marT="66675" marB="57150" anchor="ctr">
                    <a:solidFill>
                      <a:srgbClr val="F8FAFC"/>
                    </a:solidFill>
                  </a:tcPr>
                </a:tc>
                <a:tc>
                  <a:txBody>
                    <a:bodyPr/>
                    <a:lstStyle/>
                    <a:p>
                      <a:r>
                        <a:rPr sz="1650" b="0">
                          <a:solidFill>
                            <a:srgbClr val="161E2E"/>
                          </a:solidFill>
                          <a:latin typeface="Arial"/>
                          <a:ea typeface="Arial"/>
                          <a:cs typeface="Arial"/>
                        </a:rPr>
                        <a:t>100 x 2 positions</a:t>
                      </a:r>
                    </a:p>
                  </a:txBody>
                  <a:tcPr marL="114300" marR="95250" marT="66675" marB="57150" anchor="ctr">
                    <a:solidFill>
                      <a:srgbClr val="F8FAFC"/>
                    </a:solidFill>
                  </a:tcPr>
                </a:tc>
                <a:tc>
                  <a:txBody>
                    <a:bodyPr/>
                    <a:lstStyle/>
                    <a:p>
                      <a:r>
                        <a:rPr sz="1650" b="0">
                          <a:solidFill>
                            <a:srgbClr val="161E2E"/>
                          </a:solidFill>
                          <a:latin typeface="Arial"/>
                          <a:ea typeface="Arial"/>
                          <a:cs typeface="Arial"/>
                        </a:rPr>
                        <a:t>200 standardized coordinates</a:t>
                      </a:r>
                    </a:p>
                  </a:txBody>
                  <a:tcPr marL="114300" marR="95250" marT="66675" marB="57150" anchor="ctr">
                    <a:solidFill>
                      <a:srgbClr val="F8FAFC"/>
                    </a:solidFill>
                  </a:tcPr>
                </a:tc>
              </a:tr>
              <a:tr h="495300">
                <a:tc>
                  <a:txBody>
                    <a:bodyPr/>
                    <a:lstStyle/>
                    <a:p>
                      <a:r>
                        <a:rPr sz="1650" b="0">
                          <a:solidFill>
                            <a:srgbClr val="161E2E"/>
                          </a:solidFill>
                          <a:latin typeface="Arial"/>
                          <a:ea typeface="Arial"/>
                          <a:cs typeface="Arial"/>
                        </a:rPr>
                        <a:t>Encoder</a:t>
                      </a:r>
                    </a:p>
                  </a:txBody>
                  <a:tcPr marL="114300" marR="95250" marT="66675" marB="57150" anchor="ctr">
                    <a:solidFill>
                      <a:srgbClr val="FFFFFF"/>
                    </a:solidFill>
                  </a:tcPr>
                </a:tc>
                <a:tc>
                  <a:txBody>
                    <a:bodyPr/>
                    <a:lstStyle/>
                    <a:p>
                      <a:r>
                        <a:rPr sz="1650" b="0">
                          <a:solidFill>
                            <a:srgbClr val="161E2E"/>
                          </a:solidFill>
                          <a:latin typeface="Arial"/>
                          <a:ea typeface="Arial"/>
                          <a:cs typeface="Arial"/>
                        </a:rPr>
                        <a:t>9 coefficients per axis; PCA on N x 18 matrix</a:t>
                      </a:r>
                    </a:p>
                  </a:txBody>
                  <a:tcPr marL="114300" marR="95250" marT="66675" marB="57150" anchor="ctr">
                    <a:solidFill>
                      <a:srgbClr val="FFFFFF"/>
                    </a:solidFill>
                  </a:tcPr>
                </a:tc>
                <a:tc>
                  <a:txBody>
                    <a:bodyPr/>
                    <a:lstStyle/>
                    <a:p>
                      <a:r>
                        <a:rPr sz="1650" b="0">
                          <a:solidFill>
                            <a:srgbClr val="161E2E"/>
                          </a:solidFill>
                          <a:latin typeface="Arial"/>
                          <a:ea typeface="Arial"/>
                          <a:cs typeface="Arial"/>
                        </a:rPr>
                        <a:t>Two 256-unit layers; n-value code</a:t>
                      </a:r>
                    </a:p>
                  </a:txBody>
                  <a:tcPr marL="114300" marR="95250" marT="66675" marB="57150" anchor="ctr">
                    <a:solidFill>
                      <a:srgbClr val="FFFFFF"/>
                    </a:solidFill>
                  </a:tcPr>
                </a:tc>
              </a:tr>
              <a:tr h="495300">
                <a:tc>
                  <a:txBody>
                    <a:bodyPr/>
                    <a:lstStyle/>
                    <a:p>
                      <a:r>
                        <a:rPr sz="1650" b="0">
                          <a:solidFill>
                            <a:srgbClr val="161E2E"/>
                          </a:solidFill>
                          <a:latin typeface="Arial"/>
                          <a:ea typeface="Arial"/>
                          <a:cs typeface="Arial"/>
                        </a:rPr>
                        <a:t>Decoder</a:t>
                      </a:r>
                    </a:p>
                  </a:txBody>
                  <a:tcPr marL="114300" marR="95250" marT="66675" marB="57150" anchor="ctr">
                    <a:solidFill>
                      <a:srgbClr val="F8FAFC"/>
                    </a:solidFill>
                  </a:tcPr>
                </a:tc>
                <a:tc>
                  <a:txBody>
                    <a:bodyPr/>
                    <a:lstStyle/>
                    <a:p>
                      <a:r>
                        <a:rPr sz="1650" b="0">
                          <a:solidFill>
                            <a:srgbClr val="161E2E"/>
                          </a:solidFill>
                          <a:latin typeface="Arial"/>
                          <a:ea typeface="Arial"/>
                          <a:cs typeface="Arial"/>
                        </a:rPr>
                        <a:t>Inverse PCA; two spline basis products</a:t>
                      </a:r>
                    </a:p>
                  </a:txBody>
                  <a:tcPr marL="114300" marR="95250" marT="66675" marB="57150" anchor="ctr">
                    <a:solidFill>
                      <a:srgbClr val="F8FAFC"/>
                    </a:solidFill>
                  </a:tcPr>
                </a:tc>
                <a:tc>
                  <a:txBody>
                    <a:bodyPr/>
                    <a:lstStyle/>
                    <a:p>
                      <a:r>
                        <a:rPr sz="1650" b="0">
                          <a:solidFill>
                            <a:srgbClr val="161E2E"/>
                          </a:solidFill>
                          <a:latin typeface="Arial"/>
                          <a:ea typeface="Arial"/>
                          <a:cs typeface="Arial"/>
                        </a:rPr>
                        <a:t>Two 256-unit layers; 200 coordinates</a:t>
                      </a:r>
                    </a:p>
                  </a:txBody>
                  <a:tcPr marL="114300" marR="95250" marT="66675" marB="57150" anchor="ctr">
                    <a:solidFill>
                      <a:srgbClr val="F8FAFC"/>
                    </a:solidFill>
                  </a:tcPr>
                </a:tc>
              </a:tr>
              <a:tr h="495300">
                <a:tc>
                  <a:txBody>
                    <a:bodyPr/>
                    <a:lstStyle/>
                    <a:p>
                      <a:r>
                        <a:rPr sz="1650" b="0">
                          <a:solidFill>
                            <a:srgbClr val="161E2E"/>
                          </a:solidFill>
                          <a:latin typeface="Arial"/>
                          <a:ea typeface="Arial"/>
                          <a:cs typeface="Arial"/>
                        </a:rPr>
                        <a:t>Timing output</a:t>
                      </a:r>
                    </a:p>
                  </a:txBody>
                  <a:tcPr marL="114300" marR="95250" marT="66675" marB="57150" anchor="ctr">
                    <a:solidFill>
                      <a:srgbClr val="FFFFFF"/>
                    </a:solidFill>
                  </a:tcPr>
                </a:tc>
                <a:tc>
                  <a:txBody>
                    <a:bodyPr/>
                    <a:lstStyle/>
                    <a:p>
                      <a:r>
                        <a:rPr sz="1650" b="0">
                          <a:solidFill>
                            <a:srgbClr val="161E2E"/>
                          </a:solidFill>
                          <a:latin typeface="Arial"/>
                          <a:ea typeface="Arial"/>
                          <a:cs typeface="Arial"/>
                        </a:rPr>
                        <a:t>Ridge on code + 5 conditions</a:t>
                      </a:r>
                    </a:p>
                  </a:txBody>
                  <a:tcPr marL="114300" marR="95250" marT="66675" marB="57150" anchor="ctr">
                    <a:solidFill>
                      <a:srgbClr val="FFFFFF"/>
                    </a:solidFill>
                  </a:tcPr>
                </a:tc>
                <a:tc>
                  <a:txBody>
                    <a:bodyPr/>
                    <a:lstStyle/>
                    <a:p>
                      <a:r>
                        <a:rPr sz="1650" b="0">
                          <a:solidFill>
                            <a:srgbClr val="161E2E"/>
                          </a:solidFill>
                          <a:latin typeface="Arial"/>
                          <a:ea typeface="Arial"/>
                          <a:cs typeface="Arial"/>
                        </a:rPr>
                        <a:t>Separate two-duration head</a:t>
                      </a:r>
                    </a:p>
                  </a:txBody>
                  <a:tcPr marL="114300" marR="95250" marT="66675" marB="571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F0E328C-188C-426E-A2A6-2ECF4A227D40}"/>
              </a:ext>
            </a:extLst>
          </p:cNvPr>
          <p:cNvSpPr>
            <a:spLocks xmlns:a="http://schemas.openxmlformats.org/drawingml/2006/main" noGrp="1"/>
          </p:cNvSpPr>
          <p:nvPr/>
        </p:nvSpPr>
        <p:spPr>
          <a:xfrm xmlns:a="http://schemas.openxmlformats.org/drawingml/2006/main">
            <a:off x="533400" y="5705475"/>
            <a:ext cx="11125200" cy="742950"/>
          </a:xfrm>
          <a:prstGeom xmlns:a="http://schemas.openxmlformats.org/drawingml/2006/main" prst="rect">
            <a:avLst/>
          </a:prstGeom>
          <a:solidFill xmlns:a="http://schemas.openxmlformats.org/drawingml/2006/main">
            <a:srgbClr val="EFF5F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304A517-FC39-4475-911B-04113281D560}"/>
              </a:ext>
            </a:extLst>
          </p:cNvPr>
          <p:cNvSpPr>
            <a:spLocks xmlns:a="http://schemas.openxmlformats.org/drawingml/2006/main" noGrp="1"/>
          </p:cNvSpPr>
          <p:nvPr/>
        </p:nvSpPr>
        <p:spPr>
          <a:xfrm xmlns:a="http://schemas.openxmlformats.org/drawingml/2006/main">
            <a:off x="533400" y="5705475"/>
            <a:ext cx="38100" cy="742950"/>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DFA1CCF-B0F7-4ADC-B36A-A8AABC86A434}"/>
              </a:ext>
            </a:extLst>
          </p:cNvPr>
          <p:cNvSpPr>
            <a:spLocks xmlns:a="http://schemas.openxmlformats.org/drawingml/2006/main" noGrp="1"/>
          </p:cNvSpPr>
          <p:nvPr/>
        </p:nvSpPr>
        <p:spPr>
          <a:xfrm xmlns:a="http://schemas.openxmlformats.org/drawingml/2006/main">
            <a:off x="685800" y="5800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3D4756"/>
                </a:solidFill>
                <a:latin typeface="Arial"/>
                <a:ea typeface="Arial"/>
                <a:cs typeface="Arial"/>
              </a:defRPr>
            </a:pPr>
            <a:r>
              <a:rPr sz="1425" b="0">
                <a:solidFill>
                  <a:srgbClr val="3D4756"/>
                </a:solidFill>
                <a:latin typeface="Arial"/>
                <a:ea typeface="Arial"/>
                <a:cs typeface="Arial"/>
              </a:rPr>
              <a:t>VAE: variational autoencoder. CVAE adds task conditions; CAE uses a deterministic code. Matched n = 3 and 8.</a:t>
            </a:r>
          </a:p>
        </p:txBody>
      </p:sp>
      <p:sp>
        <p:nvSpPr>
          <p:cNvPr id="11" name="">
            <a:extLst xmlns:a="http://schemas.openxmlformats.org/drawingml/2006/main">
              <a:ext uri="{FF2B5EF4-FFF2-40B4-BE49-F238E27FC236}">
                <a16:creationId xmlns:a16="http://schemas.microsoft.com/office/drawing/2014/main" id="{7BEAA5B0-D496-4DAC-9E1B-4195184F2657}"/>
              </a:ext>
            </a:extLst>
          </p:cNvPr>
          <p:cNvSpPr>
            <a:spLocks xmlns:a="http://schemas.openxmlformats.org/drawingml/2006/main" noGrp="1"/>
          </p:cNvSpPr>
          <p:nvPr/>
        </p:nvSpPr>
        <p:spPr>
          <a:xfrm xmlns:a="http://schemas.openxmlformats.org/drawingml/2006/main">
            <a:off x="11049000" y="65722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37E8B"/>
                </a:solidFill>
                <a:latin typeface="Arial"/>
                <a:ea typeface="Arial"/>
                <a:cs typeface="Arial"/>
              </a:defRPr>
            </a:pPr>
            <a:r>
              <a:rPr sz="1050" b="0">
                <a:solidFill>
                  <a:srgbClr val="737E8B"/>
                </a:solidFill>
                <a:latin typeface="Arial"/>
                <a:ea typeface="Arial"/>
                <a:cs typeface="Arial"/>
              </a:rPr>
              <a:t>3 / 10</a:t>
            </a:r>
          </a:p>
        </p:txBody>
      </p:sp>
    </p:spTree>
    <p:extLst>
      <p:ext uri="{BB962C8B-B14F-4D97-AF65-F5344CB8AC3E}">
        <p14:creationId xmlns:p14="http://schemas.microsoft.com/office/powerpoint/2010/main" val="2555087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CF320BC-594D-44D4-8C5E-C6162FEDE3DC}"/>
              </a:ext>
            </a:extLst>
          </p:cNvPr>
          <p:cNvSpPr>
            <a:spLocks xmlns:a="http://schemas.openxmlformats.org/drawingml/2006/main" noGrp="1"/>
          </p:cNvSpPr>
          <p:nvPr/>
        </p:nvSpPr>
        <p:spPr>
          <a:xfrm xmlns:a="http://schemas.openxmlformats.org/drawingml/2006/main">
            <a:off x="0" y="0"/>
            <a:ext cx="4064000" cy="66675"/>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49999E-637A-406F-8B86-3A29AE613B46}"/>
              </a:ext>
            </a:extLst>
          </p:cNvPr>
          <p:cNvSpPr>
            <a:spLocks xmlns:a="http://schemas.openxmlformats.org/drawingml/2006/main" noGrp="1"/>
          </p:cNvSpPr>
          <p:nvPr/>
        </p:nvSpPr>
        <p:spPr>
          <a:xfrm xmlns:a="http://schemas.openxmlformats.org/drawingml/2006/main">
            <a:off x="4064000" y="0"/>
            <a:ext cx="4064000" cy="66675"/>
          </a:xfrm>
          <a:prstGeom xmlns:a="http://schemas.openxmlformats.org/drawingml/2006/main" prst="rect">
            <a:avLst/>
          </a:prstGeom>
          <a:solidFill xmlns:a="http://schemas.openxmlformats.org/drawingml/2006/main">
            <a:srgbClr val="17A2A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0408EBB-7E39-413B-AA5F-BB4C7585F061}"/>
              </a:ext>
            </a:extLst>
          </p:cNvPr>
          <p:cNvSpPr>
            <a:spLocks xmlns:a="http://schemas.openxmlformats.org/drawingml/2006/main" noGrp="1"/>
          </p:cNvSpPr>
          <p:nvPr/>
        </p:nvSpPr>
        <p:spPr>
          <a:xfrm xmlns:a="http://schemas.openxmlformats.org/drawingml/2006/main">
            <a:off x="8128000" y="0"/>
            <a:ext cx="4064000" cy="66675"/>
          </a:xfrm>
          <a:prstGeom xmlns:a="http://schemas.openxmlformats.org/drawingml/2006/main" prst="rect">
            <a:avLst/>
          </a:prstGeom>
          <a:solidFill xmlns:a="http://schemas.openxmlformats.org/drawingml/2006/main">
            <a:srgbClr val="7A5CF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D54C93-5683-41DD-9720-911F030825E1}"/>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E1E6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8A68A9B-005F-4F76-9C26-FB04A303A4D0}"/>
              </a:ext>
            </a:extLst>
          </p:cNvPr>
          <p:cNvSpPr>
            <a:spLocks xmlns:a="http://schemas.openxmlformats.org/drawingml/2006/main" noGrp="1"/>
          </p:cNvSpPr>
          <p:nvPr/>
        </p:nvSpPr>
        <p:spPr>
          <a:xfrm xmlns:a="http://schemas.openxmlformats.org/drawingml/2006/main">
            <a:off x="533400" y="5143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1E2E"/>
                </a:solidFill>
                <a:latin typeface="Arial"/>
                <a:ea typeface="Arial"/>
                <a:cs typeface="Arial"/>
              </a:defRPr>
            </a:pPr>
            <a:r>
              <a:rPr sz="2700" b="1">
                <a:solidFill>
                  <a:srgbClr val="161E2E"/>
                </a:solidFill>
                <a:latin typeface="Arial"/>
                <a:ea typeface="Arial"/>
                <a:cs typeface="Arial"/>
              </a:rPr>
              <a:t>Reconstruction favors spline + PCA</a:t>
            </a:r>
          </a:p>
        </p:txBody>
      </p:sp>
      <p:sp>
        <p:nvSpPr>
          <p:cNvPr id="6" name="">
            <a:extLst xmlns:a="http://schemas.openxmlformats.org/drawingml/2006/main">
              <a:ext uri="{FF2B5EF4-FFF2-40B4-BE49-F238E27FC236}">
                <a16:creationId xmlns:a16="http://schemas.microsoft.com/office/drawing/2014/main" id="{81FA5DA5-CD65-4890-9128-C4A4E7E8F72B}"/>
              </a:ext>
            </a:extLst>
          </p:cNvPr>
          <p:cNvSpPr>
            <a:spLocks xmlns:a="http://schemas.openxmlformats.org/drawingml/2006/main" noGrp="1"/>
          </p:cNvSpPr>
          <p:nvPr/>
        </p:nvSpPr>
        <p:spPr>
          <a:xfrm xmlns:a="http://schemas.openxmlformats.org/drawingml/2006/main">
            <a:off x="552450" y="15335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1E2E"/>
                </a:solidFill>
                <a:latin typeface="Arial"/>
                <a:ea typeface="Arial"/>
                <a:cs typeface="Arial"/>
              </a:defRPr>
            </a:pPr>
            <a:r>
              <a:rPr sz="1875" b="0">
                <a:solidFill>
                  <a:srgbClr val="161E2E"/>
                </a:solidFill>
                <a:latin typeface="Arial"/>
                <a:ea typeface="Arial"/>
                <a:cs typeface="Arial"/>
              </a:rPr>
              <a:t>The encoder receives the observed test trajectory.</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e13a3b16cb1488b"/>
          <a:stretch xmlns:a="http://schemas.openxmlformats.org/drawingml/2006/main"/>
        </p:blipFill>
        <p:spPr>
          <a:xfrm xmlns:a="http://schemas.openxmlformats.org/drawingml/2006/main">
            <a:off x="620871" y="2190750"/>
            <a:ext cx="6721158" cy="3352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05C608F-3638-41E3-BCDE-368CD1923BF9}"/>
              </a:ext>
            </a:extLst>
          </p:cNvPr>
          <p:cNvSpPr>
            <a:spLocks xmlns:a="http://schemas.openxmlformats.org/drawingml/2006/main" noGrp="1"/>
          </p:cNvSpPr>
          <p:nvPr/>
        </p:nvSpPr>
        <p:spPr>
          <a:xfrm xmlns:a="http://schemas.openxmlformats.org/drawingml/2006/main">
            <a:off x="7696200" y="2200275"/>
            <a:ext cx="3886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1E2E"/>
                </a:solidFill>
                <a:latin typeface="Arial"/>
                <a:ea typeface="Arial"/>
                <a:cs typeface="Arial"/>
              </a:defRPr>
            </a:pPr>
            <a:r>
              <a:rPr sz="1725" b="1">
                <a:solidFill>
                  <a:srgbClr val="161E2E"/>
                </a:solidFill>
                <a:latin typeface="Arial"/>
                <a:ea typeface="Arial"/>
                <a:cs typeface="Arial"/>
              </a:rPr>
              <a:t>Reconstruction MSE (cm²)</a:t>
            </a:r>
          </a:p>
        </p:txBody>
      </p:sp>
      <p:graphicFrame>
        <p:nvGraphicFramePr>
          <p:cNvPr id="22" name="Chart"/>
          <p:cNvGraphicFramePr/>
          <p:nvPr/>
        </p:nvGraphicFramePr>
        <p:xfrm>
          <a:off xmlns:a="http://schemas.openxmlformats.org/drawingml/2006/main" x="7696200" y="2581275"/>
          <a:ext xmlns:a="http://schemas.openxmlformats.org/drawingml/2006/main" cx="3886200" cy="2971800"/>
        </p:xfrm>
        <a:graphic xmlns:a="http://schemas.openxmlformats.org/drawingml/2006/main">
          <a:graphicData uri="http://schemas.openxmlformats.org/drawingml/2006/chart">
            <c:chart xmlns:r="http://schemas.openxmlformats.org/officeDocument/2006/relationships" xmlns:c="http://schemas.openxmlformats.org/drawingml/2006/chart" r:id="R5e42cc1cf28b4456"/>
          </a:graphicData>
        </a:graphic>
      </p:graphicFrame>
      <p:sp>
        <p:nvSpPr>
          <p:cNvPr id="10" name="">
            <a:extLst xmlns:a="http://schemas.openxmlformats.org/drawingml/2006/main">
              <a:ext uri="{FF2B5EF4-FFF2-40B4-BE49-F238E27FC236}">
                <a16:creationId xmlns:a16="http://schemas.microsoft.com/office/drawing/2014/main" id="{DC9ED88B-AD2E-4806-8FCA-292E1E8901C9}"/>
              </a:ext>
            </a:extLst>
          </p:cNvPr>
          <p:cNvSpPr>
            <a:spLocks xmlns:a="http://schemas.openxmlformats.org/drawingml/2006/main" noGrp="1"/>
          </p:cNvSpPr>
          <p:nvPr/>
        </p:nvSpPr>
        <p:spPr>
          <a:xfrm xmlns:a="http://schemas.openxmlformats.org/drawingml/2006/main">
            <a:off x="533400" y="5705475"/>
            <a:ext cx="11125200" cy="742950"/>
          </a:xfrm>
          <a:prstGeom xmlns:a="http://schemas.openxmlformats.org/drawingml/2006/main" prst="rect">
            <a:avLst/>
          </a:prstGeom>
          <a:solidFill xmlns:a="http://schemas.openxmlformats.org/drawingml/2006/main">
            <a:srgbClr val="EFF5F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98C5B9F-A3D4-43F3-BA90-01DC08103C27}"/>
              </a:ext>
            </a:extLst>
          </p:cNvPr>
          <p:cNvSpPr>
            <a:spLocks xmlns:a="http://schemas.openxmlformats.org/drawingml/2006/main" noGrp="1"/>
          </p:cNvSpPr>
          <p:nvPr/>
        </p:nvSpPr>
        <p:spPr>
          <a:xfrm xmlns:a="http://schemas.openxmlformats.org/drawingml/2006/main">
            <a:off x="533400" y="5705475"/>
            <a:ext cx="38100" cy="742950"/>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0429E49-AC16-4396-9501-EB3C3A5D1427}"/>
              </a:ext>
            </a:extLst>
          </p:cNvPr>
          <p:cNvSpPr>
            <a:spLocks xmlns:a="http://schemas.openxmlformats.org/drawingml/2006/main" noGrp="1"/>
          </p:cNvSpPr>
          <p:nvPr/>
        </p:nvSpPr>
        <p:spPr>
          <a:xfrm xmlns:a="http://schemas.openxmlformats.org/drawingml/2006/main">
            <a:off x="685800" y="5800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3D4756"/>
                </a:solidFill>
                <a:latin typeface="Arial"/>
                <a:ea typeface="Arial"/>
                <a:cs typeface="Arial"/>
              </a:defRPr>
            </a:pPr>
            <a:r>
              <a:rPr sz="1425" b="0">
                <a:solidFill>
                  <a:srgbClr val="3D4756"/>
                </a:solidFill>
                <a:latin typeface="Arial"/>
                <a:ea typeface="Arial"/>
                <a:cs typeface="Arial"/>
              </a:rPr>
              <a:t>Black: recorded; dashed: reconstructed. One median-duration trial. Lower MSE is better. Spline beats each neural model under BH-140; spline vs CAE n=8 does not survive Holm.</a:t>
            </a:r>
          </a:p>
        </p:txBody>
      </p:sp>
      <p:sp>
        <p:nvSpPr>
          <p:cNvPr id="13" name="">
            <a:extLst xmlns:a="http://schemas.openxmlformats.org/drawingml/2006/main">
              <a:ext uri="{FF2B5EF4-FFF2-40B4-BE49-F238E27FC236}">
                <a16:creationId xmlns:a16="http://schemas.microsoft.com/office/drawing/2014/main" id="{93763193-E73B-475F-A9F9-F36186A0D4A7}"/>
              </a:ext>
            </a:extLst>
          </p:cNvPr>
          <p:cNvSpPr>
            <a:spLocks xmlns:a="http://schemas.openxmlformats.org/drawingml/2006/main" noGrp="1"/>
          </p:cNvSpPr>
          <p:nvPr/>
        </p:nvSpPr>
        <p:spPr>
          <a:xfrm xmlns:a="http://schemas.openxmlformats.org/drawingml/2006/main">
            <a:off x="11049000" y="65722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37E8B"/>
                </a:solidFill>
                <a:latin typeface="Arial"/>
                <a:ea typeface="Arial"/>
                <a:cs typeface="Arial"/>
              </a:defRPr>
            </a:pPr>
            <a:r>
              <a:rPr sz="1050" b="0">
                <a:solidFill>
                  <a:srgbClr val="737E8B"/>
                </a:solidFill>
                <a:latin typeface="Arial"/>
                <a:ea typeface="Arial"/>
                <a:cs typeface="Arial"/>
              </a:rPr>
              <a:t>4 / 10</a:t>
            </a:r>
          </a:p>
        </p:txBody>
      </p:sp>
    </p:spTree>
    <p:extLst>
      <p:ext uri="{BB962C8B-B14F-4D97-AF65-F5344CB8AC3E}">
        <p14:creationId xmlns:p14="http://schemas.microsoft.com/office/powerpoint/2010/main" val="17971631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374DCD-2426-4CD7-AE1C-0CA109154AC7}"/>
              </a:ext>
            </a:extLst>
          </p:cNvPr>
          <p:cNvSpPr>
            <a:spLocks xmlns:a="http://schemas.openxmlformats.org/drawingml/2006/main" noGrp="1"/>
          </p:cNvSpPr>
          <p:nvPr/>
        </p:nvSpPr>
        <p:spPr>
          <a:xfrm xmlns:a="http://schemas.openxmlformats.org/drawingml/2006/main">
            <a:off x="0" y="0"/>
            <a:ext cx="4064000" cy="66675"/>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B64B65-80DA-4736-AC7E-EF144E453C9E}"/>
              </a:ext>
            </a:extLst>
          </p:cNvPr>
          <p:cNvSpPr>
            <a:spLocks xmlns:a="http://schemas.openxmlformats.org/drawingml/2006/main" noGrp="1"/>
          </p:cNvSpPr>
          <p:nvPr/>
        </p:nvSpPr>
        <p:spPr>
          <a:xfrm xmlns:a="http://schemas.openxmlformats.org/drawingml/2006/main">
            <a:off x="4064000" y="0"/>
            <a:ext cx="4064000" cy="66675"/>
          </a:xfrm>
          <a:prstGeom xmlns:a="http://schemas.openxmlformats.org/drawingml/2006/main" prst="rect">
            <a:avLst/>
          </a:prstGeom>
          <a:solidFill xmlns:a="http://schemas.openxmlformats.org/drawingml/2006/main">
            <a:srgbClr val="17A2A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AA3808-C008-4FF2-81C5-1A8C1469577D}"/>
              </a:ext>
            </a:extLst>
          </p:cNvPr>
          <p:cNvSpPr>
            <a:spLocks xmlns:a="http://schemas.openxmlformats.org/drawingml/2006/main" noGrp="1"/>
          </p:cNvSpPr>
          <p:nvPr/>
        </p:nvSpPr>
        <p:spPr>
          <a:xfrm xmlns:a="http://schemas.openxmlformats.org/drawingml/2006/main">
            <a:off x="8128000" y="0"/>
            <a:ext cx="4064000" cy="66675"/>
          </a:xfrm>
          <a:prstGeom xmlns:a="http://schemas.openxmlformats.org/drawingml/2006/main" prst="rect">
            <a:avLst/>
          </a:prstGeom>
          <a:solidFill xmlns:a="http://schemas.openxmlformats.org/drawingml/2006/main">
            <a:srgbClr val="7A5CF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068FAA-3FB4-401C-9170-68D67C034DA6}"/>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E1E6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9E0AB3B-A1AA-4297-AB83-1021C92FBA6B}"/>
              </a:ext>
            </a:extLst>
          </p:cNvPr>
          <p:cNvSpPr>
            <a:spLocks xmlns:a="http://schemas.openxmlformats.org/drawingml/2006/main" noGrp="1"/>
          </p:cNvSpPr>
          <p:nvPr/>
        </p:nvSpPr>
        <p:spPr>
          <a:xfrm xmlns:a="http://schemas.openxmlformats.org/drawingml/2006/main">
            <a:off x="533400" y="5143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1E2E"/>
                </a:solidFill>
                <a:latin typeface="Arial"/>
                <a:ea typeface="Arial"/>
                <a:cs typeface="Arial"/>
              </a:defRPr>
            </a:pPr>
            <a:r>
              <a:rPr sz="2700" b="1">
                <a:solidFill>
                  <a:srgbClr val="161E2E"/>
                </a:solidFill>
                <a:latin typeface="Arial"/>
                <a:ea typeface="Arial"/>
                <a:cs typeface="Arial"/>
              </a:rPr>
              <a:t>Generation uses separate context trials</a:t>
            </a:r>
          </a:p>
        </p:txBody>
      </p:sp>
      <p:sp>
        <p:nvSpPr>
          <p:cNvPr id="6" name="">
            <a:extLst xmlns:a="http://schemas.openxmlformats.org/drawingml/2006/main">
              <a:ext uri="{FF2B5EF4-FFF2-40B4-BE49-F238E27FC236}">
                <a16:creationId xmlns:a16="http://schemas.microsoft.com/office/drawing/2014/main" id="{0466DED0-3BE8-4BF6-BF45-ED92D497FD4E}"/>
              </a:ext>
            </a:extLst>
          </p:cNvPr>
          <p:cNvSpPr>
            <a:spLocks xmlns:a="http://schemas.openxmlformats.org/drawingml/2006/main" noGrp="1"/>
          </p:cNvSpPr>
          <p:nvPr/>
        </p:nvSpPr>
        <p:spPr>
          <a:xfrm xmlns:a="http://schemas.openxmlformats.org/drawingml/2006/main">
            <a:off x="552450" y="153352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1E2E"/>
                </a:solidFill>
                <a:latin typeface="Arial"/>
                <a:ea typeface="Arial"/>
                <a:cs typeface="Arial"/>
              </a:defRPr>
            </a:pPr>
            <a:r>
              <a:rPr sz="1875" b="0">
                <a:solidFill>
                  <a:srgbClr val="161E2E"/>
                </a:solidFill>
                <a:latin typeface="Arial"/>
                <a:ea typeface="Arial"/>
                <a:cs typeface="Arial"/>
              </a:rPr>
              <a:t>Context codes establish a personal center. We decode 120 draws around it using shared training covariance.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f17b8dd1d5a4841"/>
          <a:stretch xmlns:a="http://schemas.openxmlformats.org/drawingml/2006/main"/>
        </p:blipFill>
        <p:spPr>
          <a:xfrm xmlns:a="http://schemas.openxmlformats.org/drawingml/2006/main">
            <a:off x="1425586" y="2266950"/>
            <a:ext cx="9302728" cy="3371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A288BDB-5A15-48DD-BDDD-BEB3E05C2B0C}"/>
              </a:ext>
            </a:extLst>
          </p:cNvPr>
          <p:cNvSpPr>
            <a:spLocks xmlns:a="http://schemas.openxmlformats.org/drawingml/2006/main" noGrp="1"/>
          </p:cNvSpPr>
          <p:nvPr/>
        </p:nvSpPr>
        <p:spPr>
          <a:xfrm xmlns:a="http://schemas.openxmlformats.org/drawingml/2006/main">
            <a:off x="533400" y="5705475"/>
            <a:ext cx="11125200" cy="742950"/>
          </a:xfrm>
          <a:prstGeom xmlns:a="http://schemas.openxmlformats.org/drawingml/2006/main" prst="rect">
            <a:avLst/>
          </a:prstGeom>
          <a:solidFill xmlns:a="http://schemas.openxmlformats.org/drawingml/2006/main">
            <a:srgbClr val="EFF5F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B0A9137-3E5A-47F3-B045-4EAD37A0ACED}"/>
              </a:ext>
            </a:extLst>
          </p:cNvPr>
          <p:cNvSpPr>
            <a:spLocks xmlns:a="http://schemas.openxmlformats.org/drawingml/2006/main" noGrp="1"/>
          </p:cNvSpPr>
          <p:nvPr/>
        </p:nvSpPr>
        <p:spPr>
          <a:xfrm xmlns:a="http://schemas.openxmlformats.org/drawingml/2006/main">
            <a:off x="533400" y="5705475"/>
            <a:ext cx="38100" cy="742950"/>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5D1E759-B26C-48EA-B1F1-15912675FC50}"/>
              </a:ext>
            </a:extLst>
          </p:cNvPr>
          <p:cNvSpPr>
            <a:spLocks xmlns:a="http://schemas.openxmlformats.org/drawingml/2006/main" noGrp="1"/>
          </p:cNvSpPr>
          <p:nvPr/>
        </p:nvSpPr>
        <p:spPr>
          <a:xfrm xmlns:a="http://schemas.openxmlformats.org/drawingml/2006/main">
            <a:off x="685800" y="5800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3D4756"/>
                </a:solidFill>
                <a:latin typeface="Arial"/>
                <a:ea typeface="Arial"/>
                <a:cs typeface="Arial"/>
              </a:defRPr>
            </a:pPr>
            <a:r>
              <a:rPr sz="1425" b="0">
                <a:solidFill>
                  <a:srgbClr val="3D4756"/>
                </a:solidFill>
                <a:latin typeface="Arial"/>
                <a:ea typeface="Arial"/>
                <a:cs typeface="Arial"/>
              </a:rPr>
              <a:t>Same participant, separate query recordings. n=8, all models. Both capacities appear in the report. Thin: first 30 paths. Thick: mean of all paths. Equal x/y scale in cm.</a:t>
            </a:r>
          </a:p>
        </p:txBody>
      </p:sp>
      <p:sp>
        <p:nvSpPr>
          <p:cNvPr id="11" name="">
            <a:extLst xmlns:a="http://schemas.openxmlformats.org/drawingml/2006/main">
              <a:ext uri="{FF2B5EF4-FFF2-40B4-BE49-F238E27FC236}">
                <a16:creationId xmlns:a16="http://schemas.microsoft.com/office/drawing/2014/main" id="{57EDDC07-9EA3-4F12-8F63-9CE930977233}"/>
              </a:ext>
            </a:extLst>
          </p:cNvPr>
          <p:cNvSpPr>
            <a:spLocks xmlns:a="http://schemas.openxmlformats.org/drawingml/2006/main" noGrp="1"/>
          </p:cNvSpPr>
          <p:nvPr/>
        </p:nvSpPr>
        <p:spPr>
          <a:xfrm xmlns:a="http://schemas.openxmlformats.org/drawingml/2006/main">
            <a:off x="11049000" y="65722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37E8B"/>
                </a:solidFill>
                <a:latin typeface="Arial"/>
                <a:ea typeface="Arial"/>
                <a:cs typeface="Arial"/>
              </a:defRPr>
            </a:pPr>
            <a:r>
              <a:rPr sz="1050" b="0">
                <a:solidFill>
                  <a:srgbClr val="737E8B"/>
                </a:solidFill>
                <a:latin typeface="Arial"/>
                <a:ea typeface="Arial"/>
                <a:cs typeface="Arial"/>
              </a:rPr>
              <a:t>5 / 10</a:t>
            </a:r>
          </a:p>
        </p:txBody>
      </p:sp>
    </p:spTree>
    <p:extLst>
      <p:ext uri="{BB962C8B-B14F-4D97-AF65-F5344CB8AC3E}">
        <p14:creationId xmlns:p14="http://schemas.microsoft.com/office/powerpoint/2010/main" val="15010018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F4DCF36-917E-4DAB-9236-EAEBF5B6DF58}"/>
              </a:ext>
            </a:extLst>
          </p:cNvPr>
          <p:cNvSpPr>
            <a:spLocks xmlns:a="http://schemas.openxmlformats.org/drawingml/2006/main" noGrp="1"/>
          </p:cNvSpPr>
          <p:nvPr/>
        </p:nvSpPr>
        <p:spPr>
          <a:xfrm xmlns:a="http://schemas.openxmlformats.org/drawingml/2006/main">
            <a:off x="0" y="0"/>
            <a:ext cx="4064000" cy="66675"/>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D26E79-2920-4499-BDDB-B112F86FE0F4}"/>
              </a:ext>
            </a:extLst>
          </p:cNvPr>
          <p:cNvSpPr>
            <a:spLocks xmlns:a="http://schemas.openxmlformats.org/drawingml/2006/main" noGrp="1"/>
          </p:cNvSpPr>
          <p:nvPr/>
        </p:nvSpPr>
        <p:spPr>
          <a:xfrm xmlns:a="http://schemas.openxmlformats.org/drawingml/2006/main">
            <a:off x="4064000" y="0"/>
            <a:ext cx="4064000" cy="66675"/>
          </a:xfrm>
          <a:prstGeom xmlns:a="http://schemas.openxmlformats.org/drawingml/2006/main" prst="rect">
            <a:avLst/>
          </a:prstGeom>
          <a:solidFill xmlns:a="http://schemas.openxmlformats.org/drawingml/2006/main">
            <a:srgbClr val="17A2A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9F0ECE-C230-4C7C-8DC4-89FA62FCB2EA}"/>
              </a:ext>
            </a:extLst>
          </p:cNvPr>
          <p:cNvSpPr>
            <a:spLocks xmlns:a="http://schemas.openxmlformats.org/drawingml/2006/main" noGrp="1"/>
          </p:cNvSpPr>
          <p:nvPr/>
        </p:nvSpPr>
        <p:spPr>
          <a:xfrm xmlns:a="http://schemas.openxmlformats.org/drawingml/2006/main">
            <a:off x="8128000" y="0"/>
            <a:ext cx="4064000" cy="66675"/>
          </a:xfrm>
          <a:prstGeom xmlns:a="http://schemas.openxmlformats.org/drawingml/2006/main" prst="rect">
            <a:avLst/>
          </a:prstGeom>
          <a:solidFill xmlns:a="http://schemas.openxmlformats.org/drawingml/2006/main">
            <a:srgbClr val="7A5CF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DD8775-0696-4305-88B4-DC86E43EBD24}"/>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E1E6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9D2D80-FB60-44C2-A4D8-E6C078828C1E}"/>
              </a:ext>
            </a:extLst>
          </p:cNvPr>
          <p:cNvSpPr>
            <a:spLocks xmlns:a="http://schemas.openxmlformats.org/drawingml/2006/main" noGrp="1"/>
          </p:cNvSpPr>
          <p:nvPr/>
        </p:nvSpPr>
        <p:spPr>
          <a:xfrm xmlns:a="http://schemas.openxmlformats.org/drawingml/2006/main">
            <a:off x="533400" y="5143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1E2E"/>
                </a:solidFill>
                <a:latin typeface="Arial"/>
                <a:ea typeface="Arial"/>
                <a:cs typeface="Arial"/>
              </a:defRPr>
            </a:pPr>
            <a:r>
              <a:rPr sz="2700" b="1">
                <a:solidFill>
                  <a:srgbClr val="161E2E"/>
                </a:solidFill>
                <a:latin typeface="Arial"/>
                <a:ea typeface="Arial"/>
                <a:cs typeface="Arial"/>
              </a:rPr>
              <a:t>Generated kinematic-feature distributions</a:t>
            </a:r>
          </a:p>
        </p:txBody>
      </p:sp>
      <p:sp>
        <p:nvSpPr>
          <p:cNvPr id="6" name="">
            <a:extLst xmlns:a="http://schemas.openxmlformats.org/drawingml/2006/main">
              <a:ext uri="{FF2B5EF4-FFF2-40B4-BE49-F238E27FC236}">
                <a16:creationId xmlns:a16="http://schemas.microsoft.com/office/drawing/2014/main" id="{1C898D2F-D1C7-4856-AFDA-762A08A739A5}"/>
              </a:ext>
            </a:extLst>
          </p:cNvPr>
          <p:cNvSpPr>
            <a:spLocks xmlns:a="http://schemas.openxmlformats.org/drawingml/2006/main" noGrp="1"/>
          </p:cNvSpPr>
          <p:nvPr/>
        </p:nvSpPr>
        <p:spPr>
          <a:xfrm xmlns:a="http://schemas.openxmlformats.org/drawingml/2006/main">
            <a:off x="552450" y="15335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1E2E"/>
                </a:solidFill>
                <a:latin typeface="Arial"/>
                <a:ea typeface="Arial"/>
                <a:cs typeface="Arial"/>
              </a:defRPr>
            </a:pPr>
            <a:r>
              <a:rPr sz="1875" b="0">
                <a:solidFill>
                  <a:srgbClr val="161E2E"/>
                </a:solidFill>
                <a:latin typeface="Arial"/>
                <a:ea typeface="Arial"/>
                <a:cs typeface="Arial"/>
              </a:rPr>
              <a:t>Histograms show timing, speed and curvature. KS summarizes agreement across eleven features.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6a60725a61745b6"/>
          <a:stretch xmlns:a="http://schemas.openxmlformats.org/drawingml/2006/main"/>
        </p:blipFill>
        <p:spPr>
          <a:xfrm xmlns:a="http://schemas.openxmlformats.org/drawingml/2006/main">
            <a:off x="665321" y="2190750"/>
            <a:ext cx="6632258" cy="3352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84075BA-6061-4B71-9996-1CA6D600AAF4}"/>
              </a:ext>
            </a:extLst>
          </p:cNvPr>
          <p:cNvSpPr>
            <a:spLocks xmlns:a="http://schemas.openxmlformats.org/drawingml/2006/main" noGrp="1"/>
          </p:cNvSpPr>
          <p:nvPr/>
        </p:nvSpPr>
        <p:spPr>
          <a:xfrm xmlns:a="http://schemas.openxmlformats.org/drawingml/2006/main">
            <a:off x="7696200" y="2200275"/>
            <a:ext cx="3886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1E2E"/>
                </a:solidFill>
                <a:latin typeface="Arial"/>
                <a:ea typeface="Arial"/>
                <a:cs typeface="Arial"/>
              </a:defRPr>
            </a:pPr>
            <a:r>
              <a:rPr sz="1725" b="1">
                <a:solidFill>
                  <a:srgbClr val="161E2E"/>
                </a:solidFill>
                <a:latin typeface="Arial"/>
                <a:ea typeface="Arial"/>
                <a:cs typeface="Arial"/>
              </a:rPr>
              <a:t>Mean feature KS</a:t>
            </a:r>
          </a:p>
        </p:txBody>
      </p:sp>
      <p:graphicFrame>
        <p:nvGraphicFramePr>
          <p:cNvPr id="22" name="Chart"/>
          <p:cNvGraphicFramePr/>
          <p:nvPr/>
        </p:nvGraphicFramePr>
        <p:xfrm>
          <a:off xmlns:a="http://schemas.openxmlformats.org/drawingml/2006/main" x="7696200" y="2581275"/>
          <a:ext xmlns:a="http://schemas.openxmlformats.org/drawingml/2006/main" cx="3886200" cy="2971800"/>
        </p:xfrm>
        <a:graphic xmlns:a="http://schemas.openxmlformats.org/drawingml/2006/main">
          <a:graphicData uri="http://schemas.openxmlformats.org/drawingml/2006/chart">
            <c:chart xmlns:r="http://schemas.openxmlformats.org/officeDocument/2006/relationships" xmlns:c="http://schemas.openxmlformats.org/drawingml/2006/chart" r:id="Rb881ac238c3440e4"/>
          </a:graphicData>
        </a:graphic>
      </p:graphicFrame>
      <p:sp>
        <p:nvSpPr>
          <p:cNvPr id="10" name="">
            <a:extLst xmlns:a="http://schemas.openxmlformats.org/drawingml/2006/main">
              <a:ext uri="{FF2B5EF4-FFF2-40B4-BE49-F238E27FC236}">
                <a16:creationId xmlns:a16="http://schemas.microsoft.com/office/drawing/2014/main" id="{B119B3D7-6973-4C04-AB4F-013E6538FC71}"/>
              </a:ext>
            </a:extLst>
          </p:cNvPr>
          <p:cNvSpPr>
            <a:spLocks xmlns:a="http://schemas.openxmlformats.org/drawingml/2006/main" noGrp="1"/>
          </p:cNvSpPr>
          <p:nvPr/>
        </p:nvSpPr>
        <p:spPr>
          <a:xfrm xmlns:a="http://schemas.openxmlformats.org/drawingml/2006/main">
            <a:off x="533400" y="5705475"/>
            <a:ext cx="11125200" cy="742950"/>
          </a:xfrm>
          <a:prstGeom xmlns:a="http://schemas.openxmlformats.org/drawingml/2006/main" prst="rect">
            <a:avLst/>
          </a:prstGeom>
          <a:solidFill xmlns:a="http://schemas.openxmlformats.org/drawingml/2006/main">
            <a:srgbClr val="EFF5F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526770A-FCE1-4F45-AC2A-4CF06A0F079C}"/>
              </a:ext>
            </a:extLst>
          </p:cNvPr>
          <p:cNvSpPr>
            <a:spLocks xmlns:a="http://schemas.openxmlformats.org/drawingml/2006/main" noGrp="1"/>
          </p:cNvSpPr>
          <p:nvPr/>
        </p:nvSpPr>
        <p:spPr>
          <a:xfrm xmlns:a="http://schemas.openxmlformats.org/drawingml/2006/main">
            <a:off x="533400" y="5705475"/>
            <a:ext cx="38100" cy="742950"/>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BEC3658-BD78-4442-AEFC-B9B1DF5DC38E}"/>
              </a:ext>
            </a:extLst>
          </p:cNvPr>
          <p:cNvSpPr>
            <a:spLocks xmlns:a="http://schemas.openxmlformats.org/drawingml/2006/main" noGrp="1"/>
          </p:cNvSpPr>
          <p:nvPr/>
        </p:nvSpPr>
        <p:spPr>
          <a:xfrm xmlns:a="http://schemas.openxmlformats.org/drawingml/2006/main">
            <a:off x="685800" y="5800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3D4756"/>
                </a:solidFill>
                <a:latin typeface="Arial"/>
                <a:ea typeface="Arial"/>
                <a:cs typeface="Arial"/>
              </a:defRPr>
            </a:pPr>
            <a:r>
              <a:rPr sz="1425" b="0">
                <a:solidFill>
                  <a:srgbClr val="3D4756"/>
                </a:solidFill>
                <a:latin typeface="Arial"/>
                <a:ea typeface="Arial"/>
                <a:cs typeface="Arial"/>
              </a:rPr>
              <a:t>Illustration: subject01, n=8. VAE/CVAE beat spline on all three feature metrics at both capacities (BH and Holm-140). VAE and CVAE give comparable results.</a:t>
            </a:r>
          </a:p>
        </p:txBody>
      </p:sp>
      <p:sp>
        <p:nvSpPr>
          <p:cNvPr id="13" name="">
            <a:extLst xmlns:a="http://schemas.openxmlformats.org/drawingml/2006/main">
              <a:ext uri="{FF2B5EF4-FFF2-40B4-BE49-F238E27FC236}">
                <a16:creationId xmlns:a16="http://schemas.microsoft.com/office/drawing/2014/main" id="{48497450-47C6-4ADA-9A2C-2517FEC84620}"/>
              </a:ext>
            </a:extLst>
          </p:cNvPr>
          <p:cNvSpPr>
            <a:spLocks xmlns:a="http://schemas.openxmlformats.org/drawingml/2006/main" noGrp="1"/>
          </p:cNvSpPr>
          <p:nvPr/>
        </p:nvSpPr>
        <p:spPr>
          <a:xfrm xmlns:a="http://schemas.openxmlformats.org/drawingml/2006/main">
            <a:off x="11049000" y="65722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37E8B"/>
                </a:solidFill>
                <a:latin typeface="Arial"/>
                <a:ea typeface="Arial"/>
                <a:cs typeface="Arial"/>
              </a:defRPr>
            </a:pPr>
            <a:r>
              <a:rPr sz="1050" b="0">
                <a:solidFill>
                  <a:srgbClr val="737E8B"/>
                </a:solidFill>
                <a:latin typeface="Arial"/>
                <a:ea typeface="Arial"/>
                <a:cs typeface="Arial"/>
              </a:rPr>
              <a:t>6 / 10</a:t>
            </a:r>
          </a:p>
        </p:txBody>
      </p:sp>
    </p:spTree>
    <p:extLst>
      <p:ext uri="{BB962C8B-B14F-4D97-AF65-F5344CB8AC3E}">
        <p14:creationId xmlns:p14="http://schemas.microsoft.com/office/powerpoint/2010/main" val="18315171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FF2C0C8-4B2B-4959-987F-AEAA78C823E3}"/>
              </a:ext>
            </a:extLst>
          </p:cNvPr>
          <p:cNvSpPr>
            <a:spLocks xmlns:a="http://schemas.openxmlformats.org/drawingml/2006/main" noGrp="1"/>
          </p:cNvSpPr>
          <p:nvPr/>
        </p:nvSpPr>
        <p:spPr>
          <a:xfrm xmlns:a="http://schemas.openxmlformats.org/drawingml/2006/main">
            <a:off x="0" y="0"/>
            <a:ext cx="4064000" cy="66675"/>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8A5348-EF44-40EA-A279-C02C0FCC3347}"/>
              </a:ext>
            </a:extLst>
          </p:cNvPr>
          <p:cNvSpPr>
            <a:spLocks xmlns:a="http://schemas.openxmlformats.org/drawingml/2006/main" noGrp="1"/>
          </p:cNvSpPr>
          <p:nvPr/>
        </p:nvSpPr>
        <p:spPr>
          <a:xfrm xmlns:a="http://schemas.openxmlformats.org/drawingml/2006/main">
            <a:off x="4064000" y="0"/>
            <a:ext cx="4064000" cy="66675"/>
          </a:xfrm>
          <a:prstGeom xmlns:a="http://schemas.openxmlformats.org/drawingml/2006/main" prst="rect">
            <a:avLst/>
          </a:prstGeom>
          <a:solidFill xmlns:a="http://schemas.openxmlformats.org/drawingml/2006/main">
            <a:srgbClr val="17A2A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52684CB-614C-4959-9D2D-464728A901EB}"/>
              </a:ext>
            </a:extLst>
          </p:cNvPr>
          <p:cNvSpPr>
            <a:spLocks xmlns:a="http://schemas.openxmlformats.org/drawingml/2006/main" noGrp="1"/>
          </p:cNvSpPr>
          <p:nvPr/>
        </p:nvSpPr>
        <p:spPr>
          <a:xfrm xmlns:a="http://schemas.openxmlformats.org/drawingml/2006/main">
            <a:off x="8128000" y="0"/>
            <a:ext cx="4064000" cy="66675"/>
          </a:xfrm>
          <a:prstGeom xmlns:a="http://schemas.openxmlformats.org/drawingml/2006/main" prst="rect">
            <a:avLst/>
          </a:prstGeom>
          <a:solidFill xmlns:a="http://schemas.openxmlformats.org/drawingml/2006/main">
            <a:srgbClr val="7A5CF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5C3951E-BE0E-43CD-B809-E6615CA1BD9A}"/>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E1E6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D8751C4-C4B4-4DD3-9CFD-17AA7365EEF7}"/>
              </a:ext>
            </a:extLst>
          </p:cNvPr>
          <p:cNvSpPr>
            <a:spLocks xmlns:a="http://schemas.openxmlformats.org/drawingml/2006/main" noGrp="1"/>
          </p:cNvSpPr>
          <p:nvPr/>
        </p:nvSpPr>
        <p:spPr>
          <a:xfrm xmlns:a="http://schemas.openxmlformats.org/drawingml/2006/main">
            <a:off x="533400" y="5143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1E2E"/>
                </a:solidFill>
                <a:latin typeface="Arial"/>
                <a:ea typeface="Arial"/>
                <a:cs typeface="Arial"/>
              </a:defRPr>
            </a:pPr>
            <a:r>
              <a:rPr sz="2700" b="1">
                <a:solidFill>
                  <a:srgbClr val="161E2E"/>
                </a:solidFill>
                <a:latin typeface="Arial"/>
                <a:ea typeface="Arial"/>
                <a:cs typeface="Arial"/>
              </a:rPr>
              <a:t>Full-trajectory generation supports VAE and CVAE</a:t>
            </a:r>
          </a:p>
        </p:txBody>
      </p:sp>
      <p:sp>
        <p:nvSpPr>
          <p:cNvPr id="6" name="">
            <a:extLst xmlns:a="http://schemas.openxmlformats.org/drawingml/2006/main">
              <a:ext uri="{FF2B5EF4-FFF2-40B4-BE49-F238E27FC236}">
                <a16:creationId xmlns:a16="http://schemas.microsoft.com/office/drawing/2014/main" id="{E37830AF-6768-4B9D-83D3-4A3C0F7A8FFC}"/>
              </a:ext>
            </a:extLst>
          </p:cNvPr>
          <p:cNvSpPr>
            <a:spLocks xmlns:a="http://schemas.openxmlformats.org/drawingml/2006/main" noGrp="1"/>
          </p:cNvSpPr>
          <p:nvPr/>
        </p:nvSpPr>
        <p:spPr>
          <a:xfrm xmlns:a="http://schemas.openxmlformats.org/drawingml/2006/main">
            <a:off x="552450" y="15335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1E2E"/>
                </a:solidFill>
                <a:latin typeface="Arial"/>
                <a:ea typeface="Arial"/>
                <a:cs typeface="Arial"/>
              </a:defRPr>
            </a:pPr>
            <a:r>
              <a:rPr sz="1875" b="0">
                <a:solidFill>
                  <a:srgbClr val="161E2E"/>
                </a:solidFill>
                <a:latin typeface="Arial"/>
                <a:ea typeface="Arial"/>
                <a:cs typeface="Arial"/>
              </a:rPr>
              <a:t>Energy and MMD compare complete sets of ordered paths, including their variability.</a:t>
            </a:r>
          </a:p>
        </p:txBody>
      </p:sp>
      <p:sp>
        <p:nvSpPr>
          <p:cNvPr id="7" name="">
            <a:extLst xmlns:a="http://schemas.openxmlformats.org/drawingml/2006/main">
              <a:ext uri="{FF2B5EF4-FFF2-40B4-BE49-F238E27FC236}">
                <a16:creationId xmlns:a16="http://schemas.microsoft.com/office/drawing/2014/main" id="{4054AB58-9FAD-48B1-A387-AB00A4086A4C}"/>
              </a:ext>
            </a:extLst>
          </p:cNvPr>
          <p:cNvSpPr>
            <a:spLocks xmlns:a="http://schemas.openxmlformats.org/drawingml/2006/main" noGrp="1"/>
          </p:cNvSpPr>
          <p:nvPr/>
        </p:nvSpPr>
        <p:spPr>
          <a:xfrm xmlns:a="http://schemas.openxmlformats.org/drawingml/2006/main">
            <a:off x="552450" y="220027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1E2E"/>
                </a:solidFill>
                <a:latin typeface="Arial"/>
                <a:ea typeface="Arial"/>
                <a:cs typeface="Arial"/>
              </a:defRPr>
            </a:pPr>
            <a:r>
              <a:rPr sz="1725" b="1">
                <a:solidFill>
                  <a:srgbClr val="161E2E"/>
                </a:solidFill>
                <a:latin typeface="Arial"/>
                <a:ea typeface="Arial"/>
                <a:cs typeface="Arial"/>
              </a:rPr>
              <a:t>Full-path energy (cm)</a:t>
            </a:r>
          </a:p>
        </p:txBody>
      </p:sp>
      <p:graphicFrame>
        <p:nvGraphicFramePr>
          <p:cNvPr id="22" name="Chart"/>
          <p:cNvGraphicFramePr/>
          <p:nvPr/>
        </p:nvGraphicFramePr>
        <p:xfrm>
          <a:off xmlns:a="http://schemas.openxmlformats.org/drawingml/2006/main" x="552450" y="2581275"/>
          <a:ext xmlns:a="http://schemas.openxmlformats.org/drawingml/2006/main" cx="5334000" cy="2971800"/>
        </p:xfrm>
        <a:graphic xmlns:a="http://schemas.openxmlformats.org/drawingml/2006/main">
          <a:graphicData uri="http://schemas.openxmlformats.org/drawingml/2006/chart">
            <c:chart xmlns:r="http://schemas.openxmlformats.org/officeDocument/2006/relationships" xmlns:c="http://schemas.openxmlformats.org/drawingml/2006/chart" r:id="R23e5b5f5ec5942c0"/>
          </a:graphicData>
        </a:graphic>
      </p:graphicFrame>
      <p:sp>
        <p:nvSpPr>
          <p:cNvPr id="9" name="">
            <a:extLst xmlns:a="http://schemas.openxmlformats.org/drawingml/2006/main">
              <a:ext uri="{FF2B5EF4-FFF2-40B4-BE49-F238E27FC236}">
                <a16:creationId xmlns:a16="http://schemas.microsoft.com/office/drawing/2014/main" id="{AD986779-732F-47C4-9FEB-66F5D4C41870}"/>
              </a:ext>
            </a:extLst>
          </p:cNvPr>
          <p:cNvSpPr>
            <a:spLocks xmlns:a="http://schemas.openxmlformats.org/drawingml/2006/main" noGrp="1"/>
          </p:cNvSpPr>
          <p:nvPr/>
        </p:nvSpPr>
        <p:spPr>
          <a:xfrm xmlns:a="http://schemas.openxmlformats.org/drawingml/2006/main">
            <a:off x="6267450" y="220027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1E2E"/>
                </a:solidFill>
                <a:latin typeface="Arial"/>
                <a:ea typeface="Arial"/>
                <a:cs typeface="Arial"/>
              </a:defRPr>
            </a:pPr>
            <a:r>
              <a:rPr sz="1725" b="1">
                <a:solidFill>
                  <a:srgbClr val="161E2E"/>
                </a:solidFill>
                <a:latin typeface="Arial"/>
                <a:ea typeface="Arial"/>
                <a:cs typeface="Arial"/>
              </a:rPr>
              <a:t>Full-path MMD squared</a:t>
            </a:r>
          </a:p>
        </p:txBody>
      </p:sp>
      <p:graphicFrame>
        <p:nvGraphicFramePr>
          <p:cNvPr id="24" name="Chart"/>
          <p:cNvGraphicFramePr/>
          <p:nvPr/>
        </p:nvGraphicFramePr>
        <p:xfrm>
          <a:off xmlns:a="http://schemas.openxmlformats.org/drawingml/2006/main" x="6267450" y="2581275"/>
          <a:ext xmlns:a="http://schemas.openxmlformats.org/drawingml/2006/main" cx="5334000" cy="2971800"/>
        </p:xfrm>
        <a:graphic xmlns:a="http://schemas.openxmlformats.org/drawingml/2006/main">
          <a:graphicData uri="http://schemas.openxmlformats.org/drawingml/2006/chart">
            <c:chart xmlns:r="http://schemas.openxmlformats.org/officeDocument/2006/relationships" xmlns:c="http://schemas.openxmlformats.org/drawingml/2006/chart" r:id="R62475538506647fb"/>
          </a:graphicData>
        </a:graphic>
      </p:graphicFrame>
      <p:sp>
        <p:nvSpPr>
          <p:cNvPr id="11" name="">
            <a:extLst xmlns:a="http://schemas.openxmlformats.org/drawingml/2006/main">
              <a:ext uri="{FF2B5EF4-FFF2-40B4-BE49-F238E27FC236}">
                <a16:creationId xmlns:a16="http://schemas.microsoft.com/office/drawing/2014/main" id="{88EB7799-9505-42C5-96EA-D6B76A9CFB61}"/>
              </a:ext>
            </a:extLst>
          </p:cNvPr>
          <p:cNvSpPr>
            <a:spLocks xmlns:a="http://schemas.openxmlformats.org/drawingml/2006/main" noGrp="1"/>
          </p:cNvSpPr>
          <p:nvPr/>
        </p:nvSpPr>
        <p:spPr>
          <a:xfrm xmlns:a="http://schemas.openxmlformats.org/drawingml/2006/main">
            <a:off x="533400" y="5705475"/>
            <a:ext cx="11125200" cy="742950"/>
          </a:xfrm>
          <a:prstGeom xmlns:a="http://schemas.openxmlformats.org/drawingml/2006/main" prst="rect">
            <a:avLst/>
          </a:prstGeom>
          <a:solidFill xmlns:a="http://schemas.openxmlformats.org/drawingml/2006/main">
            <a:srgbClr val="EFF5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F309241-8C85-4B5B-930C-A3735E550E7C}"/>
              </a:ext>
            </a:extLst>
          </p:cNvPr>
          <p:cNvSpPr>
            <a:spLocks xmlns:a="http://schemas.openxmlformats.org/drawingml/2006/main" noGrp="1"/>
          </p:cNvSpPr>
          <p:nvPr/>
        </p:nvSpPr>
        <p:spPr>
          <a:xfrm xmlns:a="http://schemas.openxmlformats.org/drawingml/2006/main">
            <a:off x="533400" y="5705475"/>
            <a:ext cx="38100" cy="742950"/>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98CA7A6-40AF-4464-B53C-813058C642FD}"/>
              </a:ext>
            </a:extLst>
          </p:cNvPr>
          <p:cNvSpPr>
            <a:spLocks xmlns:a="http://schemas.openxmlformats.org/drawingml/2006/main" noGrp="1"/>
          </p:cNvSpPr>
          <p:nvPr/>
        </p:nvSpPr>
        <p:spPr>
          <a:xfrm xmlns:a="http://schemas.openxmlformats.org/drawingml/2006/main">
            <a:off x="685800" y="5800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3D4756"/>
                </a:solidFill>
                <a:latin typeface="Arial"/>
                <a:ea typeface="Arial"/>
                <a:cs typeface="Arial"/>
              </a:defRPr>
            </a:pPr>
            <a:r>
              <a:rPr sz="1425" b="0">
                <a:solidFill>
                  <a:srgbClr val="3D4756"/>
                </a:solidFill>
                <a:latin typeface="Arial"/>
                <a:ea typeface="Arial"/>
                <a:cs typeface="Arial"/>
              </a:rPr>
              <a:t>Lower is better. At n=8, both VAE/CVAE beat spline (BH and Holm-80), also with balanced axes. VAE vs CVAE: q=.672 and 1.000. At n=3, results depend on metric and scaling.</a:t>
            </a:r>
          </a:p>
        </p:txBody>
      </p:sp>
      <p:sp>
        <p:nvSpPr>
          <p:cNvPr id="14" name="">
            <a:extLst xmlns:a="http://schemas.openxmlformats.org/drawingml/2006/main">
              <a:ext uri="{FF2B5EF4-FFF2-40B4-BE49-F238E27FC236}">
                <a16:creationId xmlns:a16="http://schemas.microsoft.com/office/drawing/2014/main" id="{05054E33-4A61-4AB6-A67E-22F259B2A7B1}"/>
              </a:ext>
            </a:extLst>
          </p:cNvPr>
          <p:cNvSpPr>
            <a:spLocks xmlns:a="http://schemas.openxmlformats.org/drawingml/2006/main" noGrp="1"/>
          </p:cNvSpPr>
          <p:nvPr/>
        </p:nvSpPr>
        <p:spPr>
          <a:xfrm xmlns:a="http://schemas.openxmlformats.org/drawingml/2006/main">
            <a:off x="11049000" y="65722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37E8B"/>
                </a:solidFill>
                <a:latin typeface="Arial"/>
                <a:ea typeface="Arial"/>
                <a:cs typeface="Arial"/>
              </a:defRPr>
            </a:pPr>
            <a:r>
              <a:rPr sz="1050" b="0">
                <a:solidFill>
                  <a:srgbClr val="737E8B"/>
                </a:solidFill>
                <a:latin typeface="Arial"/>
                <a:ea typeface="Arial"/>
                <a:cs typeface="Arial"/>
              </a:rPr>
              <a:t>7 / 10</a:t>
            </a:r>
          </a:p>
        </p:txBody>
      </p:sp>
    </p:spTree>
    <p:extLst>
      <p:ext uri="{BB962C8B-B14F-4D97-AF65-F5344CB8AC3E}">
        <p14:creationId xmlns:p14="http://schemas.microsoft.com/office/powerpoint/2010/main" val="3272302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F25D3C-4424-4221-BC9A-5F8E18AE4918}"/>
              </a:ext>
            </a:extLst>
          </p:cNvPr>
          <p:cNvSpPr>
            <a:spLocks xmlns:a="http://schemas.openxmlformats.org/drawingml/2006/main" noGrp="1"/>
          </p:cNvSpPr>
          <p:nvPr/>
        </p:nvSpPr>
        <p:spPr>
          <a:xfrm xmlns:a="http://schemas.openxmlformats.org/drawingml/2006/main">
            <a:off x="0" y="0"/>
            <a:ext cx="4064000" cy="66675"/>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353147-6DEA-4534-82D4-1FAC08053E46}"/>
              </a:ext>
            </a:extLst>
          </p:cNvPr>
          <p:cNvSpPr>
            <a:spLocks xmlns:a="http://schemas.openxmlformats.org/drawingml/2006/main" noGrp="1"/>
          </p:cNvSpPr>
          <p:nvPr/>
        </p:nvSpPr>
        <p:spPr>
          <a:xfrm xmlns:a="http://schemas.openxmlformats.org/drawingml/2006/main">
            <a:off x="4064000" y="0"/>
            <a:ext cx="4064000" cy="66675"/>
          </a:xfrm>
          <a:prstGeom xmlns:a="http://schemas.openxmlformats.org/drawingml/2006/main" prst="rect">
            <a:avLst/>
          </a:prstGeom>
          <a:solidFill xmlns:a="http://schemas.openxmlformats.org/drawingml/2006/main">
            <a:srgbClr val="17A2A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D66E699-B1D4-43C7-B291-FBB64B334430}"/>
              </a:ext>
            </a:extLst>
          </p:cNvPr>
          <p:cNvSpPr>
            <a:spLocks xmlns:a="http://schemas.openxmlformats.org/drawingml/2006/main" noGrp="1"/>
          </p:cNvSpPr>
          <p:nvPr/>
        </p:nvSpPr>
        <p:spPr>
          <a:xfrm xmlns:a="http://schemas.openxmlformats.org/drawingml/2006/main">
            <a:off x="8128000" y="0"/>
            <a:ext cx="4064000" cy="66675"/>
          </a:xfrm>
          <a:prstGeom xmlns:a="http://schemas.openxmlformats.org/drawingml/2006/main" prst="rect">
            <a:avLst/>
          </a:prstGeom>
          <a:solidFill xmlns:a="http://schemas.openxmlformats.org/drawingml/2006/main">
            <a:srgbClr val="7A5CF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C20B5D-D2CE-466D-A351-0B66F5FD0A5F}"/>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E1E6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66F9987-A57D-4B49-A89F-87EA1691585E}"/>
              </a:ext>
            </a:extLst>
          </p:cNvPr>
          <p:cNvSpPr>
            <a:spLocks xmlns:a="http://schemas.openxmlformats.org/drawingml/2006/main" noGrp="1"/>
          </p:cNvSpPr>
          <p:nvPr/>
        </p:nvSpPr>
        <p:spPr>
          <a:xfrm xmlns:a="http://schemas.openxmlformats.org/drawingml/2006/main">
            <a:off x="533400" y="5143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1E2E"/>
                </a:solidFill>
                <a:latin typeface="Arial"/>
                <a:ea typeface="Arial"/>
                <a:cs typeface="Arial"/>
              </a:defRPr>
            </a:pPr>
            <a:r>
              <a:rPr sz="2700" b="1">
                <a:solidFill>
                  <a:srgbClr val="161E2E"/>
                </a:solidFill>
                <a:latin typeface="Arial"/>
                <a:ea typeface="Arial"/>
                <a:cs typeface="Arial"/>
              </a:rPr>
              <a:t>The participant’s own center improves generation</a:t>
            </a:r>
          </a:p>
        </p:txBody>
      </p:sp>
      <p:sp>
        <p:nvSpPr>
          <p:cNvPr id="6" name="">
            <a:extLst xmlns:a="http://schemas.openxmlformats.org/drawingml/2006/main">
              <a:ext uri="{FF2B5EF4-FFF2-40B4-BE49-F238E27FC236}">
                <a16:creationId xmlns:a16="http://schemas.microsoft.com/office/drawing/2014/main" id="{6CC2A070-C551-4C7F-B7E5-CFBF7D1B9D0E}"/>
              </a:ext>
            </a:extLst>
          </p:cNvPr>
          <p:cNvSpPr>
            <a:spLocks xmlns:a="http://schemas.openxmlformats.org/drawingml/2006/main" noGrp="1"/>
          </p:cNvSpPr>
          <p:nvPr/>
        </p:nvSpPr>
        <p:spPr>
          <a:xfrm xmlns:a="http://schemas.openxmlformats.org/drawingml/2006/main">
            <a:off x="552450" y="15335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1E2E"/>
                </a:solidFill>
                <a:latin typeface="Arial"/>
                <a:ea typeface="Arial"/>
                <a:cs typeface="Arial"/>
              </a:defRPr>
            </a:pPr>
            <a:r>
              <a:rPr sz="1875" b="0">
                <a:solidFill>
                  <a:srgbClr val="161E2E"/>
                </a:solidFill>
                <a:latin typeface="Arial"/>
                <a:ea typeface="Arial"/>
                <a:cs typeface="Arial"/>
              </a:rPr>
              <a:t>We change the center while holding decoder, noise and task draws fixed.</a:t>
            </a:r>
          </a:p>
        </p:txBody>
      </p:sp>
      <p:sp>
        <p:nvSpPr>
          <p:cNvPr id="7" name="">
            <a:extLst xmlns:a="http://schemas.openxmlformats.org/drawingml/2006/main">
              <a:ext uri="{FF2B5EF4-FFF2-40B4-BE49-F238E27FC236}">
                <a16:creationId xmlns:a16="http://schemas.microsoft.com/office/drawing/2014/main" id="{676EBF97-EFC9-4A51-BE72-1AE1394D75A3}"/>
              </a:ext>
            </a:extLst>
          </p:cNvPr>
          <p:cNvSpPr>
            <a:spLocks xmlns:a="http://schemas.openxmlformats.org/drawingml/2006/main" noGrp="1"/>
          </p:cNvSpPr>
          <p:nvPr/>
        </p:nvSpPr>
        <p:spPr>
          <a:xfrm xmlns:a="http://schemas.openxmlformats.org/drawingml/2006/main">
            <a:off x="1524000" y="2200275"/>
            <a:ext cx="914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1E2E"/>
                </a:solidFill>
                <a:latin typeface="Arial"/>
                <a:ea typeface="Arial"/>
                <a:cs typeface="Arial"/>
              </a:defRPr>
            </a:pPr>
            <a:r>
              <a:rPr sz="1725" b="1">
                <a:solidFill>
                  <a:srgbClr val="161E2E"/>
                </a:solidFill>
                <a:latin typeface="Arial"/>
                <a:ea typeface="Arial"/>
                <a:cs typeface="Arial"/>
              </a:rPr>
              <a:t>Mean feature KS after replacing the center</a:t>
            </a:r>
          </a:p>
        </p:txBody>
      </p:sp>
      <p:graphicFrame>
        <p:nvGraphicFramePr>
          <p:cNvPr id="20" name="Chart"/>
          <p:cNvGraphicFramePr/>
          <p:nvPr/>
        </p:nvGraphicFramePr>
        <p:xfrm>
          <a:off xmlns:a="http://schemas.openxmlformats.org/drawingml/2006/main" x="1524000" y="2581275"/>
          <a:ext xmlns:a="http://schemas.openxmlformats.org/drawingml/2006/main" cx="9144000" cy="2971800"/>
        </p:xfrm>
        <a:graphic xmlns:a="http://schemas.openxmlformats.org/drawingml/2006/main">
          <a:graphicData uri="http://schemas.openxmlformats.org/drawingml/2006/chart">
            <c:chart xmlns:r="http://schemas.openxmlformats.org/officeDocument/2006/relationships" xmlns:c="http://schemas.openxmlformats.org/drawingml/2006/chart" r:id="Rb1701f762d3f4da1"/>
          </a:graphicData>
        </a:graphic>
      </p:graphicFrame>
      <p:sp>
        <p:nvSpPr>
          <p:cNvPr id="9" name="">
            <a:extLst xmlns:a="http://schemas.openxmlformats.org/drawingml/2006/main">
              <a:ext uri="{FF2B5EF4-FFF2-40B4-BE49-F238E27FC236}">
                <a16:creationId xmlns:a16="http://schemas.microsoft.com/office/drawing/2014/main" id="{37A8A250-430C-4CC4-B6DC-31D86F172811}"/>
              </a:ext>
            </a:extLst>
          </p:cNvPr>
          <p:cNvSpPr>
            <a:spLocks xmlns:a="http://schemas.openxmlformats.org/drawingml/2006/main" noGrp="1"/>
          </p:cNvSpPr>
          <p:nvPr/>
        </p:nvSpPr>
        <p:spPr>
          <a:xfrm xmlns:a="http://schemas.openxmlformats.org/drawingml/2006/main">
            <a:off x="533400" y="5705475"/>
            <a:ext cx="11125200" cy="742950"/>
          </a:xfrm>
          <a:prstGeom xmlns:a="http://schemas.openxmlformats.org/drawingml/2006/main" prst="rect">
            <a:avLst/>
          </a:prstGeom>
          <a:solidFill xmlns:a="http://schemas.openxmlformats.org/drawingml/2006/main">
            <a:srgbClr val="EFF5F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9E67769-C7C8-4CAB-A397-EED7BDA30ED0}"/>
              </a:ext>
            </a:extLst>
          </p:cNvPr>
          <p:cNvSpPr>
            <a:spLocks xmlns:a="http://schemas.openxmlformats.org/drawingml/2006/main" noGrp="1"/>
          </p:cNvSpPr>
          <p:nvPr/>
        </p:nvSpPr>
        <p:spPr>
          <a:xfrm xmlns:a="http://schemas.openxmlformats.org/drawingml/2006/main">
            <a:off x="533400" y="5705475"/>
            <a:ext cx="38100" cy="742950"/>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56D194-0DF6-4EAC-97A5-4275EA5808F4}"/>
              </a:ext>
            </a:extLst>
          </p:cNvPr>
          <p:cNvSpPr>
            <a:spLocks xmlns:a="http://schemas.openxmlformats.org/drawingml/2006/main" noGrp="1"/>
          </p:cNvSpPr>
          <p:nvPr/>
        </p:nvSpPr>
        <p:spPr>
          <a:xfrm xmlns:a="http://schemas.openxmlformats.org/drawingml/2006/main">
            <a:off x="685800" y="5800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3D4756"/>
                </a:solidFill>
                <a:latin typeface="Arial"/>
                <a:ea typeface="Arial"/>
                <a:cs typeface="Arial"/>
              </a:defRPr>
            </a:pPr>
            <a:r>
              <a:rPr sz="1425" b="0">
                <a:solidFill>
                  <a:srgbClr val="3D4756"/>
                </a:solidFill>
                <a:latin typeface="Arial"/>
                <a:ea typeface="Arial"/>
                <a:cs typeface="Arial"/>
              </a:rPr>
              <a:t>Mean feature KS; lower is better. All VAE control comparisons: BH q &lt; 1.6×10⁻⁶ (6 tests). All CVAE comparisons: q &lt; .000382 (12 tests).</a:t>
            </a:r>
          </a:p>
        </p:txBody>
      </p:sp>
      <p:sp>
        <p:nvSpPr>
          <p:cNvPr id="12" name="">
            <a:extLst xmlns:a="http://schemas.openxmlformats.org/drawingml/2006/main">
              <a:ext uri="{FF2B5EF4-FFF2-40B4-BE49-F238E27FC236}">
                <a16:creationId xmlns:a16="http://schemas.microsoft.com/office/drawing/2014/main" id="{243810F5-DE68-4265-A555-19C9D8C9F497}"/>
              </a:ext>
            </a:extLst>
          </p:cNvPr>
          <p:cNvSpPr>
            <a:spLocks xmlns:a="http://schemas.openxmlformats.org/drawingml/2006/main" noGrp="1"/>
          </p:cNvSpPr>
          <p:nvPr/>
        </p:nvSpPr>
        <p:spPr>
          <a:xfrm xmlns:a="http://schemas.openxmlformats.org/drawingml/2006/main">
            <a:off x="11049000" y="65722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37E8B"/>
                </a:solidFill>
                <a:latin typeface="Arial"/>
                <a:ea typeface="Arial"/>
                <a:cs typeface="Arial"/>
              </a:defRPr>
            </a:pPr>
            <a:r>
              <a:rPr sz="1050" b="0">
                <a:solidFill>
                  <a:srgbClr val="737E8B"/>
                </a:solidFill>
                <a:latin typeface="Arial"/>
                <a:ea typeface="Arial"/>
                <a:cs typeface="Arial"/>
              </a:rPr>
              <a:t>8 / 10</a:t>
            </a:r>
          </a:p>
        </p:txBody>
      </p:sp>
    </p:spTree>
    <p:extLst>
      <p:ext uri="{BB962C8B-B14F-4D97-AF65-F5344CB8AC3E}">
        <p14:creationId xmlns:p14="http://schemas.microsoft.com/office/powerpoint/2010/main" val="17376387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241B6D-BAE9-459D-B8B3-64A1F88441B2}"/>
              </a:ext>
            </a:extLst>
          </p:cNvPr>
          <p:cNvSpPr>
            <a:spLocks xmlns:a="http://schemas.openxmlformats.org/drawingml/2006/main" noGrp="1"/>
          </p:cNvSpPr>
          <p:nvPr/>
        </p:nvSpPr>
        <p:spPr>
          <a:xfrm xmlns:a="http://schemas.openxmlformats.org/drawingml/2006/main">
            <a:off x="0" y="0"/>
            <a:ext cx="4064000" cy="66675"/>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BAE076-DB30-4794-AFB5-C35A18A70B6A}"/>
              </a:ext>
            </a:extLst>
          </p:cNvPr>
          <p:cNvSpPr>
            <a:spLocks xmlns:a="http://schemas.openxmlformats.org/drawingml/2006/main" noGrp="1"/>
          </p:cNvSpPr>
          <p:nvPr/>
        </p:nvSpPr>
        <p:spPr>
          <a:xfrm xmlns:a="http://schemas.openxmlformats.org/drawingml/2006/main">
            <a:off x="4064000" y="0"/>
            <a:ext cx="4064000" cy="66675"/>
          </a:xfrm>
          <a:prstGeom xmlns:a="http://schemas.openxmlformats.org/drawingml/2006/main" prst="rect">
            <a:avLst/>
          </a:prstGeom>
          <a:solidFill xmlns:a="http://schemas.openxmlformats.org/drawingml/2006/main">
            <a:srgbClr val="17A2A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8663A7-F899-4D08-A39E-A7CEA6DE1AA5}"/>
              </a:ext>
            </a:extLst>
          </p:cNvPr>
          <p:cNvSpPr>
            <a:spLocks xmlns:a="http://schemas.openxmlformats.org/drawingml/2006/main" noGrp="1"/>
          </p:cNvSpPr>
          <p:nvPr/>
        </p:nvSpPr>
        <p:spPr>
          <a:xfrm xmlns:a="http://schemas.openxmlformats.org/drawingml/2006/main">
            <a:off x="8128000" y="0"/>
            <a:ext cx="4064000" cy="66675"/>
          </a:xfrm>
          <a:prstGeom xmlns:a="http://schemas.openxmlformats.org/drawingml/2006/main" prst="rect">
            <a:avLst/>
          </a:prstGeom>
          <a:solidFill xmlns:a="http://schemas.openxmlformats.org/drawingml/2006/main">
            <a:srgbClr val="7A5CF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5EB44A-A3EC-46E6-BC5D-E9D361795931}"/>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E1E6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55F890-F52A-4BB5-AC71-B984F0E7DF6E}"/>
              </a:ext>
            </a:extLst>
          </p:cNvPr>
          <p:cNvSpPr>
            <a:spLocks xmlns:a="http://schemas.openxmlformats.org/drawingml/2006/main" noGrp="1"/>
          </p:cNvSpPr>
          <p:nvPr/>
        </p:nvSpPr>
        <p:spPr>
          <a:xfrm xmlns:a="http://schemas.openxmlformats.org/drawingml/2006/main">
            <a:off x="533400" y="5143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1E2E"/>
                </a:solidFill>
                <a:latin typeface="Arial"/>
                <a:ea typeface="Arial"/>
                <a:cs typeface="Arial"/>
              </a:defRPr>
            </a:pPr>
            <a:r>
              <a:rPr sz="2700" b="1">
                <a:solidFill>
                  <a:srgbClr val="161E2E"/>
                </a:solidFill>
                <a:latin typeface="Arial"/>
                <a:ea typeface="Arial"/>
                <a:cs typeface="Arial"/>
              </a:rPr>
              <a:t>What the compact model achieves</a:t>
            </a:r>
          </a:p>
        </p:txBody>
      </p:sp>
      <p:sp>
        <p:nvSpPr>
          <p:cNvPr id="6" name="">
            <a:extLst xmlns:a="http://schemas.openxmlformats.org/drawingml/2006/main">
              <a:ext uri="{FF2B5EF4-FFF2-40B4-BE49-F238E27FC236}">
                <a16:creationId xmlns:a16="http://schemas.microsoft.com/office/drawing/2014/main" id="{54B2283F-5270-4C17-8025-2BD8B7E8462F}"/>
              </a:ext>
            </a:extLst>
          </p:cNvPr>
          <p:cNvSpPr>
            <a:spLocks xmlns:a="http://schemas.openxmlformats.org/drawingml/2006/main" noGrp="1"/>
          </p:cNvSpPr>
          <p:nvPr/>
        </p:nvSpPr>
        <p:spPr>
          <a:xfrm xmlns:a="http://schemas.openxmlformats.org/drawingml/2006/main">
            <a:off x="552450" y="1562100"/>
            <a:ext cx="1100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1E2E"/>
                </a:solidFill>
                <a:latin typeface="Arial"/>
                <a:ea typeface="Arial"/>
                <a:cs typeface="Arial"/>
              </a:defRPr>
            </a:pPr>
            <a:r>
              <a:rPr sz="1725" b="0">
                <a:solidFill>
                  <a:srgbClr val="161E2E"/>
                </a:solidFill>
                <a:latin typeface="Arial"/>
                <a:ea typeface="Arial"/>
                <a:cs typeface="Arial"/>
              </a:rPr>
              <a:t>Stored context resampling has lower mean path discrepancy.</a:t>
            </a:r>
          </a:p>
          <a:p xmlns:a="http://schemas.openxmlformats.org/drawingml/2006/main">
            <a:pPr>
              <a:defRPr sz="1725" b="0">
                <a:solidFill>
                  <a:srgbClr val="161E2E"/>
                </a:solidFill>
                <a:latin typeface="Arial"/>
                <a:ea typeface="Arial"/>
                <a:cs typeface="Arial"/>
              </a:defRPr>
            </a:pPr>
            <a:r>
              <a:rPr sz="1725" b="0">
                <a:solidFill>
                  <a:srgbClr val="161E2E"/>
                </a:solidFill>
                <a:latin typeface="Arial"/>
                <a:ea typeface="Arial"/>
                <a:cs typeface="Arial"/>
              </a:rPr>
              <a:t>It retains complete paths, while the compact models retain a personal center.</a:t>
            </a:r>
          </a:p>
        </p:txBody>
      </p:sp>
      <p:graphicFrame>
        <p:nvGraphicFramePr>
          <p:cNvPr id="18" name=""/>
          <p:cNvGraphicFramePr/>
          <p:nvPr/>
        </p:nvGraphicFramePr>
        <p:xfrm>
          <a:off xmlns:a="http://schemas.openxmlformats.org/drawingml/2006/main" x="552450" y="2266950"/>
          <a:ext xmlns:a="http://schemas.openxmlformats.org/drawingml/2006/main" cx="11049000" cy="1981200"/>
        </p:xfrm>
        <a:graphic xmlns:a="http://schemas.openxmlformats.org/drawingml/2006/main">
          <a:graphicData uri="http://schemas.openxmlformats.org/drawingml/2006/table">
            <a:tbl>
              <a:tblPr/>
              <a:tblGrid>
                <a:gridCol w="5082540"/>
                <a:gridCol w="2983230"/>
                <a:gridCol w="2983230"/>
              </a:tblGrid>
              <a:tr h="495300">
                <a:tc>
                  <a:txBody>
                    <a:bodyPr/>
                    <a:lstStyle/>
                    <a:p>
                      <a:r>
                        <a:rPr sz="1650" b="1">
                          <a:solidFill>
                            <a:srgbClr val="FFFFFF"/>
                          </a:solidFill>
                          <a:latin typeface="Arial"/>
                          <a:ea typeface="Arial"/>
                          <a:cs typeface="Arial"/>
                        </a:rPr>
                        <a:t>Raw path reference</a:t>
                      </a:r>
                    </a:p>
                  </a:txBody>
                  <a:tcPr marL="114300" marR="95250" marT="66675" marB="57150" anchor="ctr">
                    <a:solidFill>
                      <a:srgbClr val="161E2E"/>
                    </a:solidFill>
                  </a:tcPr>
                </a:tc>
                <a:tc>
                  <a:txBody>
                    <a:bodyPr/>
                    <a:lstStyle/>
                    <a:p>
                      <a:r>
                        <a:rPr sz="1650" b="1">
                          <a:solidFill>
                            <a:srgbClr val="FFFFFF"/>
                          </a:solidFill>
                          <a:latin typeface="Arial"/>
                          <a:ea typeface="Arial"/>
                          <a:cs typeface="Arial"/>
                        </a:rPr>
                        <a:t>Energy (cm)</a:t>
                      </a:r>
                    </a:p>
                  </a:txBody>
                  <a:tcPr marL="114300" marR="95250" marT="66675" marB="57150" anchor="ctr">
                    <a:solidFill>
                      <a:srgbClr val="161E2E"/>
                    </a:solidFill>
                  </a:tcPr>
                </a:tc>
                <a:tc>
                  <a:txBody>
                    <a:bodyPr/>
                    <a:lstStyle/>
                    <a:p>
                      <a:r>
                        <a:rPr sz="1650" b="1">
                          <a:solidFill>
                            <a:srgbClr val="FFFFFF"/>
                          </a:solidFill>
                          <a:latin typeface="Arial"/>
                          <a:ea typeface="Arial"/>
                          <a:cs typeface="Arial"/>
                        </a:rPr>
                        <a:t>MMD²</a:t>
                      </a:r>
                    </a:p>
                  </a:txBody>
                  <a:tcPr marL="114300" marR="95250" marT="66675" marB="57150" anchor="ctr">
                    <a:solidFill>
                      <a:srgbClr val="161E2E"/>
                    </a:solidFill>
                  </a:tcPr>
                </a:tc>
              </a:tr>
              <a:tr h="495300">
                <a:tc>
                  <a:txBody>
                    <a:bodyPr/>
                    <a:lstStyle/>
                    <a:p>
                      <a:r>
                        <a:rPr sz="1650" b="0">
                          <a:solidFill>
                            <a:srgbClr val="161E2E"/>
                          </a:solidFill>
                          <a:latin typeface="Arial"/>
                          <a:ea typeface="Arial"/>
                          <a:cs typeface="Arial"/>
                        </a:rPr>
                        <a:t>VAE n=8</a:t>
                      </a:r>
                    </a:p>
                  </a:txBody>
                  <a:tcPr marL="114300" marR="95250" marT="66675" marB="57150" anchor="ctr">
                    <a:solidFill>
                      <a:srgbClr val="F8FAFC"/>
                    </a:solidFill>
                  </a:tcPr>
                </a:tc>
                <a:tc>
                  <a:txBody>
                    <a:bodyPr/>
                    <a:lstStyle/>
                    <a:p>
                      <a:r>
                        <a:rPr sz="1650" b="0">
                          <a:solidFill>
                            <a:srgbClr val="161E2E"/>
                          </a:solidFill>
                          <a:latin typeface="Arial"/>
                          <a:ea typeface="Arial"/>
                          <a:cs typeface="Arial"/>
                        </a:rPr>
                        <a:t>0.0548</a:t>
                      </a:r>
                    </a:p>
                  </a:txBody>
                  <a:tcPr marL="114300" marR="95250" marT="66675" marB="57150" anchor="ctr">
                    <a:solidFill>
                      <a:srgbClr val="F8FAFC"/>
                    </a:solidFill>
                  </a:tcPr>
                </a:tc>
                <a:tc>
                  <a:txBody>
                    <a:bodyPr/>
                    <a:lstStyle/>
                    <a:p>
                      <a:r>
                        <a:rPr sz="1650" b="0">
                          <a:solidFill>
                            <a:srgbClr val="161E2E"/>
                          </a:solidFill>
                          <a:latin typeface="Arial"/>
                          <a:ea typeface="Arial"/>
                          <a:cs typeface="Arial"/>
                        </a:rPr>
                        <a:t>0.0238</a:t>
                      </a:r>
                    </a:p>
                  </a:txBody>
                  <a:tcPr marL="114300" marR="95250" marT="66675" marB="57150" anchor="ctr">
                    <a:solidFill>
                      <a:srgbClr val="F8FAFC"/>
                    </a:solidFill>
                  </a:tcPr>
                </a:tc>
              </a:tr>
              <a:tr h="495300">
                <a:tc>
                  <a:txBody>
                    <a:bodyPr/>
                    <a:lstStyle/>
                    <a:p>
                      <a:r>
                        <a:rPr sz="1650" b="0">
                          <a:solidFill>
                            <a:srgbClr val="161E2E"/>
                          </a:solidFill>
                          <a:latin typeface="Arial"/>
                          <a:ea typeface="Arial"/>
                          <a:cs typeface="Arial"/>
                        </a:rPr>
                        <a:t>Resample stored context</a:t>
                      </a:r>
                    </a:p>
                  </a:txBody>
                  <a:tcPr marL="114300" marR="95250" marT="66675" marB="57150" anchor="ctr">
                    <a:solidFill>
                      <a:srgbClr val="FFFFFF"/>
                    </a:solidFill>
                  </a:tcPr>
                </a:tc>
                <a:tc>
                  <a:txBody>
                    <a:bodyPr/>
                    <a:lstStyle/>
                    <a:p>
                      <a:r>
                        <a:rPr sz="1650" b="0">
                          <a:solidFill>
                            <a:srgbClr val="161E2E"/>
                          </a:solidFill>
                          <a:latin typeface="Arial"/>
                          <a:ea typeface="Arial"/>
                          <a:cs typeface="Arial"/>
                        </a:rPr>
                        <a:t>0.0328</a:t>
                      </a:r>
                    </a:p>
                  </a:txBody>
                  <a:tcPr marL="114300" marR="95250" marT="66675" marB="57150" anchor="ctr">
                    <a:solidFill>
                      <a:srgbClr val="FFFFFF"/>
                    </a:solidFill>
                  </a:tcPr>
                </a:tc>
                <a:tc>
                  <a:txBody>
                    <a:bodyPr/>
                    <a:lstStyle/>
                    <a:p>
                      <a:r>
                        <a:rPr sz="1650" b="0">
                          <a:solidFill>
                            <a:srgbClr val="161E2E"/>
                          </a:solidFill>
                          <a:latin typeface="Arial"/>
                          <a:ea typeface="Arial"/>
                          <a:cs typeface="Arial"/>
                        </a:rPr>
                        <a:t>0.0054</a:t>
                      </a:r>
                    </a:p>
                  </a:txBody>
                  <a:tcPr marL="114300" marR="95250" marT="66675" marB="57150" anchor="ctr">
                    <a:solidFill>
                      <a:srgbClr val="FFFFFF"/>
                    </a:solidFill>
                  </a:tcPr>
                </a:tc>
              </a:tr>
              <a:tr h="495300">
                <a:tc>
                  <a:txBody>
                    <a:bodyPr/>
                    <a:lstStyle/>
                    <a:p>
                      <a:r>
                        <a:rPr sz="1650" b="0">
                          <a:solidFill>
                            <a:srgbClr val="161E2E"/>
                          </a:solidFill>
                          <a:latin typeface="Arial"/>
                          <a:ea typeface="Arial"/>
                          <a:cs typeface="Arial"/>
                        </a:rPr>
                        <a:t>Repeat context mean</a:t>
                      </a:r>
                    </a:p>
                  </a:txBody>
                  <a:tcPr marL="114300" marR="95250" marT="66675" marB="57150" anchor="ctr">
                    <a:solidFill>
                      <a:srgbClr val="F8FAFC"/>
                    </a:solidFill>
                  </a:tcPr>
                </a:tc>
                <a:tc>
                  <a:txBody>
                    <a:bodyPr/>
                    <a:lstStyle/>
                    <a:p>
                      <a:r>
                        <a:rPr sz="1650" b="0">
                          <a:solidFill>
                            <a:srgbClr val="161E2E"/>
                          </a:solidFill>
                          <a:latin typeface="Arial"/>
                          <a:ea typeface="Arial"/>
                          <a:cs typeface="Arial"/>
                        </a:rPr>
                        <a:t>0.4621</a:t>
                      </a:r>
                    </a:p>
                  </a:txBody>
                  <a:tcPr marL="114300" marR="95250" marT="66675" marB="57150" anchor="ctr">
                    <a:solidFill>
                      <a:srgbClr val="F8FAFC"/>
                    </a:solidFill>
                  </a:tcPr>
                </a:tc>
                <a:tc>
                  <a:txBody>
                    <a:bodyPr/>
                    <a:lstStyle/>
                    <a:p>
                      <a:r>
                        <a:rPr sz="1650" b="0">
                          <a:solidFill>
                            <a:srgbClr val="161E2E"/>
                          </a:solidFill>
                          <a:latin typeface="Arial"/>
                          <a:ea typeface="Arial"/>
                          <a:cs typeface="Arial"/>
                        </a:rPr>
                        <a:t>0.2452</a:t>
                      </a:r>
                    </a:p>
                  </a:txBody>
                  <a:tcPr marL="114300" marR="95250" marT="66675" marB="57150" anchor="ctr">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1E251D24-75DF-4B64-A7DA-EA75852A5618}"/>
              </a:ext>
            </a:extLst>
          </p:cNvPr>
          <p:cNvSpPr>
            <a:spLocks xmlns:a="http://schemas.openxmlformats.org/drawingml/2006/main" noGrp="1"/>
          </p:cNvSpPr>
          <p:nvPr/>
        </p:nvSpPr>
        <p:spPr>
          <a:xfrm xmlns:a="http://schemas.openxmlformats.org/drawingml/2006/main">
            <a:off x="533400" y="5705475"/>
            <a:ext cx="11125200" cy="742950"/>
          </a:xfrm>
          <a:prstGeom xmlns:a="http://schemas.openxmlformats.org/drawingml/2006/main" prst="rect">
            <a:avLst/>
          </a:prstGeom>
          <a:solidFill xmlns:a="http://schemas.openxmlformats.org/drawingml/2006/main">
            <a:srgbClr val="EFF5F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5E02EEB-79A0-48F2-A7CD-83DBD8CC5824}"/>
              </a:ext>
            </a:extLst>
          </p:cNvPr>
          <p:cNvSpPr>
            <a:spLocks xmlns:a="http://schemas.openxmlformats.org/drawingml/2006/main" noGrp="1"/>
          </p:cNvSpPr>
          <p:nvPr/>
        </p:nvSpPr>
        <p:spPr>
          <a:xfrm xmlns:a="http://schemas.openxmlformats.org/drawingml/2006/main">
            <a:off x="533400" y="5705475"/>
            <a:ext cx="38100" cy="742950"/>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4E3E7FA-7650-442C-BA2A-AF88E66C6BF8}"/>
              </a:ext>
            </a:extLst>
          </p:cNvPr>
          <p:cNvSpPr>
            <a:spLocks xmlns:a="http://schemas.openxmlformats.org/drawingml/2006/main" noGrp="1"/>
          </p:cNvSpPr>
          <p:nvPr/>
        </p:nvSpPr>
        <p:spPr>
          <a:xfrm xmlns:a="http://schemas.openxmlformats.org/drawingml/2006/main">
            <a:off x="685800" y="5800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3D4756"/>
                </a:solidFill>
                <a:latin typeface="Arial"/>
                <a:ea typeface="Arial"/>
                <a:cs typeface="Arial"/>
              </a:defRPr>
            </a:pPr>
            <a:r>
              <a:rPr sz="1425" b="0">
                <a:solidFill>
                  <a:srgbClr val="3D4756"/>
                </a:solidFill>
                <a:latin typeface="Arial"/>
                <a:ea typeface="Arial"/>
                <a:cs typeface="Arial"/>
              </a:rPr>
              <a:t>Descriptive reference means. Resampling retains all context paths; repeating their mean loses movement variability.</a:t>
            </a:r>
          </a:p>
        </p:txBody>
      </p:sp>
      <p:sp>
        <p:nvSpPr>
          <p:cNvPr id="11" name="">
            <a:extLst xmlns:a="http://schemas.openxmlformats.org/drawingml/2006/main">
              <a:ext uri="{FF2B5EF4-FFF2-40B4-BE49-F238E27FC236}">
                <a16:creationId xmlns:a16="http://schemas.microsoft.com/office/drawing/2014/main" id="{8FE72085-5203-464F-B0B0-02EF73F1BDBA}"/>
              </a:ext>
            </a:extLst>
          </p:cNvPr>
          <p:cNvSpPr>
            <a:spLocks xmlns:a="http://schemas.openxmlformats.org/drawingml/2006/main" noGrp="1"/>
          </p:cNvSpPr>
          <p:nvPr/>
        </p:nvSpPr>
        <p:spPr>
          <a:xfrm xmlns:a="http://schemas.openxmlformats.org/drawingml/2006/main">
            <a:off x="11049000" y="65722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37E8B"/>
                </a:solidFill>
                <a:latin typeface="Arial"/>
                <a:ea typeface="Arial"/>
                <a:cs typeface="Arial"/>
              </a:defRPr>
            </a:pPr>
            <a:r>
              <a:rPr sz="1050" b="0">
                <a:solidFill>
                  <a:srgbClr val="737E8B"/>
                </a:solidFill>
                <a:latin typeface="Arial"/>
                <a:ea typeface="Arial"/>
                <a:cs typeface="Arial"/>
              </a:rPr>
              <a:t>9 / 10</a:t>
            </a:r>
          </a:p>
        </p:txBody>
      </p:sp>
    </p:spTree>
    <p:extLst>
      <p:ext uri="{BB962C8B-B14F-4D97-AF65-F5344CB8AC3E}">
        <p14:creationId xmlns:p14="http://schemas.microsoft.com/office/powerpoint/2010/main" val="14705600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4FD222-C525-4B2C-9008-90BD39B60866}"/>
              </a:ext>
            </a:extLst>
          </p:cNvPr>
          <p:cNvSpPr>
            <a:spLocks xmlns:a="http://schemas.openxmlformats.org/drawingml/2006/main" noGrp="1"/>
          </p:cNvSpPr>
          <p:nvPr/>
        </p:nvSpPr>
        <p:spPr>
          <a:xfrm xmlns:a="http://schemas.openxmlformats.org/drawingml/2006/main">
            <a:off x="0" y="0"/>
            <a:ext cx="4064000" cy="66675"/>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3D6B1B-B9A3-4491-B900-3C6EC1C63E09}"/>
              </a:ext>
            </a:extLst>
          </p:cNvPr>
          <p:cNvSpPr>
            <a:spLocks xmlns:a="http://schemas.openxmlformats.org/drawingml/2006/main" noGrp="1"/>
          </p:cNvSpPr>
          <p:nvPr/>
        </p:nvSpPr>
        <p:spPr>
          <a:xfrm xmlns:a="http://schemas.openxmlformats.org/drawingml/2006/main">
            <a:off x="4064000" y="0"/>
            <a:ext cx="4064000" cy="66675"/>
          </a:xfrm>
          <a:prstGeom xmlns:a="http://schemas.openxmlformats.org/drawingml/2006/main" prst="rect">
            <a:avLst/>
          </a:prstGeom>
          <a:solidFill xmlns:a="http://schemas.openxmlformats.org/drawingml/2006/main">
            <a:srgbClr val="17A2A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7ABB52-13A0-4D8C-B89C-ACED344ED69D}"/>
              </a:ext>
            </a:extLst>
          </p:cNvPr>
          <p:cNvSpPr>
            <a:spLocks xmlns:a="http://schemas.openxmlformats.org/drawingml/2006/main" noGrp="1"/>
          </p:cNvSpPr>
          <p:nvPr/>
        </p:nvSpPr>
        <p:spPr>
          <a:xfrm xmlns:a="http://schemas.openxmlformats.org/drawingml/2006/main">
            <a:off x="8128000" y="0"/>
            <a:ext cx="4064000" cy="66675"/>
          </a:xfrm>
          <a:prstGeom xmlns:a="http://schemas.openxmlformats.org/drawingml/2006/main" prst="rect">
            <a:avLst/>
          </a:prstGeom>
          <a:solidFill xmlns:a="http://schemas.openxmlformats.org/drawingml/2006/main">
            <a:srgbClr val="7A5CF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ACADF9D-2305-440C-9349-E07DA0DB0AB1}"/>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E1E6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4F6505-0BB8-4CAC-A460-F9D8842F1E6C}"/>
              </a:ext>
            </a:extLst>
          </p:cNvPr>
          <p:cNvSpPr>
            <a:spLocks xmlns:a="http://schemas.openxmlformats.org/drawingml/2006/main" noGrp="1"/>
          </p:cNvSpPr>
          <p:nvPr/>
        </p:nvSpPr>
        <p:spPr>
          <a:xfrm xmlns:a="http://schemas.openxmlformats.org/drawingml/2006/main">
            <a:off x="533400" y="5143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1E2E"/>
                </a:solidFill>
                <a:latin typeface="Arial"/>
                <a:ea typeface="Arial"/>
                <a:cs typeface="Arial"/>
              </a:defRPr>
            </a:pPr>
            <a:r>
              <a:rPr sz="2700" b="1">
                <a:solidFill>
                  <a:srgbClr val="161E2E"/>
                </a:solidFill>
                <a:latin typeface="Arial"/>
                <a:ea typeface="Arial"/>
                <a:cs typeface="Arial"/>
              </a:rPr>
              <a:t>Dashboard demonstration</a:t>
            </a:r>
          </a:p>
        </p:txBody>
      </p:sp>
      <p:sp>
        <p:nvSpPr>
          <p:cNvPr id="6" name="">
            <a:extLst xmlns:a="http://schemas.openxmlformats.org/drawingml/2006/main">
              <a:ext uri="{FF2B5EF4-FFF2-40B4-BE49-F238E27FC236}">
                <a16:creationId xmlns:a16="http://schemas.microsoft.com/office/drawing/2014/main" id="{9ACBAABA-E730-4273-87ED-9B2D981B48E1}"/>
              </a:ext>
            </a:extLst>
          </p:cNvPr>
          <p:cNvSpPr>
            <a:spLocks xmlns:a="http://schemas.openxmlformats.org/drawingml/2006/main" noGrp="1"/>
          </p:cNvSpPr>
          <p:nvPr/>
        </p:nvSpPr>
        <p:spPr>
          <a:xfrm xmlns:a="http://schemas.openxmlformats.org/drawingml/2006/main">
            <a:off x="552450" y="153352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1E2E"/>
                </a:solidFill>
                <a:latin typeface="Arial"/>
                <a:ea typeface="Arial"/>
                <a:cs typeface="Arial"/>
              </a:defRPr>
            </a:pPr>
            <a:r>
              <a:rPr sz="1875" b="0">
                <a:solidFill>
                  <a:srgbClr val="161E2E"/>
                </a:solidFill>
                <a:latin typeface="Arial"/>
                <a:ea typeface="Arial"/>
                <a:cs typeface="Arial"/>
              </a:rPr>
              <a:t>VAE n=8 is the default. Explore n=3, CVAE, CAE and spline + PCA alongside the cohort results.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0c9cfeffb174ea7"/>
          <a:stretch xmlns:a="http://schemas.openxmlformats.org/drawingml/2006/main"/>
        </p:blipFill>
        <p:spPr>
          <a:xfrm xmlns:a="http://schemas.openxmlformats.org/drawingml/2006/main">
            <a:off x="1425586" y="2266950"/>
            <a:ext cx="9302728" cy="3371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85AA6F3-D5EC-4E0C-B795-5B917CDE3DD4}"/>
              </a:ext>
            </a:extLst>
          </p:cNvPr>
          <p:cNvSpPr>
            <a:spLocks xmlns:a="http://schemas.openxmlformats.org/drawingml/2006/main" noGrp="1"/>
          </p:cNvSpPr>
          <p:nvPr/>
        </p:nvSpPr>
        <p:spPr>
          <a:xfrm xmlns:a="http://schemas.openxmlformats.org/drawingml/2006/main">
            <a:off x="533400" y="5705475"/>
            <a:ext cx="11125200" cy="742950"/>
          </a:xfrm>
          <a:prstGeom xmlns:a="http://schemas.openxmlformats.org/drawingml/2006/main" prst="rect">
            <a:avLst/>
          </a:prstGeom>
          <a:solidFill xmlns:a="http://schemas.openxmlformats.org/drawingml/2006/main">
            <a:srgbClr val="EFF5F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C2F6851-56B8-476A-9167-9C43DF175132}"/>
              </a:ext>
            </a:extLst>
          </p:cNvPr>
          <p:cNvSpPr>
            <a:spLocks xmlns:a="http://schemas.openxmlformats.org/drawingml/2006/main" noGrp="1"/>
          </p:cNvSpPr>
          <p:nvPr/>
        </p:nvSpPr>
        <p:spPr>
          <a:xfrm xmlns:a="http://schemas.openxmlformats.org/drawingml/2006/main">
            <a:off x="533400" y="5705475"/>
            <a:ext cx="38100" cy="742950"/>
          </a:xfrm>
          <a:prstGeom xmlns:a="http://schemas.openxmlformats.org/drawingml/2006/main" prst="rect">
            <a:avLst/>
          </a:prstGeom>
          <a:solidFill xmlns:a="http://schemas.openxmlformats.org/drawingml/2006/main">
            <a:srgbClr val="1B6F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D60B815-BC13-475A-9D98-54940B845E98}"/>
              </a:ext>
            </a:extLst>
          </p:cNvPr>
          <p:cNvSpPr>
            <a:spLocks xmlns:a="http://schemas.openxmlformats.org/drawingml/2006/main" noGrp="1"/>
          </p:cNvSpPr>
          <p:nvPr/>
        </p:nvSpPr>
        <p:spPr>
          <a:xfrm xmlns:a="http://schemas.openxmlformats.org/drawingml/2006/main">
            <a:off x="685800" y="5800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3D4756"/>
                </a:solidFill>
                <a:latin typeface="Arial"/>
                <a:ea typeface="Arial"/>
                <a:cs typeface="Arial"/>
              </a:defRPr>
            </a:pPr>
            <a:r>
              <a:rPr sz="1425" b="0">
                <a:solidFill>
                  <a:srgbClr val="3D4756"/>
                </a:solidFill>
                <a:latin typeface="Arial"/>
                <a:ea typeface="Arial"/>
                <a:cs typeface="Arial"/>
              </a:rPr>
              <a:t>Explore recorded and generated paths, feature distributions and model benchmarks for the same session.</a:t>
            </a:r>
          </a:p>
        </p:txBody>
      </p:sp>
      <p:sp>
        <p:nvSpPr>
          <p:cNvPr id="11" name="">
            <a:extLst xmlns:a="http://schemas.openxmlformats.org/drawingml/2006/main">
              <a:ext uri="{FF2B5EF4-FFF2-40B4-BE49-F238E27FC236}">
                <a16:creationId xmlns:a16="http://schemas.microsoft.com/office/drawing/2014/main" id="{44B22A6E-C52B-4F92-8599-3ECC0F397FC4}"/>
              </a:ext>
            </a:extLst>
          </p:cNvPr>
          <p:cNvSpPr>
            <a:spLocks xmlns:a="http://schemas.openxmlformats.org/drawingml/2006/main" noGrp="1"/>
          </p:cNvSpPr>
          <p:nvPr/>
        </p:nvSpPr>
        <p:spPr>
          <a:xfrm xmlns:a="http://schemas.openxmlformats.org/drawingml/2006/main">
            <a:off x="11049000" y="65722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37E8B"/>
                </a:solidFill>
                <a:latin typeface="Arial"/>
                <a:ea typeface="Arial"/>
                <a:cs typeface="Arial"/>
              </a:defRPr>
            </a:pPr>
            <a:r>
              <a:rPr sz="1050" b="0">
                <a:solidFill>
                  <a:srgbClr val="737E8B"/>
                </a:solidFill>
                <a:latin typeface="Arial"/>
                <a:ea typeface="Arial"/>
                <a:cs typeface="Arial"/>
              </a:rPr>
              <a:t>10 / 10</a:t>
            </a:r>
          </a:p>
        </p:txBody>
      </p:sp>
    </p:spTree>
    <p:extLst>
      <p:ext uri="{BB962C8B-B14F-4D97-AF65-F5344CB8AC3E}">
        <p14:creationId xmlns:p14="http://schemas.microsoft.com/office/powerpoint/2010/main" val="19078854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2026-09-14T11:25:02.8740000Z</dcterms:created>
  <dcterms:modified xsi:type="dcterms:W3CDTF">2026-09-14T11:25:02.8740000Z</dcterms:modified>
</coreProperties>
</file>