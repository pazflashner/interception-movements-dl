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Planned: 45 seconds. Slide 2 of 11.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Planned: 40 seconds. Slide 3 of 11.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Planned: 65 seconds. Slide 4 of 11.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Planned: 55 seconds. Slide 5 of 11.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Planned: 45 seconds. Slide 6 of 11.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Planned: 40 seconds. Slide 7 of 11.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Planned: 55 seconds. Slide 8 of 11.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Planned: 45 seconds. Slide 9 of 11.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Planned: 45 seconds. Slide 10 of 11.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Planned: 80 seconds. Slide 11 of 11.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start with a regularized 240 Hz grid, smooth using a fourth-order 10 Hz forward-backward Butterworth filter and select the modeled window. We fit a cubic interpolant through the existing filtered points and evaluate it at j/99. This interpolation is different from fitting the later five-knot compression model. Subtracting the first position aligns starts, but does not scale amplitude or rotate paths. We retain initiation and movement seconds as separate targets. Early movement after target motion remains; the earlier appearance interval is outside the modeled window. Source: src/preprocessing.py, src/trajectory_view.py; appendix A1.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Moni asked what we feed into PCA. It is a matrix where each row is one trial's eighteen spline coefficients. We first fit a spline separately to x and y of each trial. Nine x and nine y coefficients give eighteen numbers. We stack training trials and PCA learns n directions in that eighteen-dimensional space. Neither test trials nor validation trials train those PCA directions. The number of knots and the number of latent coordinates are different controls. Source: src/baseline_spline.py, CompactSplineRepresentation; appendix A2.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two compression steps: sampled path into smooth coefficients, then coefficients into a smaller PCA code. Fit B c_x to x and B c_y to y. The code z is obtained by centering/scaling the coefficient vector and projecting onto retained axes. To decode, apply inverse PCA and inverse scaling, split the eighteen coefficients into two blocks and multiply both by the basis B. Raw PCA still centers columns. PCA optimizes variance in coefficient space and does not guarantee the best trajectory MSE against all methods. Sources: src/baseline_spline.py; appendix A2. The on-slide equation matches the effective forward and inverse transformations.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coordinate path is on normalized phase, so the model must predict seconds separately. Initiation is time from target motion to finger onset, movement time is onset to end. We take log(t+.001) to accommodate zeros, standardize training targets, and reverse these transformations after prediction. Spline Ridge receives the code and five conditions, with training input standardization and alpha from .01, .1, 1, 10, 100 selected using validation error on standardized log targets. Neural models have a two-value timing head. Huge positive timing errors were not upper-clipped out of the main scores. Source: src/confirmatory_spline.py, TimingRidge; src/vae_model.py; appendix A3.</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actual code uses reduction=none, then sum across output coordinates and mean across trials. We must not simply write MSE plus 20 MSE because one output has two hundred coordinates and the other has two. KL measures how far the encoder's Gaussian posterior is from the standard normal. Beta warms from zero to one over fifty epochs, while checkpoint validation uses the final beta-one objective. Adam learning rate .001, batch size 64, gradient norm clipping at five, patience 25, maximum 150 epochs, three seeds. Source: src/vae_model.py vae_loss; src/train.py; appendix A3.</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VAE is an unconditional ablation in the same code framework. It does not receive meaningful conditions because we zero them at both ends. CVAE uses actual conditions. CAE uses actual conditions but suppresses probabilistic sampling and KL. The condition vector is three one-hot category entries, a side value (left zero, right one), and normalized executed speed. We checked input routes and shuffled conditions. The routes are active, but these results cannot settle whether another architecture or training regime would use conditions better. Source: src/vae_model.py encode_condition/encode_trial_condition; src/train.py; audit records.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training person, subtract that person's mean code from each trial code. Pool these residuals and estimate their covariance. Add the mean encoder posterior variance on the diagonal for VAE/CVAE and add a tiny identity regularizer for numerical stability. CAE and spline have no posterior variance term. We do not fit a separate covariance to a new participant's context trials. Generation draws a multivariate normal around their context center and uses the shared decoder. A nonlinear decoder can still produce different visible spread at different centers. Source: src/context_query.py and src/confirmatory_spline.py; appendix A4.</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test person is new to model fitting, but provides context recordings. Query recordings only provide the targets for generation scores, with task metadata allowed for a matched-condition mixture. Reconstruction deliberately reads the query path because that task is compression. None of the test data changes fitted PCA axes, learned neural parameters, training covariance or normalization. This prevents a common misunderstanding: test context is not retraining. Model selection for the final dashboard still used the evaluated cohort, so independent post-selection validation remains future work. Source: participant_folds.json, context_query.py; appendices A1/A4.</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observed data we use the onset-to-end movement segment. For generated data we use the predicted initiation fraction to crop the go-to-end path, capped at .98, and floor movement duration at one millisecond. Both movement segments become one hundred phase points and are filtered with cutoff min(10 Hz, .45 times sample rate). Sample rate is 99 over movement seconds. Gradients give speed. Peak count uses prominence ten percent of maximum and roughly fifty milliseconds separation, with at least one reported peak. This is distinct from minimum-jerk component fitting. Source: src/features.py; appendix A5.</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 recorded feature has seventy percent of trials below a value and the generated feature has forty percent, the empirical CDF gap there is .3. KS takes the largest gap over all thresholds. Its output is a discrepancy. We average discrepancies across features, not significance tests. Energy and MMD use complete feature vectors and can notice dependence between features that separate marginal KS statistics may miss. Standardization comes from training. Correlated features do not mean we should remove whichever feature makes a p-value improve; removal defines a new endpoint. Sources: src/context_query.py; appendix A5/A6; Gretton et al. JMLR 2012.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Average error against all recorded paths can favor a collapsed output near the center. Energy subtracts within-generated and within-recorded distances from twice the cross average, addressing the distributions rather than only their centers. Our energy estimator includes within-sample diagonal zeros and is not square-rooted afterward. The mean-only reference is actual analysis output, not a hypothetical numerical illustration. Source: src/trajectory_distribution.py; trajectory_distribution summary CSV; Szekely and Rizzo 2013; appendix A6/A8.</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kernel gives high similarity to close vectors and low similarity to distant vectors. MMD compares average within-recorded and within-generated similarity with cross similarity. The within terms omit identical-element pairs and divide by m(m-1) or r(r-1); cross divides by mr. We estimate gamma once from at most 512 deterministic training trials in each representation and use it for all models in the rotation. Whole paths and feature vectors have different units and scales, so their absolute MMD values are not interchangeable. Source: src/trajectory_distribution.py; src/context_query.py; Gretton et al., A Kernel Two-Sample Test, JMLR 13 (2012).</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participant supplies one score per model for the paired comparison. Three seeds are repeated model fits, not three independent people. Wilcoxon ranks the absolute paired differences and uses their signs. Pratt keeps zeros in ranking but omits their signed contribution. The usual location interpretation assumes a symmetric difference distribution. BH adjusts the complete declared family, not only the comparisons we liked. We additionally show Holm. Training folds overlap, so these remain exploratory comparisons, and a fresh cohort is still needed for replication. No formal three-versus-eight or resampling-reference test was added. Source: src/statistical_tests.py, all_pairs_140.csv, paired_comparisons.csv; appendix A6.</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should volunteer the relevant limitation instead of defending every result as a success. Direct context means and standard deviations were more accurate than our latent linear probes, and many probe R-squared values were negative. Matched minimum-jerk component comparisons did not establish corrected model differences. Timing and event assumptions remain important, including the tracker endpoint arriving on average 26 ms before the MATLAB arrival marker. More data might help, but we did not run a learning curve that proves sample count caused the failures. Source: frozen report pp.16-28, production/all_models_direct_context_summary.csv; course Discussion and appendix A10.</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PowerShell path: cd "D:\oneDrive_Main\OneDrive\Desktop_onedrive\uni2024\Third Year\semester B\Workshop in AI\interception-movements-dl". Then use the command shown, adding --server.address 127.0.0.1 --browser.gatherUsageStats false if desired. On the authoring computer Python is C:\Python313\python.exe. Source navigation: src/vae_model.py and src/train.py for neural models; src/baseline_spline.py and src/confirmatory_spline.py for spline/PCA/Ridge; src/context_query.py and src/features.py for generation/metrics; src/trajectory_distribution.py for full paths; production/audit_2026_09_08 for original result CSVs; production/trajectory_distribution_2026_09_13 for new results. Keep the terminal running during the demo.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104847" cy="77724"/>
          </a:xfrm>
          <a:prstGeom prst="rect">
            <a:avLst/>
          </a:prstGeom>
          <a:gradFill rotWithShape="1">
            <a:gsLst>
              <a:gs pos="0">
                <a:srgbClr val="1B6FEA"/>
              </a:gs>
              <a:gs pos="100000">
                <a:srgbClr val="17A2A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847" y="0"/>
            <a:ext cx="6104847" cy="77724"/>
          </a:xfrm>
          <a:prstGeom prst="rect">
            <a:avLst/>
          </a:prstGeom>
          <a:gradFill rotWithShape="1">
            <a:gsLst>
              <a:gs pos="0">
                <a:srgbClr val="17A2A2"/>
              </a:gs>
              <a:gs pos="100000">
                <a:srgbClr val="7A5CF0"/>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637215" cy="1554480"/>
          </a:xfrm>
          <a:prstGeom prst="rect">
            <a:avLst/>
          </a:prstGeom>
          <a:noFill/>
        </p:spPr>
        <p:txBody>
          <a:bodyPr wrap="square" lIns="0" rIns="0" tIns="0" bIns="0">
            <a:spAutoFit/>
          </a:bodyPr>
          <a:lstStyle/>
          <a:p>
            <a:pPr algn="ctr"/>
            <a:r>
              <a:rPr sz="3800" b="1">
                <a:solidFill>
                  <a:srgbClr val="FFFFFF"/>
                </a:solidFill>
                <a:latin typeface="Calibri"/>
              </a:rPr>
              <a:t>Compact Representations of Human Interception Movements</a:t>
            </a:r>
          </a:p>
        </p:txBody>
      </p:sp>
      <p:sp>
        <p:nvSpPr>
          <p:cNvPr id="6" name="TextBox 5"/>
          <p:cNvSpPr txBox="1"/>
          <p:nvPr/>
        </p:nvSpPr>
        <p:spPr>
          <a:xfrm>
            <a:off x="777240" y="3154680"/>
            <a:ext cx="10637215" cy="548640"/>
          </a:xfrm>
          <a:prstGeom prst="rect">
            <a:avLst/>
          </a:prstGeom>
          <a:noFill/>
        </p:spPr>
        <p:txBody>
          <a:bodyPr wrap="square" lIns="0" rIns="0" tIns="0" bIns="0">
            <a:spAutoFit/>
          </a:bodyPr>
          <a:lstStyle/>
          <a:p>
            <a:pPr algn="ctr"/>
            <a:r>
              <a:rPr sz="1600" b="0">
                <a:solidFill>
                  <a:srgbClr val="9AA6B5"/>
                </a:solidFill>
                <a:latin typeface="Calibri"/>
              </a:rPr>
              <a:t>Low-dimensional models for representing and generating human interception movement</a:t>
            </a:r>
          </a:p>
        </p:txBody>
      </p:sp>
      <p:sp>
        <p:nvSpPr>
          <p:cNvPr id="7" name="TextBox 6"/>
          <p:cNvSpPr txBox="1"/>
          <p:nvPr/>
        </p:nvSpPr>
        <p:spPr>
          <a:xfrm>
            <a:off x="777240" y="3977639"/>
            <a:ext cx="10637215" cy="411480"/>
          </a:xfrm>
          <a:prstGeom prst="rect">
            <a:avLst/>
          </a:prstGeom>
          <a:noFill/>
        </p:spPr>
        <p:txBody>
          <a:bodyPr wrap="square" lIns="0" rIns="0" tIns="0" bIns="0">
            <a:spAutoFit/>
          </a:bodyPr>
          <a:lstStyle/>
          <a:p>
            <a:pPr algn="ctr"/>
            <a:r>
              <a:rPr sz="1800" b="1">
                <a:solidFill>
                  <a:srgbClr val="3EB1EC"/>
                </a:solidFill>
                <a:latin typeface="Calibri"/>
              </a:rPr>
              <a:t>Seman Libbiss  &amp;  Paz Flashner</a:t>
            </a:r>
          </a:p>
        </p:txBody>
      </p:sp>
      <p:sp>
        <p:nvSpPr>
          <p:cNvPr id="8" name="TextBox 7"/>
          <p:cNvSpPr txBox="1"/>
          <p:nvPr/>
        </p:nvSpPr>
        <p:spPr>
          <a:xfrm>
            <a:off x="777240" y="4553712"/>
            <a:ext cx="10637215" cy="310896"/>
          </a:xfrm>
          <a:prstGeom prst="rect">
            <a:avLst/>
          </a:prstGeom>
          <a:noFill/>
        </p:spPr>
        <p:txBody>
          <a:bodyPr wrap="square" lIns="0" rIns="0" tIns="0" bIns="0">
            <a:spAutoFit/>
          </a:bodyPr>
          <a:lstStyle/>
          <a:p>
            <a:pPr algn="ctr"/>
            <a:r>
              <a:rPr sz="1200" b="0">
                <a:solidFill>
                  <a:srgbClr val="8A95A4"/>
                </a:solidFill>
                <a:latin typeface="Calibri"/>
              </a:rPr>
              <a:t>Research supervision: Prof. Jason Friedman   |   Course advisor: Moni Shahar</a:t>
            </a:r>
          </a:p>
        </p:txBody>
      </p:sp>
      <p:sp>
        <p:nvSpPr>
          <p:cNvPr id="9" name="TextBox 8"/>
          <p:cNvSpPr txBox="1"/>
          <p:nvPr/>
        </p:nvSpPr>
        <p:spPr>
          <a:xfrm>
            <a:off x="777240" y="4828032"/>
            <a:ext cx="10637215" cy="310896"/>
          </a:xfrm>
          <a:prstGeom prst="rect">
            <a:avLst/>
          </a:prstGeom>
          <a:noFill/>
        </p:spPr>
        <p:txBody>
          <a:bodyPr wrap="square" lIns="0" rIns="0" tIns="0" bIns="0">
            <a:spAutoFit/>
          </a:bodyPr>
          <a:lstStyle/>
          <a:p>
            <a:pPr algn="ctr"/>
            <a:r>
              <a:rPr sz="1200" b="0">
                <a:solidFill>
                  <a:srgbClr val="8A95A4"/>
                </a:solidFill>
                <a:latin typeface="Calibri"/>
              </a:rPr>
              <a:t>Workshop on Deep Learning, Tel Aviv University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104847" cy="77724"/>
          </a:xfrm>
          <a:prstGeom prst="rect">
            <a:avLst/>
          </a:prstGeom>
          <a:gradFill rotWithShape="1">
            <a:gsLst>
              <a:gs pos="0">
                <a:srgbClr val="1B6FEA"/>
              </a:gs>
              <a:gs pos="100000">
                <a:srgbClr val="17A2A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847" y="0"/>
            <a:ext cx="6104847" cy="77724"/>
          </a:xfrm>
          <a:prstGeom prst="rect">
            <a:avLst/>
          </a:prstGeom>
          <a:gradFill rotWithShape="1">
            <a:gsLst>
              <a:gs pos="0">
                <a:srgbClr val="17A2A2"/>
              </a:gs>
              <a:gs pos="100000">
                <a:srgbClr val="7A5CF0"/>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92608"/>
            <a:ext cx="8716975" cy="566928"/>
          </a:xfrm>
          <a:prstGeom prst="rect">
            <a:avLst/>
          </a:prstGeom>
          <a:noFill/>
        </p:spPr>
        <p:txBody>
          <a:bodyPr wrap="square" lIns="0" rIns="0" tIns="0" bIns="0">
            <a:spAutoFit/>
          </a:bodyPr>
          <a:lstStyle/>
          <a:p>
            <a:pPr algn="l"/>
            <a:r>
              <a:rPr sz="2400" b="1">
                <a:solidFill>
                  <a:srgbClr val="161E2E"/>
                </a:solidFill>
                <a:latin typeface="Calibri"/>
              </a:rPr>
              <a:t>The experimental task and the data structure</a:t>
            </a:r>
          </a:p>
        </p:txBody>
      </p:sp>
      <p:sp>
        <p:nvSpPr>
          <p:cNvPr id="6" name="Rounded Rectangle 5"/>
          <p:cNvSpPr/>
          <p:nvPr/>
        </p:nvSpPr>
        <p:spPr>
          <a:xfrm>
            <a:off x="10752531" y="347472"/>
            <a:ext cx="661924" cy="327914"/>
          </a:xfrm>
          <a:prstGeom prst="roundRect">
            <a:avLst>
              <a:gd name="adj" fmla="val 50000"/>
            </a:avLst>
          </a:prstGeom>
          <a:solidFill>
            <a:srgbClr val="E3F0F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1B6FEA"/>
                </a:solidFill>
                <a:latin typeface="Calibri"/>
              </a:rPr>
              <a:t>2/11</a:t>
            </a:r>
          </a:p>
        </p:txBody>
      </p:sp>
      <p:sp>
        <p:nvSpPr>
          <p:cNvPr id="7" name="Rectangle 6"/>
          <p:cNvSpPr/>
          <p:nvPr/>
        </p:nvSpPr>
        <p:spPr>
          <a:xfrm>
            <a:off x="777240" y="950976"/>
            <a:ext cx="10637215" cy="9525"/>
          </a:xfrm>
          <a:prstGeom prst="rect">
            <a:avLst/>
          </a:prstGeom>
          <a:solidFill>
            <a:srgbClr val="E1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ask_schematic.png"/>
          <p:cNvPicPr>
            <a:picLocks noChangeAspect="1"/>
          </p:cNvPicPr>
          <p:nvPr/>
        </p:nvPicPr>
        <p:blipFill>
          <a:blip r:embed="rId2"/>
          <a:stretch>
            <a:fillRect/>
          </a:stretch>
        </p:blipFill>
        <p:spPr>
          <a:xfrm>
            <a:off x="777240" y="1188720"/>
            <a:ext cx="5116756" cy="3999620"/>
          </a:xfrm>
          <a:prstGeom prst="rect">
            <a:avLst/>
          </a:prstGeom>
        </p:spPr>
      </p:pic>
      <p:sp>
        <p:nvSpPr>
          <p:cNvPr id="9" name="TextBox 8"/>
          <p:cNvSpPr txBox="1"/>
          <p:nvPr/>
        </p:nvSpPr>
        <p:spPr>
          <a:xfrm>
            <a:off x="6297699" y="1960320"/>
            <a:ext cx="5116756" cy="255118"/>
          </a:xfrm>
          <a:prstGeom prst="rect">
            <a:avLst/>
          </a:prstGeom>
          <a:noFill/>
        </p:spPr>
        <p:txBody>
          <a:bodyPr wrap="square" lIns="0" rIns="0" tIns="0" bIns="0">
            <a:spAutoFit/>
          </a:bodyPr>
          <a:lstStyle/>
          <a:p>
            <a:pPr algn="l"/>
            <a:r>
              <a:rPr sz="1545" b="1">
                <a:solidFill>
                  <a:srgbClr val="161E2E"/>
                </a:solidFill>
                <a:latin typeface="Calibri"/>
              </a:rPr>
              <a:t>The experimental task</a:t>
            </a:r>
          </a:p>
        </p:txBody>
      </p:sp>
      <p:sp>
        <p:nvSpPr>
          <p:cNvPr id="10" name="TextBox 9"/>
          <p:cNvSpPr txBox="1"/>
          <p:nvPr/>
        </p:nvSpPr>
        <p:spPr>
          <a:xfrm>
            <a:off x="6297699" y="2356734"/>
            <a:ext cx="5116756" cy="628683"/>
          </a:xfrm>
          <a:prstGeom prst="rect">
            <a:avLst/>
          </a:prstGeom>
          <a:noFill/>
        </p:spPr>
        <p:txBody>
          <a:bodyPr wrap="square" lIns="0" rIns="0" tIns="0" bIns="0">
            <a:spAutoFit/>
          </a:bodyPr>
          <a:lstStyle/>
          <a:p>
            <a:pPr algn="l"/>
            <a:r>
              <a:rPr sz="1269" b="1">
                <a:solidFill>
                  <a:srgbClr val="3D4756"/>
                </a:solidFill>
                <a:latin typeface="Calibri"/>
              </a:rPr>
              <a:t>•  </a:t>
            </a:r>
            <a:r>
              <a:rPr sz="1269" b="1">
                <a:solidFill>
                  <a:srgbClr val="3D4756"/>
                </a:solidFill>
                <a:latin typeface="Calibri"/>
              </a:rPr>
              <a:t>Participant's task: </a:t>
            </a:r>
            <a:r>
              <a:rPr sz="1269" b="0">
                <a:solidFill>
                  <a:srgbClr val="3D4756"/>
                </a:solidFill>
                <a:latin typeface="Calibri"/>
              </a:rPr>
              <a:t>move the finger from the lower start zone into the upper interception square exactly as the ball passes through it.</a:t>
            </a:r>
          </a:p>
        </p:txBody>
      </p:sp>
      <p:sp>
        <p:nvSpPr>
          <p:cNvPr id="11" name="TextBox 10"/>
          <p:cNvSpPr txBox="1"/>
          <p:nvPr/>
        </p:nvSpPr>
        <p:spPr>
          <a:xfrm>
            <a:off x="6297699" y="3167083"/>
            <a:ext cx="5116756" cy="628683"/>
          </a:xfrm>
          <a:prstGeom prst="rect">
            <a:avLst/>
          </a:prstGeom>
          <a:noFill/>
        </p:spPr>
        <p:txBody>
          <a:bodyPr wrap="square" lIns="0" rIns="0" tIns="0" bIns="0">
            <a:spAutoFit/>
          </a:bodyPr>
          <a:lstStyle/>
          <a:p>
            <a:pPr algn="l"/>
            <a:r>
              <a:rPr sz="1269" b="1">
                <a:solidFill>
                  <a:srgbClr val="3D4756"/>
                </a:solidFill>
                <a:latin typeface="Calibri"/>
              </a:rPr>
              <a:t>•  </a:t>
            </a:r>
            <a:r>
              <a:rPr sz="1269" b="1">
                <a:solidFill>
                  <a:srgbClr val="3D4756"/>
                </a:solidFill>
                <a:latin typeface="Calibri"/>
              </a:rPr>
              <a:t>Conditions: </a:t>
            </a:r>
            <a:r>
              <a:rPr sz="1269" b="0">
                <a:solidFill>
                  <a:srgbClr val="3D4756"/>
                </a:solidFill>
                <a:latin typeface="Calibri"/>
              </a:rPr>
              <a:t>the free eye-movement condition is analysed. Six target start locations (3 right, 3 left) over a continuous speed range.</a:t>
            </a:r>
          </a:p>
        </p:txBody>
      </p:sp>
      <p:sp>
        <p:nvSpPr>
          <p:cNvPr id="12" name="TextBox 11"/>
          <p:cNvSpPr txBox="1"/>
          <p:nvPr/>
        </p:nvSpPr>
        <p:spPr>
          <a:xfrm>
            <a:off x="6297699" y="3977432"/>
            <a:ext cx="5116756" cy="419122"/>
          </a:xfrm>
          <a:prstGeom prst="rect">
            <a:avLst/>
          </a:prstGeom>
          <a:noFill/>
        </p:spPr>
        <p:txBody>
          <a:bodyPr wrap="square" lIns="0" rIns="0" tIns="0" bIns="0">
            <a:spAutoFit/>
          </a:bodyPr>
          <a:lstStyle/>
          <a:p>
            <a:pPr algn="l"/>
            <a:r>
              <a:rPr sz="1269" b="1">
                <a:solidFill>
                  <a:srgbClr val="3D4756"/>
                </a:solidFill>
                <a:latin typeface="Calibri"/>
              </a:rPr>
              <a:t>•  </a:t>
            </a:r>
            <a:r>
              <a:rPr sz="1269" b="1">
                <a:solidFill>
                  <a:srgbClr val="3D4756"/>
                </a:solidFill>
                <a:latin typeface="Calibri"/>
              </a:rPr>
              <a:t>Sample: </a:t>
            </a:r>
            <a:r>
              <a:rPr sz="1269" b="0">
                <a:solidFill>
                  <a:srgbClr val="3D4756"/>
                </a:solidFill>
                <a:latin typeface="Calibri"/>
              </a:rPr>
              <a:t>4,732 valid trials from 28 participants, measured in 3D at 240 Hz with a Polhemus system.</a:t>
            </a:r>
          </a:p>
        </p:txBody>
      </p:sp>
      <p:sp>
        <p:nvSpPr>
          <p:cNvPr id="13" name="Rectangle 12"/>
          <p:cNvSpPr/>
          <p:nvPr/>
        </p:nvSpPr>
        <p:spPr>
          <a:xfrm>
            <a:off x="777240" y="5349821"/>
            <a:ext cx="10637215" cy="883378"/>
          </a:xfrm>
          <a:prstGeom prst="rect">
            <a:avLst/>
          </a:prstGeom>
          <a:solidFill>
            <a:srgbClr val="EF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5349821"/>
            <a:ext cx="60555" cy="883378"/>
          </a:xfrm>
          <a:prstGeom prst="rect">
            <a:avLst/>
          </a:prstGeom>
          <a:solidFill>
            <a:srgbClr val="1B6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9462" y="5511302"/>
            <a:ext cx="10051846" cy="218672"/>
          </a:xfrm>
          <a:prstGeom prst="rect">
            <a:avLst/>
          </a:prstGeom>
          <a:noFill/>
        </p:spPr>
        <p:txBody>
          <a:bodyPr wrap="square" lIns="0" rIns="0" tIns="0" bIns="0">
            <a:spAutoFit/>
          </a:bodyPr>
          <a:lstStyle/>
          <a:p>
            <a:pPr algn="l"/>
            <a:r>
              <a:rPr sz="1324" b="1">
                <a:solidFill>
                  <a:srgbClr val="1B6FEA"/>
                </a:solidFill>
                <a:latin typeface="Calibri"/>
              </a:rPr>
              <a:t>A strict split that prevents information leakage</a:t>
            </a:r>
          </a:p>
        </p:txBody>
      </p:sp>
      <p:sp>
        <p:nvSpPr>
          <p:cNvPr id="16" name="TextBox 15"/>
          <p:cNvSpPr txBox="1"/>
          <p:nvPr/>
        </p:nvSpPr>
        <p:spPr>
          <a:xfrm>
            <a:off x="1019462" y="5830899"/>
            <a:ext cx="10051846" cy="200449"/>
          </a:xfrm>
          <a:prstGeom prst="rect">
            <a:avLst/>
          </a:prstGeom>
          <a:noFill/>
        </p:spPr>
        <p:txBody>
          <a:bodyPr wrap="square" lIns="0" rIns="0" tIns="0" bIns="0">
            <a:spAutoFit/>
          </a:bodyPr>
          <a:lstStyle/>
          <a:p>
            <a:pPr algn="l"/>
            <a:r>
              <a:rPr sz="1214" b="0">
                <a:solidFill>
                  <a:srgbClr val="3D4756"/>
                </a:solidFill>
                <a:latin typeface="Calibri"/>
              </a:rPr>
              <a:t>Four fixed folds: 17 training participants, 4 validation and 7 test. Every participant appears in a test fold exactly once.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104847" cy="77724"/>
          </a:xfrm>
          <a:prstGeom prst="rect">
            <a:avLst/>
          </a:prstGeom>
          <a:gradFill rotWithShape="1">
            <a:gsLst>
              <a:gs pos="0">
                <a:srgbClr val="1B6FEA"/>
              </a:gs>
              <a:gs pos="100000">
                <a:srgbClr val="17A2A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847" y="0"/>
            <a:ext cx="6104847" cy="77724"/>
          </a:xfrm>
          <a:prstGeom prst="rect">
            <a:avLst/>
          </a:prstGeom>
          <a:gradFill rotWithShape="1">
            <a:gsLst>
              <a:gs pos="0">
                <a:srgbClr val="17A2A2"/>
              </a:gs>
              <a:gs pos="100000">
                <a:srgbClr val="7A5CF0"/>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92608"/>
            <a:ext cx="8716975" cy="566928"/>
          </a:xfrm>
          <a:prstGeom prst="rect">
            <a:avLst/>
          </a:prstGeom>
          <a:noFill/>
        </p:spPr>
        <p:txBody>
          <a:bodyPr wrap="square" lIns="0" rIns="0" tIns="0" bIns="0">
            <a:spAutoFit/>
          </a:bodyPr>
          <a:lstStyle/>
          <a:p>
            <a:pPr algn="l"/>
            <a:r>
              <a:rPr sz="2400" b="1">
                <a:solidFill>
                  <a:srgbClr val="161E2E"/>
                </a:solidFill>
                <a:latin typeface="Calibri"/>
              </a:rPr>
              <a:t>What we set out to answer</a:t>
            </a:r>
          </a:p>
        </p:txBody>
      </p:sp>
      <p:sp>
        <p:nvSpPr>
          <p:cNvPr id="6" name="Rounded Rectangle 5"/>
          <p:cNvSpPr/>
          <p:nvPr/>
        </p:nvSpPr>
        <p:spPr>
          <a:xfrm>
            <a:off x="10752531" y="347472"/>
            <a:ext cx="661924" cy="327914"/>
          </a:xfrm>
          <a:prstGeom prst="roundRect">
            <a:avLst>
              <a:gd name="adj" fmla="val 50000"/>
            </a:avLst>
          </a:prstGeom>
          <a:solidFill>
            <a:srgbClr val="E3F0F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1B6FEA"/>
                </a:solidFill>
                <a:latin typeface="Calibri"/>
              </a:rPr>
              <a:t>3/11</a:t>
            </a:r>
          </a:p>
        </p:txBody>
      </p:sp>
      <p:sp>
        <p:nvSpPr>
          <p:cNvPr id="7" name="Rectangle 6"/>
          <p:cNvSpPr/>
          <p:nvPr/>
        </p:nvSpPr>
        <p:spPr>
          <a:xfrm>
            <a:off x="777240" y="950976"/>
            <a:ext cx="10637215" cy="9525"/>
          </a:xfrm>
          <a:prstGeom prst="rect">
            <a:avLst/>
          </a:prstGeom>
          <a:solidFill>
            <a:srgbClr val="E1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188720"/>
            <a:ext cx="5749125" cy="234400"/>
          </a:xfrm>
          <a:prstGeom prst="rect">
            <a:avLst/>
          </a:prstGeom>
          <a:noFill/>
        </p:spPr>
        <p:txBody>
          <a:bodyPr wrap="square" lIns="0" rIns="0" tIns="0" bIns="0">
            <a:spAutoFit/>
          </a:bodyPr>
          <a:lstStyle/>
          <a:p>
            <a:pPr algn="l"/>
            <a:r>
              <a:rPr sz="1419" b="1">
                <a:solidFill>
                  <a:srgbClr val="161E2E"/>
                </a:solidFill>
                <a:latin typeface="Calibri"/>
              </a:rPr>
              <a:t>The core question</a:t>
            </a:r>
          </a:p>
        </p:txBody>
      </p:sp>
      <p:sp>
        <p:nvSpPr>
          <p:cNvPr id="9" name="TextBox 8"/>
          <p:cNvSpPr txBox="1"/>
          <p:nvPr/>
        </p:nvSpPr>
        <p:spPr>
          <a:xfrm>
            <a:off x="777240" y="1552941"/>
            <a:ext cx="5749125" cy="577629"/>
          </a:xfrm>
          <a:prstGeom prst="rect">
            <a:avLst/>
          </a:prstGeom>
          <a:noFill/>
        </p:spPr>
        <p:txBody>
          <a:bodyPr wrap="square" lIns="0" rIns="0" tIns="0" bIns="0">
            <a:spAutoFit/>
          </a:bodyPr>
          <a:lstStyle/>
          <a:p>
            <a:pPr algn="l"/>
            <a:r>
              <a:rPr sz="1166" b="0">
                <a:solidFill>
                  <a:srgbClr val="3D4756"/>
                </a:solidFill>
                <a:latin typeface="Calibri"/>
              </a:rPr>
              <a:t>Human movement is stochastic: perception and motor control vary from trial to trial. One participant, one target - and every trial takes a different path.</a:t>
            </a:r>
          </a:p>
        </p:txBody>
      </p:sp>
      <p:sp>
        <p:nvSpPr>
          <p:cNvPr id="10" name="TextBox 9"/>
          <p:cNvSpPr txBox="1"/>
          <p:nvPr/>
        </p:nvSpPr>
        <p:spPr>
          <a:xfrm>
            <a:off x="777240" y="2278937"/>
            <a:ext cx="5749125" cy="234400"/>
          </a:xfrm>
          <a:prstGeom prst="rect">
            <a:avLst/>
          </a:prstGeom>
          <a:noFill/>
        </p:spPr>
        <p:txBody>
          <a:bodyPr wrap="square" lIns="0" rIns="0" tIns="0" bIns="0">
            <a:spAutoFit/>
          </a:bodyPr>
          <a:lstStyle/>
          <a:p>
            <a:pPr algn="l"/>
            <a:r>
              <a:rPr sz="1419" b="1">
                <a:solidFill>
                  <a:srgbClr val="7A5CF0"/>
                </a:solidFill>
                <a:latin typeface="Calibri"/>
              </a:rPr>
              <a:t>Can a compact fingerprint capture that spread?</a:t>
            </a:r>
          </a:p>
        </p:txBody>
      </p:sp>
      <p:sp>
        <p:nvSpPr>
          <p:cNvPr id="11" name="TextBox 10"/>
          <p:cNvSpPr txBox="1"/>
          <p:nvPr/>
        </p:nvSpPr>
        <p:spPr>
          <a:xfrm>
            <a:off x="777240" y="2643158"/>
            <a:ext cx="5749125" cy="385086"/>
          </a:xfrm>
          <a:prstGeom prst="rect">
            <a:avLst/>
          </a:prstGeom>
          <a:noFill/>
        </p:spPr>
        <p:txBody>
          <a:bodyPr wrap="square" lIns="0" rIns="0" tIns="0" bIns="0">
            <a:spAutoFit/>
          </a:bodyPr>
          <a:lstStyle/>
          <a:p>
            <a:pPr algn="l"/>
            <a:r>
              <a:rPr sz="1166" b="0">
                <a:solidFill>
                  <a:srgbClr val="3D4756"/>
                </a:solidFill>
                <a:latin typeface="Calibri"/>
              </a:rPr>
              <a:t>Compress 200 numbers - the 100 × 2 path - into a 3-to-8 dimensional fingerprint of an individual's movement distribution.</a:t>
            </a:r>
          </a:p>
        </p:txBody>
      </p:sp>
      <p:sp>
        <p:nvSpPr>
          <p:cNvPr id="12" name="Rounded Rectangle 11"/>
          <p:cNvSpPr/>
          <p:nvPr/>
        </p:nvSpPr>
        <p:spPr>
          <a:xfrm>
            <a:off x="777240" y="3176611"/>
            <a:ext cx="5749125" cy="806232"/>
          </a:xfrm>
          <a:prstGeom prst="roundRect">
            <a:avLst/>
          </a:prstGeom>
          <a:solidFill>
            <a:srgbClr val="FAFBFD"/>
          </a:solidFill>
          <a:ln w="9525">
            <a:solidFill>
              <a:srgbClr val="E5E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2699" y="3362070"/>
            <a:ext cx="5378206" cy="435314"/>
          </a:xfrm>
          <a:prstGeom prst="rect">
            <a:avLst/>
          </a:prstGeom>
          <a:noFill/>
        </p:spPr>
        <p:txBody>
          <a:bodyPr wrap="square" lIns="0" rIns="0" tIns="0" bIns="0">
            <a:spAutoFit/>
          </a:bodyPr>
          <a:lstStyle/>
          <a:p>
            <a:pPr algn="ctr"/>
            <a:r>
              <a:rPr sz="1318" b="0">
                <a:solidFill>
                  <a:srgbClr val="161E2E"/>
                </a:solidFill>
                <a:latin typeface="Calibri"/>
              </a:rPr>
              <a:t>100 × 2 coordinates   ———&gt;   n = 3 or 8 latent numbers   (durations predicted)</a:t>
            </a:r>
          </a:p>
        </p:txBody>
      </p:sp>
      <p:pic>
        <p:nvPicPr>
          <p:cNvPr id="14" name="Picture 13" descr="real_trajectories.png"/>
          <p:cNvPicPr>
            <a:picLocks noChangeAspect="1"/>
          </p:cNvPicPr>
          <p:nvPr/>
        </p:nvPicPr>
        <p:blipFill>
          <a:blip r:embed="rId2"/>
          <a:stretch>
            <a:fillRect/>
          </a:stretch>
        </p:blipFill>
        <p:spPr>
          <a:xfrm>
            <a:off x="7681250" y="1389567"/>
            <a:ext cx="2949238" cy="2410974"/>
          </a:xfrm>
          <a:prstGeom prst="rect">
            <a:avLst/>
          </a:prstGeom>
        </p:spPr>
      </p:pic>
      <p:sp>
        <p:nvSpPr>
          <p:cNvPr id="15" name="TextBox 14"/>
          <p:cNvSpPr txBox="1"/>
          <p:nvPr/>
        </p:nvSpPr>
        <p:spPr>
          <a:xfrm>
            <a:off x="777240" y="4149756"/>
            <a:ext cx="10637215" cy="284628"/>
          </a:xfrm>
          <a:prstGeom prst="rect">
            <a:avLst/>
          </a:prstGeom>
          <a:noFill/>
        </p:spPr>
        <p:txBody>
          <a:bodyPr wrap="square" lIns="0" rIns="0" tIns="0" bIns="0">
            <a:spAutoFit/>
          </a:bodyPr>
          <a:lstStyle/>
          <a:p>
            <a:pPr algn="ctr"/>
            <a:r>
              <a:rPr sz="1723" b="1">
                <a:solidFill>
                  <a:srgbClr val="161E2E"/>
                </a:solidFill>
                <a:latin typeface="Calibri"/>
              </a:rPr>
              <a:t>What would count as success, evaluated on participants the model never trained on</a:t>
            </a:r>
          </a:p>
        </p:txBody>
      </p:sp>
      <p:sp>
        <p:nvSpPr>
          <p:cNvPr id="16" name="Rounded Rectangle 15"/>
          <p:cNvSpPr/>
          <p:nvPr/>
        </p:nvSpPr>
        <p:spPr>
          <a:xfrm>
            <a:off x="777240" y="4619843"/>
            <a:ext cx="3335551" cy="1513165"/>
          </a:xfrm>
          <a:prstGeom prst="roundRect">
            <a:avLst/>
          </a:prstGeom>
          <a:solidFill>
            <a:srgbClr val="F8FAFC"/>
          </a:solidFill>
          <a:ln w="9525">
            <a:solidFill>
              <a:srgbClr val="E5E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8337" y="4860940"/>
            <a:ext cx="2853357" cy="175800"/>
          </a:xfrm>
          <a:prstGeom prst="rect">
            <a:avLst/>
          </a:prstGeom>
          <a:noFill/>
        </p:spPr>
        <p:txBody>
          <a:bodyPr wrap="square" lIns="0" rIns="0" tIns="0" bIns="0">
            <a:spAutoFit/>
          </a:bodyPr>
          <a:lstStyle/>
          <a:p>
            <a:pPr algn="l"/>
            <a:r>
              <a:rPr sz="1064" b="1">
                <a:solidFill>
                  <a:srgbClr val="1B6FEA"/>
                </a:solidFill>
                <a:latin typeface="Calibri"/>
              </a:rPr>
              <a:t>SUCCESS TEST 1</a:t>
            </a:r>
          </a:p>
        </p:txBody>
      </p:sp>
      <p:sp>
        <p:nvSpPr>
          <p:cNvPr id="18" name="TextBox 17"/>
          <p:cNvSpPr txBox="1"/>
          <p:nvPr/>
        </p:nvSpPr>
        <p:spPr>
          <a:xfrm>
            <a:off x="1018337" y="5110923"/>
            <a:ext cx="2853357" cy="301371"/>
          </a:xfrm>
          <a:prstGeom prst="rect">
            <a:avLst/>
          </a:prstGeom>
          <a:noFill/>
        </p:spPr>
        <p:txBody>
          <a:bodyPr wrap="square" lIns="0" rIns="0" tIns="0" bIns="0">
            <a:spAutoFit/>
          </a:bodyPr>
          <a:lstStyle/>
          <a:p>
            <a:pPr algn="l"/>
            <a:r>
              <a:rPr sz="1825" b="1">
                <a:solidFill>
                  <a:srgbClr val="161E2E"/>
                </a:solidFill>
                <a:latin typeface="Calibri"/>
              </a:rPr>
              <a:t>Reconstruct</a:t>
            </a:r>
          </a:p>
        </p:txBody>
      </p:sp>
      <p:sp>
        <p:nvSpPr>
          <p:cNvPr id="19" name="TextBox 18"/>
          <p:cNvSpPr txBox="1"/>
          <p:nvPr/>
        </p:nvSpPr>
        <p:spPr>
          <a:xfrm>
            <a:off x="1018337" y="5523569"/>
            <a:ext cx="2853357" cy="368342"/>
          </a:xfrm>
          <a:prstGeom prst="rect">
            <a:avLst/>
          </a:prstGeom>
          <a:noFill/>
        </p:spPr>
        <p:txBody>
          <a:bodyPr wrap="square" lIns="0" rIns="0" tIns="0" bIns="0">
            <a:spAutoFit/>
          </a:bodyPr>
          <a:lstStyle/>
          <a:p>
            <a:pPr algn="l"/>
            <a:r>
              <a:rPr sz="1115" b="0">
                <a:solidFill>
                  <a:srgbClr val="3D4756"/>
                </a:solidFill>
                <a:latin typeface="Calibri"/>
              </a:rPr>
              <a:t>Rebuild specific recorded trajectories from the compressed code.</a:t>
            </a:r>
          </a:p>
        </p:txBody>
      </p:sp>
      <p:sp>
        <p:nvSpPr>
          <p:cNvPr id="20" name="Rounded Rectangle 19"/>
          <p:cNvSpPr/>
          <p:nvPr/>
        </p:nvSpPr>
        <p:spPr>
          <a:xfrm>
            <a:off x="4428072" y="4619843"/>
            <a:ext cx="3335551" cy="1513165"/>
          </a:xfrm>
          <a:prstGeom prst="roundRect">
            <a:avLst/>
          </a:prstGeom>
          <a:solidFill>
            <a:srgbClr val="F8FAFC"/>
          </a:solidFill>
          <a:ln w="9525">
            <a:solidFill>
              <a:srgbClr val="E5E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69169" y="4860940"/>
            <a:ext cx="2853357" cy="175800"/>
          </a:xfrm>
          <a:prstGeom prst="rect">
            <a:avLst/>
          </a:prstGeom>
          <a:noFill/>
        </p:spPr>
        <p:txBody>
          <a:bodyPr wrap="square" lIns="0" rIns="0" tIns="0" bIns="0">
            <a:spAutoFit/>
          </a:bodyPr>
          <a:lstStyle/>
          <a:p>
            <a:pPr algn="l"/>
            <a:r>
              <a:rPr sz="1064" b="1">
                <a:solidFill>
                  <a:srgbClr val="1D7A3E"/>
                </a:solidFill>
                <a:latin typeface="Calibri"/>
              </a:rPr>
              <a:t>SUCCESS TEST 2</a:t>
            </a:r>
          </a:p>
        </p:txBody>
      </p:sp>
      <p:sp>
        <p:nvSpPr>
          <p:cNvPr id="22" name="TextBox 21"/>
          <p:cNvSpPr txBox="1"/>
          <p:nvPr/>
        </p:nvSpPr>
        <p:spPr>
          <a:xfrm>
            <a:off x="4669169" y="5110923"/>
            <a:ext cx="2853357" cy="301371"/>
          </a:xfrm>
          <a:prstGeom prst="rect">
            <a:avLst/>
          </a:prstGeom>
          <a:noFill/>
        </p:spPr>
        <p:txBody>
          <a:bodyPr wrap="square" lIns="0" rIns="0" tIns="0" bIns="0">
            <a:spAutoFit/>
          </a:bodyPr>
          <a:lstStyle/>
          <a:p>
            <a:pPr algn="l"/>
            <a:r>
              <a:rPr sz="1825" b="1">
                <a:solidFill>
                  <a:srgbClr val="161E2E"/>
                </a:solidFill>
                <a:latin typeface="Calibri"/>
              </a:rPr>
              <a:t>Generate</a:t>
            </a:r>
          </a:p>
        </p:txBody>
      </p:sp>
      <p:sp>
        <p:nvSpPr>
          <p:cNvPr id="23" name="TextBox 22"/>
          <p:cNvSpPr txBox="1"/>
          <p:nvPr/>
        </p:nvSpPr>
        <p:spPr>
          <a:xfrm>
            <a:off x="4669169" y="5523569"/>
            <a:ext cx="2853357" cy="368342"/>
          </a:xfrm>
          <a:prstGeom prst="rect">
            <a:avLst/>
          </a:prstGeom>
          <a:noFill/>
        </p:spPr>
        <p:txBody>
          <a:bodyPr wrap="square" lIns="0" rIns="0" tIns="0" bIns="0">
            <a:spAutoFit/>
          </a:bodyPr>
          <a:lstStyle/>
          <a:p>
            <a:pPr algn="l"/>
            <a:r>
              <a:rPr sz="1115" b="0">
                <a:solidFill>
                  <a:srgbClr val="3D4756"/>
                </a:solidFill>
                <a:latin typeface="Calibri"/>
              </a:rPr>
              <a:t>Sample new trajectories matching that person's stochastic distribution.</a:t>
            </a:r>
          </a:p>
        </p:txBody>
      </p:sp>
      <p:sp>
        <p:nvSpPr>
          <p:cNvPr id="24" name="Rounded Rectangle 23"/>
          <p:cNvSpPr/>
          <p:nvPr/>
        </p:nvSpPr>
        <p:spPr>
          <a:xfrm>
            <a:off x="8078904" y="4619843"/>
            <a:ext cx="3335551" cy="1513165"/>
          </a:xfrm>
          <a:prstGeom prst="roundRect">
            <a:avLst/>
          </a:prstGeom>
          <a:solidFill>
            <a:srgbClr val="F8FAFC"/>
          </a:solidFill>
          <a:ln w="9525">
            <a:solidFill>
              <a:srgbClr val="E5E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20001" y="4860940"/>
            <a:ext cx="2853357" cy="175800"/>
          </a:xfrm>
          <a:prstGeom prst="rect">
            <a:avLst/>
          </a:prstGeom>
          <a:noFill/>
        </p:spPr>
        <p:txBody>
          <a:bodyPr wrap="square" lIns="0" rIns="0" tIns="0" bIns="0">
            <a:spAutoFit/>
          </a:bodyPr>
          <a:lstStyle/>
          <a:p>
            <a:pPr algn="l"/>
            <a:r>
              <a:rPr sz="1064" b="1">
                <a:solidFill>
                  <a:srgbClr val="1B6FEA"/>
                </a:solidFill>
                <a:latin typeface="Calibri"/>
              </a:rPr>
              <a:t>SUCCESS TEST 3</a:t>
            </a:r>
          </a:p>
        </p:txBody>
      </p:sp>
      <p:sp>
        <p:nvSpPr>
          <p:cNvPr id="26" name="TextBox 25"/>
          <p:cNvSpPr txBox="1"/>
          <p:nvPr/>
        </p:nvSpPr>
        <p:spPr>
          <a:xfrm>
            <a:off x="8320001" y="5110923"/>
            <a:ext cx="2853357" cy="301371"/>
          </a:xfrm>
          <a:prstGeom prst="rect">
            <a:avLst/>
          </a:prstGeom>
          <a:noFill/>
        </p:spPr>
        <p:txBody>
          <a:bodyPr wrap="square" lIns="0" rIns="0" tIns="0" bIns="0">
            <a:spAutoFit/>
          </a:bodyPr>
          <a:lstStyle/>
          <a:p>
            <a:pPr algn="l"/>
            <a:r>
              <a:rPr sz="1825" b="1">
                <a:solidFill>
                  <a:srgbClr val="161E2E"/>
                </a:solidFill>
                <a:latin typeface="Calibri"/>
              </a:rPr>
              <a:t>Stay personal</a:t>
            </a:r>
          </a:p>
        </p:txBody>
      </p:sp>
      <p:sp>
        <p:nvSpPr>
          <p:cNvPr id="27" name="TextBox 26"/>
          <p:cNvSpPr txBox="1"/>
          <p:nvPr/>
        </p:nvSpPr>
        <p:spPr>
          <a:xfrm>
            <a:off x="8320001" y="5523569"/>
            <a:ext cx="2853357" cy="368342"/>
          </a:xfrm>
          <a:prstGeom prst="rect">
            <a:avLst/>
          </a:prstGeom>
          <a:noFill/>
        </p:spPr>
        <p:txBody>
          <a:bodyPr wrap="square" lIns="0" rIns="0" tIns="0" bIns="0">
            <a:spAutoFit/>
          </a:bodyPr>
          <a:lstStyle/>
          <a:p>
            <a:pPr algn="l"/>
            <a:r>
              <a:rPr sz="1115" b="0">
                <a:solidFill>
                  <a:srgbClr val="3D4756"/>
                </a:solidFill>
                <a:latin typeface="Calibri"/>
              </a:rPr>
              <a:t>The fit must come from that person's own fingerprint, not a generic one.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104847" cy="77724"/>
          </a:xfrm>
          <a:prstGeom prst="rect">
            <a:avLst/>
          </a:prstGeom>
          <a:gradFill rotWithShape="1">
            <a:gsLst>
              <a:gs pos="0">
                <a:srgbClr val="1B6FEA"/>
              </a:gs>
              <a:gs pos="100000">
                <a:srgbClr val="17A2A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847" y="0"/>
            <a:ext cx="6104847" cy="77724"/>
          </a:xfrm>
          <a:prstGeom prst="rect">
            <a:avLst/>
          </a:prstGeom>
          <a:gradFill rotWithShape="1">
            <a:gsLst>
              <a:gs pos="0">
                <a:srgbClr val="17A2A2"/>
              </a:gs>
              <a:gs pos="100000">
                <a:srgbClr val="7A5CF0"/>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92608"/>
            <a:ext cx="8716975" cy="566928"/>
          </a:xfrm>
          <a:prstGeom prst="rect">
            <a:avLst/>
          </a:prstGeom>
          <a:noFill/>
        </p:spPr>
        <p:txBody>
          <a:bodyPr wrap="square" lIns="0" rIns="0" tIns="0" bIns="0">
            <a:spAutoFit/>
          </a:bodyPr>
          <a:lstStyle/>
          <a:p>
            <a:pPr algn="l"/>
            <a:r>
              <a:rPr sz="2400" b="1">
                <a:solidFill>
                  <a:srgbClr val="161E2E"/>
                </a:solidFill>
                <a:latin typeface="Calibri"/>
              </a:rPr>
              <a:t>Trajectory processing and the compression architectures</a:t>
            </a:r>
          </a:p>
        </p:txBody>
      </p:sp>
      <p:sp>
        <p:nvSpPr>
          <p:cNvPr id="6" name="Rounded Rectangle 5"/>
          <p:cNvSpPr/>
          <p:nvPr/>
        </p:nvSpPr>
        <p:spPr>
          <a:xfrm>
            <a:off x="10752531" y="347472"/>
            <a:ext cx="661924" cy="327914"/>
          </a:xfrm>
          <a:prstGeom prst="roundRect">
            <a:avLst>
              <a:gd name="adj" fmla="val 50000"/>
            </a:avLst>
          </a:prstGeom>
          <a:solidFill>
            <a:srgbClr val="E3F0F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1B6FEA"/>
                </a:solidFill>
                <a:latin typeface="Calibri"/>
              </a:rPr>
              <a:t>4/11</a:t>
            </a:r>
          </a:p>
        </p:txBody>
      </p:sp>
      <p:sp>
        <p:nvSpPr>
          <p:cNvPr id="7" name="Rectangle 6"/>
          <p:cNvSpPr/>
          <p:nvPr/>
        </p:nvSpPr>
        <p:spPr>
          <a:xfrm>
            <a:off x="777240" y="950976"/>
            <a:ext cx="10637215" cy="9525"/>
          </a:xfrm>
          <a:prstGeom prst="rect">
            <a:avLst/>
          </a:prstGeom>
          <a:solidFill>
            <a:srgbClr val="E1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777240" y="1188720"/>
          <a:ext cx="10637213" cy="3613276"/>
        </p:xfrm>
        <a:graphic>
          <a:graphicData uri="http://schemas.openxmlformats.org/drawingml/2006/table">
            <a:tbl>
              <a:tblPr firstRow="1" bandRow="1">
                <a:tableStyleId>{5C22544A-7EE6-4342-B048-85BDC9FD1C3A}</a:tableStyleId>
              </a:tblPr>
              <a:tblGrid>
                <a:gridCol w="1685678"/>
                <a:gridCol w="4417641"/>
                <a:gridCol w="4533894"/>
              </a:tblGrid>
              <a:tr h="473353">
                <a:tc>
                  <a:txBody>
                    <a:bodyPr/>
                    <a:lstStyle/>
                    <a:p>
                      <a:r>
                        <a:rPr sz="1240" b="1">
                          <a:solidFill>
                            <a:srgbClr val="FFFFFF"/>
                          </a:solidFill>
                          <a:latin typeface="Calibri"/>
                        </a:rPr>
                        <a:t>Stage in the model</a:t>
                      </a:r>
                    </a:p>
                  </a:txBody>
                  <a:tcPr marL="88753" marR="88753" marT="29584" marB="29584" anchor="ctr">
                    <a:solidFill>
                      <a:srgbClr val="0E1729"/>
                    </a:solidFill>
                  </a:tcPr>
                </a:tc>
                <a:tc>
                  <a:txBody>
                    <a:bodyPr/>
                    <a:lstStyle/>
                    <a:p>
                      <a:r>
                        <a:rPr sz="1240" b="1">
                          <a:solidFill>
                            <a:srgbClr val="FFFFFF"/>
                          </a:solidFill>
                          <a:latin typeface="Calibri"/>
                        </a:rPr>
                        <a:t>Spline + PCA  (linear baseline)</a:t>
                      </a:r>
                    </a:p>
                  </a:txBody>
                  <a:tcPr marL="88753" marR="88753" marT="29584" marB="29584" anchor="ctr">
                    <a:solidFill>
                      <a:srgbClr val="0E1729"/>
                    </a:solidFill>
                  </a:tcPr>
                </a:tc>
                <a:tc>
                  <a:txBody>
                    <a:bodyPr/>
                    <a:lstStyle/>
                    <a:p>
                      <a:r>
                        <a:rPr sz="1240" b="1">
                          <a:solidFill>
                            <a:srgbClr val="FFFFFF"/>
                          </a:solidFill>
                          <a:latin typeface="Calibri"/>
                        </a:rPr>
                        <a:t>Neural models  (VAE / CVAE / CAE)</a:t>
                      </a:r>
                    </a:p>
                  </a:txBody>
                  <a:tcPr marL="88753" marR="88753" marT="29584" marB="29584" anchor="ctr">
                    <a:solidFill>
                      <a:srgbClr val="0E1729"/>
                    </a:solidFill>
                  </a:tcPr>
                </a:tc>
              </a:tr>
              <a:tr h="587032">
                <a:tc>
                  <a:txBody>
                    <a:bodyPr/>
                    <a:lstStyle/>
                    <a:p>
                      <a:r>
                        <a:rPr sz="1240" b="1">
                          <a:solidFill>
                            <a:srgbClr val="161E2E"/>
                          </a:solidFill>
                          <a:latin typeface="Calibri"/>
                        </a:rPr>
                        <a:t>Primary input</a:t>
                      </a:r>
                    </a:p>
                  </a:txBody>
                  <a:tcPr marL="88753" marR="88753" marT="29584" marB="29584" anchor="ctr">
                    <a:solidFill>
                      <a:srgbClr val="FFFFFF"/>
                    </a:solidFill>
                  </a:tcPr>
                </a:tc>
                <a:tc>
                  <a:txBody>
                    <a:bodyPr/>
                    <a:lstStyle/>
                    <a:p>
                      <a:r>
                        <a:rPr sz="1240" b="0">
                          <a:solidFill>
                            <a:srgbClr val="3D4756"/>
                          </a:solidFill>
                          <a:latin typeface="Calibri"/>
                        </a:rPr>
                        <a:t>The same 100 × 2 normalised trajectory</a:t>
                      </a:r>
                    </a:p>
                  </a:txBody>
                  <a:tcPr marL="88753" marR="88753" marT="29584" marB="29584" anchor="ctr">
                    <a:solidFill>
                      <a:srgbClr val="FFFFFF"/>
                    </a:solidFill>
                  </a:tcPr>
                </a:tc>
                <a:tc>
                  <a:txBody>
                    <a:bodyPr/>
                    <a:lstStyle/>
                    <a:p>
                      <a:r>
                        <a:rPr sz="1240" b="0">
                          <a:solidFill>
                            <a:srgbClr val="3D4756"/>
                          </a:solidFill>
                          <a:latin typeface="Calibri"/>
                        </a:rPr>
                        <a:t>The same 100 × 2 trajectory; CVAE and CAE add 5 task conditions</a:t>
                      </a:r>
                    </a:p>
                  </a:txBody>
                  <a:tcPr marL="88753" marR="88753" marT="29584" marB="29584" anchor="ctr">
                    <a:solidFill>
                      <a:srgbClr val="FFFFFF"/>
                    </a:solidFill>
                  </a:tcPr>
                </a:tc>
              </a:tr>
              <a:tr h="791795">
                <a:tc>
                  <a:txBody>
                    <a:bodyPr/>
                    <a:lstStyle/>
                    <a:p>
                      <a:r>
                        <a:rPr sz="1240" b="1">
                          <a:solidFill>
                            <a:srgbClr val="161E2E"/>
                          </a:solidFill>
                          <a:latin typeface="Calibri"/>
                        </a:rPr>
                        <a:t>Where standardisation happens</a:t>
                      </a:r>
                    </a:p>
                  </a:txBody>
                  <a:tcPr marL="88753" marR="88753" marT="29584" marB="29584" anchor="ctr">
                    <a:solidFill>
                      <a:srgbClr val="F8FAFC"/>
                    </a:solidFill>
                  </a:tcPr>
                </a:tc>
                <a:tc>
                  <a:txBody>
                    <a:bodyPr/>
                    <a:lstStyle/>
                    <a:p>
                      <a:r>
                        <a:rPr sz="1240" b="0">
                          <a:solidFill>
                            <a:srgbClr val="3D4756"/>
                          </a:solidFill>
                          <a:latin typeface="Calibri"/>
                        </a:rPr>
                        <a:t>On the 18 spline coefficients, after fitting</a:t>
                      </a:r>
                    </a:p>
                  </a:txBody>
                  <a:tcPr marL="88753" marR="88753" marT="29584" marB="29584" anchor="ctr">
                    <a:solidFill>
                      <a:srgbClr val="F8FAFC"/>
                    </a:solidFill>
                  </a:tcPr>
                </a:tc>
                <a:tc>
                  <a:txBody>
                    <a:bodyPr/>
                    <a:lstStyle/>
                    <a:p>
                      <a:r>
                        <a:rPr sz="1240" b="0">
                          <a:solidFill>
                            <a:srgbClr val="3D4756"/>
                          </a:solidFill>
                          <a:latin typeface="Calibri"/>
                        </a:rPr>
                        <a:t>On the 200 coordinates, with train-set constants</a:t>
                      </a:r>
                    </a:p>
                  </a:txBody>
                  <a:tcPr marL="88753" marR="88753" marT="29584" marB="29584" anchor="ctr">
                    <a:solidFill>
                      <a:srgbClr val="F8FAFC"/>
                    </a:solidFill>
                  </a:tcPr>
                </a:tc>
              </a:tr>
              <a:tr h="587032">
                <a:tc>
                  <a:txBody>
                    <a:bodyPr/>
                    <a:lstStyle/>
                    <a:p>
                      <a:r>
                        <a:rPr sz="1240" b="1">
                          <a:solidFill>
                            <a:srgbClr val="161E2E"/>
                          </a:solidFill>
                          <a:latin typeface="Calibri"/>
                        </a:rPr>
                        <a:t>Encoder / compression</a:t>
                      </a:r>
                    </a:p>
                  </a:txBody>
                  <a:tcPr marL="88753" marR="88753" marT="29584" marB="29584" anchor="ctr">
                    <a:solidFill>
                      <a:srgbClr val="FFFFFF"/>
                    </a:solidFill>
                  </a:tcPr>
                </a:tc>
                <a:tc>
                  <a:txBody>
                    <a:bodyPr/>
                    <a:lstStyle/>
                    <a:p>
                      <a:r>
                        <a:rPr sz="1240" b="0">
                          <a:solidFill>
                            <a:srgbClr val="3D4756"/>
                          </a:solidFill>
                          <a:latin typeface="Calibri"/>
                        </a:rPr>
                        <a:t>Cubic B-spline with 5 knots fit, 9 coefficients per axis -&gt; PCA to n latents</a:t>
                      </a:r>
                    </a:p>
                  </a:txBody>
                  <a:tcPr marL="88753" marR="88753" marT="29584" marB="29584" anchor="ctr">
                    <a:solidFill>
                      <a:srgbClr val="FFFFFF"/>
                    </a:solidFill>
                  </a:tcPr>
                </a:tc>
                <a:tc>
                  <a:txBody>
                    <a:bodyPr/>
                    <a:lstStyle/>
                    <a:p>
                      <a:r>
                        <a:rPr sz="1240" b="0">
                          <a:solidFill>
                            <a:srgbClr val="3D4756"/>
                          </a:solidFill>
                          <a:latin typeface="Calibri"/>
                        </a:rPr>
                        <a:t>Two fully connected 256-unit ReLU layers -&gt; latent n</a:t>
                      </a:r>
                    </a:p>
                  </a:txBody>
                  <a:tcPr marL="88753" marR="88753" marT="29584" marB="29584" anchor="ctr">
                    <a:solidFill>
                      <a:srgbClr val="FFFFFF"/>
                    </a:solidFill>
                  </a:tcPr>
                </a:tc>
              </a:tr>
              <a:tr h="587032">
                <a:tc>
                  <a:txBody>
                    <a:bodyPr/>
                    <a:lstStyle/>
                    <a:p>
                      <a:r>
                        <a:rPr sz="1240" b="1">
                          <a:solidFill>
                            <a:srgbClr val="161E2E"/>
                          </a:solidFill>
                          <a:latin typeface="Calibri"/>
                        </a:rPr>
                        <a:t>Decoder / reconstruction</a:t>
                      </a:r>
                    </a:p>
                  </a:txBody>
                  <a:tcPr marL="88753" marR="88753" marT="29584" marB="29584" anchor="ctr">
                    <a:solidFill>
                      <a:srgbClr val="F8FAFC"/>
                    </a:solidFill>
                  </a:tcPr>
                </a:tc>
                <a:tc>
                  <a:txBody>
                    <a:bodyPr/>
                    <a:lstStyle/>
                    <a:p>
                      <a:r>
                        <a:rPr sz="1240" b="0">
                          <a:solidFill>
                            <a:srgbClr val="3D4756"/>
                          </a:solidFill>
                          <a:latin typeface="Calibri"/>
                        </a:rPr>
                        <a:t>Inverse PCA -&gt; multiply by the spline basis for the full path</a:t>
                      </a:r>
                    </a:p>
                  </a:txBody>
                  <a:tcPr marL="88753" marR="88753" marT="29584" marB="29584" anchor="ctr">
                    <a:solidFill>
                      <a:srgbClr val="F8FAFC"/>
                    </a:solidFill>
                  </a:tcPr>
                </a:tc>
                <a:tc>
                  <a:txBody>
                    <a:bodyPr/>
                    <a:lstStyle/>
                    <a:p>
                      <a:r>
                        <a:rPr sz="1240" b="0">
                          <a:solidFill>
                            <a:srgbClr val="3D4756"/>
                          </a:solidFill>
                          <a:latin typeface="Calibri"/>
                        </a:rPr>
                        <a:t>Two 256-unit ReLU layers -&gt; separate heads for 200 coordinates and 2 durations</a:t>
                      </a:r>
                    </a:p>
                  </a:txBody>
                  <a:tcPr marL="88753" marR="88753" marT="29584" marB="29584" anchor="ctr">
                    <a:solidFill>
                      <a:srgbClr val="F8FAFC"/>
                    </a:solidFill>
                  </a:tcPr>
                </a:tc>
              </a:tr>
              <a:tr h="587032">
                <a:tc>
                  <a:txBody>
                    <a:bodyPr/>
                    <a:lstStyle/>
                    <a:p>
                      <a:r>
                        <a:rPr sz="1240" b="1">
                          <a:solidFill>
                            <a:srgbClr val="161E2E"/>
                          </a:solidFill>
                          <a:latin typeface="Calibri"/>
                        </a:rPr>
                        <a:t>Timing prediction</a:t>
                      </a:r>
                    </a:p>
                  </a:txBody>
                  <a:tcPr marL="88753" marR="88753" marT="29584" marB="29584" anchor="ctr">
                    <a:solidFill>
                      <a:srgbClr val="FFFFFF"/>
                    </a:solidFill>
                  </a:tcPr>
                </a:tc>
                <a:tc>
                  <a:txBody>
                    <a:bodyPr/>
                    <a:lstStyle/>
                    <a:p>
                      <a:r>
                        <a:rPr sz="1240" b="0">
                          <a:solidFill>
                            <a:srgbClr val="3D4756"/>
                          </a:solidFill>
                          <a:latin typeface="Calibri"/>
                        </a:rPr>
                        <a:t>Separate Ridge regression on the PCA scores + conditions</a:t>
                      </a:r>
                    </a:p>
                  </a:txBody>
                  <a:tcPr marL="88753" marR="88753" marT="29584" marB="29584" anchor="ctr">
                    <a:solidFill>
                      <a:srgbClr val="FFFFFF"/>
                    </a:solidFill>
                  </a:tcPr>
                </a:tc>
                <a:tc>
                  <a:txBody>
                    <a:bodyPr/>
                    <a:lstStyle/>
                    <a:p>
                      <a:r>
                        <a:rPr sz="1240" b="0">
                          <a:solidFill>
                            <a:srgbClr val="3D4756"/>
                          </a:solidFill>
                          <a:latin typeface="Calibri"/>
                        </a:rPr>
                        <a:t>Dedicated head predicting initiation and movement time</a:t>
                      </a:r>
                    </a:p>
                  </a:txBody>
                  <a:tcPr marL="88753" marR="88753" marT="29584" marB="29584" anchor="ctr">
                    <a:solidFill>
                      <a:srgbClr val="FFFFFF"/>
                    </a:solidFill>
                  </a:tcPr>
                </a:tc>
              </a:tr>
            </a:tbl>
          </a:graphicData>
        </a:graphic>
      </p:graphicFrame>
      <p:sp>
        <p:nvSpPr>
          <p:cNvPr id="9" name="Rectangle 8"/>
          <p:cNvSpPr/>
          <p:nvPr/>
        </p:nvSpPr>
        <p:spPr>
          <a:xfrm>
            <a:off x="777240" y="4999226"/>
            <a:ext cx="10637215" cy="1353490"/>
          </a:xfrm>
          <a:prstGeom prst="rect">
            <a:avLst/>
          </a:prstGeom>
          <a:solidFill>
            <a:srgbClr val="EF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99226"/>
            <a:ext cx="59169" cy="1353490"/>
          </a:xfrm>
          <a:prstGeom prst="rect">
            <a:avLst/>
          </a:prstGeom>
          <a:solidFill>
            <a:srgbClr val="1B6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3916" y="5157010"/>
            <a:ext cx="10065248" cy="213666"/>
          </a:xfrm>
          <a:prstGeom prst="rect">
            <a:avLst/>
          </a:prstGeom>
          <a:noFill/>
        </p:spPr>
        <p:txBody>
          <a:bodyPr wrap="square" lIns="0" rIns="0" tIns="0" bIns="0">
            <a:spAutoFit/>
          </a:bodyPr>
          <a:lstStyle/>
          <a:p>
            <a:pPr algn="l"/>
            <a:r>
              <a:rPr sz="1294" b="1">
                <a:solidFill>
                  <a:srgbClr val="1B6FEA"/>
                </a:solidFill>
                <a:latin typeface="Calibri"/>
              </a:rPr>
              <a:t>Three neural variants, one architecture</a:t>
            </a:r>
          </a:p>
        </p:txBody>
      </p:sp>
      <p:sp>
        <p:nvSpPr>
          <p:cNvPr id="12" name="TextBox 11"/>
          <p:cNvSpPr txBox="1"/>
          <p:nvPr/>
        </p:nvSpPr>
        <p:spPr>
          <a:xfrm>
            <a:off x="1013916" y="5469291"/>
            <a:ext cx="10065248" cy="391720"/>
          </a:xfrm>
          <a:prstGeom prst="rect">
            <a:avLst/>
          </a:prstGeom>
          <a:noFill/>
        </p:spPr>
        <p:txBody>
          <a:bodyPr wrap="square" lIns="0" rIns="0" tIns="0" bIns="0">
            <a:spAutoFit/>
          </a:bodyPr>
          <a:lstStyle/>
          <a:p>
            <a:pPr algn="l"/>
            <a:r>
              <a:rPr sz="1186" b="0">
                <a:solidFill>
                  <a:srgbClr val="3D4756"/>
                </a:solidFill>
                <a:latin typeface="Calibri"/>
              </a:rPr>
              <a:t>VAE - Variational Autoencoder, trained on the trajectory alone. CVAE - Conditional Variational Autoencoder, which also receives the task conditions. CAE - Conditional Autoencoder, the same network without the variational latent.</a:t>
            </a:r>
          </a:p>
        </p:txBody>
      </p:sp>
      <p:sp>
        <p:nvSpPr>
          <p:cNvPr id="13" name="TextBox 12"/>
          <p:cNvSpPr txBox="1"/>
          <p:nvPr/>
        </p:nvSpPr>
        <p:spPr>
          <a:xfrm>
            <a:off x="1013916" y="5959626"/>
            <a:ext cx="10065248" cy="195860"/>
          </a:xfrm>
          <a:prstGeom prst="rect">
            <a:avLst/>
          </a:prstGeom>
          <a:noFill/>
        </p:spPr>
        <p:txBody>
          <a:bodyPr wrap="square" lIns="0" rIns="0" tIns="0" bIns="0">
            <a:spAutoFit/>
          </a:bodyPr>
          <a:lstStyle/>
          <a:p>
            <a:pPr algn="l"/>
            <a:r>
              <a:rPr sz="1186" b="0">
                <a:solidFill>
                  <a:srgbClr val="3D4756"/>
                </a:solidFill>
                <a:latin typeface="Calibri"/>
              </a:rPr>
              <a:t>All are compared at identical latent dimensions, n = 3 (extreme compression) and n = 8 (extended capacity).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104847" cy="77724"/>
          </a:xfrm>
          <a:prstGeom prst="rect">
            <a:avLst/>
          </a:prstGeom>
          <a:gradFill rotWithShape="1">
            <a:gsLst>
              <a:gs pos="0">
                <a:srgbClr val="1B6FEA"/>
              </a:gs>
              <a:gs pos="100000">
                <a:srgbClr val="17A2A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847" y="0"/>
            <a:ext cx="6104847" cy="77724"/>
          </a:xfrm>
          <a:prstGeom prst="rect">
            <a:avLst/>
          </a:prstGeom>
          <a:gradFill rotWithShape="1">
            <a:gsLst>
              <a:gs pos="0">
                <a:srgbClr val="17A2A2"/>
              </a:gs>
              <a:gs pos="100000">
                <a:srgbClr val="7A5CF0"/>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92608"/>
            <a:ext cx="8716975" cy="566928"/>
          </a:xfrm>
          <a:prstGeom prst="rect">
            <a:avLst/>
          </a:prstGeom>
          <a:noFill/>
        </p:spPr>
        <p:txBody>
          <a:bodyPr wrap="square" lIns="0" rIns="0" tIns="0" bIns="0">
            <a:spAutoFit/>
          </a:bodyPr>
          <a:lstStyle/>
          <a:p>
            <a:pPr algn="l"/>
            <a:r>
              <a:rPr sz="2400" b="1">
                <a:solidFill>
                  <a:srgbClr val="161E2E"/>
                </a:solidFill>
                <a:latin typeface="Calibri"/>
              </a:rPr>
              <a:t>Task 1: Trajectory Reconstruction</a:t>
            </a:r>
          </a:p>
        </p:txBody>
      </p:sp>
      <p:sp>
        <p:nvSpPr>
          <p:cNvPr id="6" name="Rounded Rectangle 5"/>
          <p:cNvSpPr/>
          <p:nvPr/>
        </p:nvSpPr>
        <p:spPr>
          <a:xfrm>
            <a:off x="10752531" y="347472"/>
            <a:ext cx="661924" cy="327914"/>
          </a:xfrm>
          <a:prstGeom prst="roundRect">
            <a:avLst>
              <a:gd name="adj" fmla="val 50000"/>
            </a:avLst>
          </a:prstGeom>
          <a:solidFill>
            <a:srgbClr val="E3F0F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1B6FEA"/>
                </a:solidFill>
                <a:latin typeface="Calibri"/>
              </a:rPr>
              <a:t>5/11</a:t>
            </a:r>
          </a:p>
        </p:txBody>
      </p:sp>
      <p:sp>
        <p:nvSpPr>
          <p:cNvPr id="7" name="Rectangle 6"/>
          <p:cNvSpPr/>
          <p:nvPr/>
        </p:nvSpPr>
        <p:spPr>
          <a:xfrm>
            <a:off x="777240" y="950976"/>
            <a:ext cx="10637215" cy="9525"/>
          </a:xfrm>
          <a:prstGeom prst="rect">
            <a:avLst/>
          </a:prstGeom>
          <a:solidFill>
            <a:srgbClr val="E1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reconstruction_slide.png"/>
          <p:cNvPicPr>
            <a:picLocks noChangeAspect="1"/>
          </p:cNvPicPr>
          <p:nvPr/>
        </p:nvPicPr>
        <p:blipFill>
          <a:blip r:embed="rId2"/>
          <a:stretch>
            <a:fillRect/>
          </a:stretch>
        </p:blipFill>
        <p:spPr>
          <a:xfrm>
            <a:off x="777240" y="1835641"/>
            <a:ext cx="6357176" cy="3171230"/>
          </a:xfrm>
          <a:prstGeom prst="rect">
            <a:avLst/>
          </a:prstGeom>
        </p:spPr>
      </p:pic>
      <p:sp>
        <p:nvSpPr>
          <p:cNvPr id="9" name="TextBox 8"/>
          <p:cNvSpPr txBox="1"/>
          <p:nvPr/>
        </p:nvSpPr>
        <p:spPr>
          <a:xfrm>
            <a:off x="777240" y="5160352"/>
            <a:ext cx="6357176" cy="398358"/>
          </a:xfrm>
          <a:prstGeom prst="rect">
            <a:avLst/>
          </a:prstGeom>
          <a:noFill/>
        </p:spPr>
        <p:txBody>
          <a:bodyPr wrap="square" lIns="0" rIns="0" tIns="0" bIns="0">
            <a:spAutoFit/>
          </a:bodyPr>
          <a:lstStyle/>
          <a:p>
            <a:pPr algn="l"/>
            <a:r>
              <a:rPr sz="1206" b="0">
                <a:solidFill>
                  <a:srgbClr val="3D4756"/>
                </a:solidFill>
                <a:latin typeface="Calibri"/>
              </a:rPr>
              <a:t>One median-duration trial. Black: recorded; dashed: reconstructed. Both axes in cm at equal scale.</a:t>
            </a:r>
          </a:p>
        </p:txBody>
      </p:sp>
      <p:sp>
        <p:nvSpPr>
          <p:cNvPr id="10" name="TextBox 9"/>
          <p:cNvSpPr txBox="1"/>
          <p:nvPr/>
        </p:nvSpPr>
        <p:spPr>
          <a:xfrm>
            <a:off x="7518120" y="1188720"/>
            <a:ext cx="3896335" cy="484958"/>
          </a:xfrm>
          <a:prstGeom prst="rect">
            <a:avLst/>
          </a:prstGeom>
          <a:noFill/>
        </p:spPr>
        <p:txBody>
          <a:bodyPr wrap="square" lIns="0" rIns="0" tIns="0" bIns="0">
            <a:spAutoFit/>
          </a:bodyPr>
          <a:lstStyle/>
          <a:p>
            <a:pPr algn="l"/>
            <a:r>
              <a:rPr sz="1468" b="1">
                <a:solidFill>
                  <a:srgbClr val="161E2E"/>
                </a:solidFill>
                <a:latin typeface="Calibri"/>
              </a:rPr>
              <a:t>Trajectory reconstruction error (MSE, cm²)</a:t>
            </a:r>
          </a:p>
        </p:txBody>
      </p:sp>
      <p:graphicFrame>
        <p:nvGraphicFramePr>
          <p:cNvPr id="11" name="Table 10"/>
          <p:cNvGraphicFramePr>
            <a:graphicFrameLocks noGrp="1"/>
          </p:cNvGraphicFramePr>
          <p:nvPr/>
        </p:nvGraphicFramePr>
        <p:xfrm>
          <a:off x="7518120" y="1807974"/>
          <a:ext cx="3896333" cy="2127150"/>
        </p:xfrm>
        <a:graphic>
          <a:graphicData uri="http://schemas.openxmlformats.org/drawingml/2006/table">
            <a:tbl>
              <a:tblPr firstRow="1" bandRow="1">
                <a:tableStyleId>{5C22544A-7EE6-4342-B048-85BDC9FD1C3A}</a:tableStyleId>
              </a:tblPr>
              <a:tblGrid>
                <a:gridCol w="2479485"/>
                <a:gridCol w="708424"/>
                <a:gridCol w="708424"/>
              </a:tblGrid>
              <a:tr h="354525">
                <a:tc>
                  <a:txBody>
                    <a:bodyPr/>
                    <a:lstStyle/>
                    <a:p>
                      <a:r>
                        <a:rPr sz="1101" b="1">
                          <a:solidFill>
                            <a:srgbClr val="FFFFFF"/>
                          </a:solidFill>
                          <a:latin typeface="Calibri"/>
                        </a:rPr>
                        <a:t>Model</a:t>
                      </a:r>
                    </a:p>
                  </a:txBody>
                  <a:tcPr marL="86333" marR="86333" marT="28777" marB="28777" anchor="ctr">
                    <a:solidFill>
                      <a:srgbClr val="0E1729"/>
                    </a:solidFill>
                  </a:tcPr>
                </a:tc>
                <a:tc>
                  <a:txBody>
                    <a:bodyPr/>
                    <a:lstStyle/>
                    <a:p>
                      <a:r>
                        <a:rPr sz="1101" b="1">
                          <a:solidFill>
                            <a:srgbClr val="FFFFFF"/>
                          </a:solidFill>
                          <a:latin typeface="Calibri"/>
                        </a:rPr>
                        <a:t>MSE  n=3</a:t>
                      </a:r>
                    </a:p>
                  </a:txBody>
                  <a:tcPr marL="86333" marR="86333" marT="28777" marB="28777" anchor="ctr">
                    <a:solidFill>
                      <a:srgbClr val="0E1729"/>
                    </a:solidFill>
                  </a:tcPr>
                </a:tc>
                <a:tc>
                  <a:txBody>
                    <a:bodyPr/>
                    <a:lstStyle/>
                    <a:p>
                      <a:r>
                        <a:rPr sz="1101" b="1">
                          <a:solidFill>
                            <a:srgbClr val="FFFFFF"/>
                          </a:solidFill>
                          <a:latin typeface="Calibri"/>
                        </a:rPr>
                        <a:t>MSE  n=8</a:t>
                      </a:r>
                    </a:p>
                  </a:txBody>
                  <a:tcPr marL="86333" marR="86333" marT="28777" marB="28777" anchor="ctr">
                    <a:solidFill>
                      <a:srgbClr val="0E1729"/>
                    </a:solidFill>
                  </a:tcPr>
                </a:tc>
              </a:tr>
              <a:tr h="354525">
                <a:tc>
                  <a:txBody>
                    <a:bodyPr/>
                    <a:lstStyle/>
                    <a:p>
                      <a:r>
                        <a:rPr sz="1101" b="1">
                          <a:solidFill>
                            <a:srgbClr val="1D7A3E"/>
                          </a:solidFill>
                          <a:latin typeface="Calibri"/>
                        </a:rPr>
                        <a:t>Spline + PCA</a:t>
                      </a:r>
                    </a:p>
                  </a:txBody>
                  <a:tcPr marL="86333" marR="86333" marT="28777" marB="28777" anchor="ctr">
                    <a:solidFill>
                      <a:srgbClr val="EAF7EE"/>
                    </a:solidFill>
                  </a:tcPr>
                </a:tc>
                <a:tc>
                  <a:txBody>
                    <a:bodyPr/>
                    <a:lstStyle/>
                    <a:p>
                      <a:r>
                        <a:rPr sz="1101" b="1">
                          <a:solidFill>
                            <a:srgbClr val="1D7A3E"/>
                          </a:solidFill>
                          <a:latin typeface="Calibri"/>
                        </a:rPr>
                        <a:t>0.0972</a:t>
                      </a:r>
                    </a:p>
                  </a:txBody>
                  <a:tcPr marL="86333" marR="86333" marT="28777" marB="28777" anchor="ctr">
                    <a:solidFill>
                      <a:srgbClr val="EAF7EE"/>
                    </a:solidFill>
                  </a:tcPr>
                </a:tc>
                <a:tc>
                  <a:txBody>
                    <a:bodyPr/>
                    <a:lstStyle/>
                    <a:p>
                      <a:r>
                        <a:rPr sz="1101" b="1">
                          <a:solidFill>
                            <a:srgbClr val="1D7A3E"/>
                          </a:solidFill>
                          <a:latin typeface="Calibri"/>
                        </a:rPr>
                        <a:t>0.0228</a:t>
                      </a:r>
                    </a:p>
                  </a:txBody>
                  <a:tcPr marL="86333" marR="86333" marT="28777" marB="28777" anchor="ctr">
                    <a:solidFill>
                      <a:srgbClr val="EAF7EE"/>
                    </a:solidFill>
                  </a:tcPr>
                </a:tc>
              </a:tr>
              <a:tr h="354525">
                <a:tc>
                  <a:txBody>
                    <a:bodyPr/>
                    <a:lstStyle/>
                    <a:p>
                      <a:r>
                        <a:rPr sz="1101" b="1">
                          <a:solidFill>
                            <a:srgbClr val="161E2E"/>
                          </a:solidFill>
                          <a:latin typeface="Calibri"/>
                        </a:rPr>
                        <a:t>VAE (Unconditional)</a:t>
                      </a:r>
                    </a:p>
                  </a:txBody>
                  <a:tcPr marL="86333" marR="86333" marT="28777" marB="28777" anchor="ctr">
                    <a:solidFill>
                      <a:srgbClr val="F8FAFC"/>
                    </a:solidFill>
                  </a:tcPr>
                </a:tc>
                <a:tc>
                  <a:txBody>
                    <a:bodyPr/>
                    <a:lstStyle/>
                    <a:p>
                      <a:r>
                        <a:rPr sz="1101" b="0">
                          <a:solidFill>
                            <a:srgbClr val="3D4756"/>
                          </a:solidFill>
                          <a:latin typeface="Calibri"/>
                        </a:rPr>
                        <a:t>0.1483</a:t>
                      </a:r>
                    </a:p>
                  </a:txBody>
                  <a:tcPr marL="86333" marR="86333" marT="28777" marB="28777" anchor="ctr">
                    <a:solidFill>
                      <a:srgbClr val="F8FAFC"/>
                    </a:solidFill>
                  </a:tcPr>
                </a:tc>
                <a:tc>
                  <a:txBody>
                    <a:bodyPr/>
                    <a:lstStyle/>
                    <a:p>
                      <a:r>
                        <a:rPr sz="1101" b="0">
                          <a:solidFill>
                            <a:srgbClr val="3D4756"/>
                          </a:solidFill>
                          <a:latin typeface="Calibri"/>
                        </a:rPr>
                        <a:t>0.0335</a:t>
                      </a:r>
                    </a:p>
                  </a:txBody>
                  <a:tcPr marL="86333" marR="86333" marT="28777" marB="28777" anchor="ctr">
                    <a:solidFill>
                      <a:srgbClr val="F8FAFC"/>
                    </a:solidFill>
                  </a:tcPr>
                </a:tc>
              </a:tr>
              <a:tr h="354525">
                <a:tc>
                  <a:txBody>
                    <a:bodyPr/>
                    <a:lstStyle/>
                    <a:p>
                      <a:r>
                        <a:rPr sz="1101" b="1">
                          <a:solidFill>
                            <a:srgbClr val="161E2E"/>
                          </a:solidFill>
                          <a:latin typeface="Calibri"/>
                        </a:rPr>
                        <a:t>Conditional AE (CAE)</a:t>
                      </a:r>
                    </a:p>
                  </a:txBody>
                  <a:tcPr marL="86333" marR="86333" marT="28777" marB="28777" anchor="ctr">
                    <a:solidFill>
                      <a:srgbClr val="FFFFFF"/>
                    </a:solidFill>
                  </a:tcPr>
                </a:tc>
                <a:tc>
                  <a:txBody>
                    <a:bodyPr/>
                    <a:lstStyle/>
                    <a:p>
                      <a:r>
                        <a:rPr sz="1101" b="0">
                          <a:solidFill>
                            <a:srgbClr val="3D4756"/>
                          </a:solidFill>
                          <a:latin typeface="Calibri"/>
                        </a:rPr>
                        <a:t>0.1697</a:t>
                      </a:r>
                    </a:p>
                  </a:txBody>
                  <a:tcPr marL="86333" marR="86333" marT="28777" marB="28777" anchor="ctr">
                    <a:solidFill>
                      <a:srgbClr val="FFFFFF"/>
                    </a:solidFill>
                  </a:tcPr>
                </a:tc>
                <a:tc>
                  <a:txBody>
                    <a:bodyPr/>
                    <a:lstStyle/>
                    <a:p>
                      <a:r>
                        <a:rPr sz="1101" b="0">
                          <a:solidFill>
                            <a:srgbClr val="3D4756"/>
                          </a:solidFill>
                          <a:latin typeface="Calibri"/>
                        </a:rPr>
                        <a:t>0.0260</a:t>
                      </a:r>
                    </a:p>
                  </a:txBody>
                  <a:tcPr marL="86333" marR="86333" marT="28777" marB="28777" anchor="ctr">
                    <a:solidFill>
                      <a:srgbClr val="FFFFFF"/>
                    </a:solidFill>
                  </a:tcPr>
                </a:tc>
              </a:tr>
              <a:tr h="354525">
                <a:tc>
                  <a:txBody>
                    <a:bodyPr/>
                    <a:lstStyle/>
                    <a:p>
                      <a:r>
                        <a:rPr sz="1101" b="1">
                          <a:solidFill>
                            <a:srgbClr val="161E2E"/>
                          </a:solidFill>
                          <a:latin typeface="Calibri"/>
                        </a:rPr>
                        <a:t>CVAE</a:t>
                      </a:r>
                    </a:p>
                  </a:txBody>
                  <a:tcPr marL="86333" marR="86333" marT="28777" marB="28777" anchor="ctr">
                    <a:solidFill>
                      <a:srgbClr val="F8FAFC"/>
                    </a:solidFill>
                  </a:tcPr>
                </a:tc>
                <a:tc>
                  <a:txBody>
                    <a:bodyPr/>
                    <a:lstStyle/>
                    <a:p>
                      <a:r>
                        <a:rPr sz="1101" b="0">
                          <a:solidFill>
                            <a:srgbClr val="3D4756"/>
                          </a:solidFill>
                          <a:latin typeface="Calibri"/>
                        </a:rPr>
                        <a:t>0.1770</a:t>
                      </a:r>
                    </a:p>
                  </a:txBody>
                  <a:tcPr marL="86333" marR="86333" marT="28777" marB="28777" anchor="ctr">
                    <a:solidFill>
                      <a:srgbClr val="F8FAFC"/>
                    </a:solidFill>
                  </a:tcPr>
                </a:tc>
                <a:tc>
                  <a:txBody>
                    <a:bodyPr/>
                    <a:lstStyle/>
                    <a:p>
                      <a:r>
                        <a:rPr sz="1101" b="0">
                          <a:solidFill>
                            <a:srgbClr val="3D4756"/>
                          </a:solidFill>
                          <a:latin typeface="Calibri"/>
                        </a:rPr>
                        <a:t>0.0325</a:t>
                      </a:r>
                    </a:p>
                  </a:txBody>
                  <a:tcPr marL="86333" marR="86333" marT="28777" marB="28777" anchor="ctr">
                    <a:solidFill>
                      <a:srgbClr val="F8FAFC"/>
                    </a:solidFill>
                  </a:tcPr>
                </a:tc>
              </a:tr>
              <a:tr h="354525">
                <a:tc>
                  <a:txBody>
                    <a:bodyPr/>
                    <a:lstStyle/>
                    <a:p>
                      <a:r>
                        <a:rPr sz="1101" b="1">
                          <a:solidFill>
                            <a:srgbClr val="161E2E"/>
                          </a:solidFill>
                          <a:latin typeface="Calibri"/>
                        </a:rPr>
                        <a:t>Condition-only Ridge (Floor)</a:t>
                      </a:r>
                    </a:p>
                  </a:txBody>
                  <a:tcPr marL="86333" marR="86333" marT="28777" marB="28777" anchor="ctr">
                    <a:solidFill>
                      <a:srgbClr val="FFFFFF"/>
                    </a:solidFill>
                  </a:tcPr>
                </a:tc>
                <a:tc>
                  <a:txBody>
                    <a:bodyPr/>
                    <a:lstStyle/>
                    <a:p>
                      <a:r>
                        <a:rPr sz="1101" b="0">
                          <a:solidFill>
                            <a:srgbClr val="3D4756"/>
                          </a:solidFill>
                          <a:latin typeface="Calibri"/>
                        </a:rPr>
                        <a:t>1.2338</a:t>
                      </a:r>
                    </a:p>
                  </a:txBody>
                  <a:tcPr marL="86333" marR="86333" marT="28777" marB="28777" anchor="ctr">
                    <a:solidFill>
                      <a:srgbClr val="FFFFFF"/>
                    </a:solidFill>
                  </a:tcPr>
                </a:tc>
                <a:tc>
                  <a:txBody>
                    <a:bodyPr/>
                    <a:lstStyle/>
                    <a:p>
                      <a:r>
                        <a:rPr sz="1101" b="0">
                          <a:solidFill>
                            <a:srgbClr val="3D4756"/>
                          </a:solidFill>
                          <a:latin typeface="Calibri"/>
                        </a:rPr>
                        <a:t>1.2338</a:t>
                      </a:r>
                    </a:p>
                  </a:txBody>
                  <a:tcPr marL="86333" marR="86333" marT="28777" marB="28777" anchor="ctr">
                    <a:solidFill>
                      <a:srgbClr val="FFFFFF"/>
                    </a:solidFill>
                  </a:tcPr>
                </a:tc>
              </a:tr>
            </a:tbl>
          </a:graphicData>
        </a:graphic>
      </p:graphicFrame>
      <p:sp>
        <p:nvSpPr>
          <p:cNvPr id="12" name="Rectangle 11"/>
          <p:cNvSpPr/>
          <p:nvPr/>
        </p:nvSpPr>
        <p:spPr>
          <a:xfrm>
            <a:off x="7518120" y="4126976"/>
            <a:ext cx="3896335" cy="2078656"/>
          </a:xfrm>
          <a:prstGeom prst="rect">
            <a:avLst/>
          </a:prstGeom>
          <a:solidFill>
            <a:srgbClr val="EF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18120" y="4126976"/>
            <a:ext cx="57555" cy="2078656"/>
          </a:xfrm>
          <a:prstGeom prst="rect">
            <a:avLst/>
          </a:prstGeom>
          <a:solidFill>
            <a:srgbClr val="1B6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48342" y="4280457"/>
            <a:ext cx="3339965" cy="207839"/>
          </a:xfrm>
          <a:prstGeom prst="rect">
            <a:avLst/>
          </a:prstGeom>
          <a:noFill/>
        </p:spPr>
        <p:txBody>
          <a:bodyPr wrap="square" lIns="0" rIns="0" tIns="0" bIns="0">
            <a:spAutoFit/>
          </a:bodyPr>
          <a:lstStyle/>
          <a:p>
            <a:pPr algn="l"/>
            <a:r>
              <a:rPr sz="1258" b="1">
                <a:solidFill>
                  <a:srgbClr val="1B6FEA"/>
                </a:solidFill>
                <a:latin typeface="Calibri"/>
              </a:rPr>
              <a:t>Key insight on pointwise reconstruction</a:t>
            </a:r>
          </a:p>
        </p:txBody>
      </p:sp>
      <p:sp>
        <p:nvSpPr>
          <p:cNvPr id="15" name="TextBox 14"/>
          <p:cNvSpPr txBox="1"/>
          <p:nvPr/>
        </p:nvSpPr>
        <p:spPr>
          <a:xfrm>
            <a:off x="7748342" y="4584222"/>
            <a:ext cx="3339965" cy="381038"/>
          </a:xfrm>
          <a:prstGeom prst="rect">
            <a:avLst/>
          </a:prstGeom>
          <a:noFill/>
        </p:spPr>
        <p:txBody>
          <a:bodyPr wrap="square" lIns="0" rIns="0" tIns="0" bIns="0">
            <a:spAutoFit/>
          </a:bodyPr>
          <a:lstStyle/>
          <a:p>
            <a:pPr algn="l"/>
            <a:r>
              <a:rPr sz="1153" b="1">
                <a:solidFill>
                  <a:srgbClr val="161E2E"/>
                </a:solidFill>
                <a:latin typeface="Calibri"/>
              </a:rPr>
              <a:t>PCA wins at reconstructing a single trajectory.</a:t>
            </a:r>
          </a:p>
        </p:txBody>
      </p:sp>
      <p:sp>
        <p:nvSpPr>
          <p:cNvPr id="16" name="TextBox 15"/>
          <p:cNvSpPr txBox="1"/>
          <p:nvPr/>
        </p:nvSpPr>
        <p:spPr>
          <a:xfrm>
            <a:off x="7748342" y="5061186"/>
            <a:ext cx="3339965" cy="952595"/>
          </a:xfrm>
          <a:prstGeom prst="rect">
            <a:avLst/>
          </a:prstGeom>
          <a:noFill/>
        </p:spPr>
        <p:txBody>
          <a:bodyPr wrap="square" lIns="0" rIns="0" tIns="0" bIns="0">
            <a:spAutoFit/>
          </a:bodyPr>
          <a:lstStyle/>
          <a:p>
            <a:pPr algn="l"/>
            <a:r>
              <a:rPr sz="1153" b="0">
                <a:solidFill>
                  <a:srgbClr val="3D4756"/>
                </a:solidFill>
                <a:latin typeface="Calibri"/>
              </a:rPr>
              <a:t>As a linear projection, PCA is analytically optimal for minimising squared error among all linear methods. VAEs trade off pointwise accuracy to obtain a continuous and samplable latent space.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104847" cy="77724"/>
          </a:xfrm>
          <a:prstGeom prst="rect">
            <a:avLst/>
          </a:prstGeom>
          <a:gradFill rotWithShape="1">
            <a:gsLst>
              <a:gs pos="0">
                <a:srgbClr val="1B6FEA"/>
              </a:gs>
              <a:gs pos="100000">
                <a:srgbClr val="17A2A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847" y="0"/>
            <a:ext cx="6104847" cy="77724"/>
          </a:xfrm>
          <a:prstGeom prst="rect">
            <a:avLst/>
          </a:prstGeom>
          <a:gradFill rotWithShape="1">
            <a:gsLst>
              <a:gs pos="0">
                <a:srgbClr val="17A2A2"/>
              </a:gs>
              <a:gs pos="100000">
                <a:srgbClr val="7A5CF0"/>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92608"/>
            <a:ext cx="8716975" cy="566928"/>
          </a:xfrm>
          <a:prstGeom prst="rect">
            <a:avLst/>
          </a:prstGeom>
          <a:noFill/>
        </p:spPr>
        <p:txBody>
          <a:bodyPr wrap="square" lIns="0" rIns="0" tIns="0" bIns="0">
            <a:spAutoFit/>
          </a:bodyPr>
          <a:lstStyle/>
          <a:p>
            <a:pPr algn="l"/>
            <a:r>
              <a:rPr sz="2400" b="1">
                <a:solidFill>
                  <a:srgbClr val="161E2E"/>
                </a:solidFill>
                <a:latin typeface="Calibri"/>
              </a:rPr>
              <a:t>Task 2: generating a personal movement distribution</a:t>
            </a:r>
          </a:p>
        </p:txBody>
      </p:sp>
      <p:sp>
        <p:nvSpPr>
          <p:cNvPr id="6" name="Rounded Rectangle 5"/>
          <p:cNvSpPr/>
          <p:nvPr/>
        </p:nvSpPr>
        <p:spPr>
          <a:xfrm>
            <a:off x="10752531" y="347472"/>
            <a:ext cx="661924" cy="327914"/>
          </a:xfrm>
          <a:prstGeom prst="roundRect">
            <a:avLst>
              <a:gd name="adj" fmla="val 50000"/>
            </a:avLst>
          </a:prstGeom>
          <a:solidFill>
            <a:srgbClr val="E3F0F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1B6FEA"/>
                </a:solidFill>
                <a:latin typeface="Calibri"/>
              </a:rPr>
              <a:t>6/11</a:t>
            </a:r>
          </a:p>
        </p:txBody>
      </p:sp>
      <p:sp>
        <p:nvSpPr>
          <p:cNvPr id="7" name="Rectangle 6"/>
          <p:cNvSpPr/>
          <p:nvPr/>
        </p:nvSpPr>
        <p:spPr>
          <a:xfrm>
            <a:off x="777240" y="950976"/>
            <a:ext cx="10637215" cy="9525"/>
          </a:xfrm>
          <a:prstGeom prst="rect">
            <a:avLst/>
          </a:prstGeom>
          <a:solidFill>
            <a:srgbClr val="E1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188720"/>
            <a:ext cx="5117115" cy="254663"/>
          </a:xfrm>
          <a:prstGeom prst="rect">
            <a:avLst/>
          </a:prstGeom>
          <a:noFill/>
        </p:spPr>
        <p:txBody>
          <a:bodyPr wrap="square" lIns="0" rIns="0" tIns="0" bIns="0">
            <a:spAutoFit/>
          </a:bodyPr>
          <a:lstStyle/>
          <a:p>
            <a:pPr algn="l"/>
            <a:r>
              <a:rPr sz="1542" b="1">
                <a:solidFill>
                  <a:srgbClr val="161E2E"/>
                </a:solidFill>
                <a:latin typeface="Calibri"/>
              </a:rPr>
              <a:t>How do we generate movements from a fingerprint?</a:t>
            </a:r>
          </a:p>
        </p:txBody>
      </p:sp>
      <p:sp>
        <p:nvSpPr>
          <p:cNvPr id="9" name="TextBox 8"/>
          <p:cNvSpPr txBox="1"/>
          <p:nvPr/>
        </p:nvSpPr>
        <p:spPr>
          <a:xfrm>
            <a:off x="777240" y="1584427"/>
            <a:ext cx="5117115" cy="418376"/>
          </a:xfrm>
          <a:prstGeom prst="rect">
            <a:avLst/>
          </a:prstGeom>
          <a:noFill/>
        </p:spPr>
        <p:txBody>
          <a:bodyPr wrap="square" lIns="0" rIns="0" tIns="0" bIns="0">
            <a:spAutoFit/>
          </a:bodyPr>
          <a:lstStyle/>
          <a:p>
            <a:pPr algn="l"/>
            <a:r>
              <a:rPr sz="1267" b="1">
                <a:solidFill>
                  <a:srgbClr val="3D4756"/>
                </a:solidFill>
                <a:latin typeface="Calibri"/>
              </a:rPr>
              <a:t>•  </a:t>
            </a:r>
            <a:r>
              <a:rPr sz="1267" b="1">
                <a:solidFill>
                  <a:srgbClr val="3D4756"/>
                </a:solidFill>
                <a:latin typeface="Calibri"/>
              </a:rPr>
              <a:t>Enrollment: </a:t>
            </a:r>
            <a:r>
              <a:rPr sz="1267" b="0">
                <a:solidFill>
                  <a:srgbClr val="3D4756"/>
                </a:solidFill>
                <a:latin typeface="Calibri"/>
              </a:rPr>
              <a:t>earlier context trials of the participant, whose mean defines the personal fingerprint centre.</a:t>
            </a:r>
          </a:p>
        </p:txBody>
      </p:sp>
      <p:sp>
        <p:nvSpPr>
          <p:cNvPr id="10" name="TextBox 9"/>
          <p:cNvSpPr txBox="1"/>
          <p:nvPr/>
        </p:nvSpPr>
        <p:spPr>
          <a:xfrm>
            <a:off x="777240" y="2184146"/>
            <a:ext cx="5117115" cy="418376"/>
          </a:xfrm>
          <a:prstGeom prst="rect">
            <a:avLst/>
          </a:prstGeom>
          <a:noFill/>
        </p:spPr>
        <p:txBody>
          <a:bodyPr wrap="square" lIns="0" rIns="0" tIns="0" bIns="0">
            <a:spAutoFit/>
          </a:bodyPr>
          <a:lstStyle/>
          <a:p>
            <a:pPr algn="l"/>
            <a:r>
              <a:rPr sz="1267" b="1">
                <a:solidFill>
                  <a:srgbClr val="3D4756"/>
                </a:solidFill>
                <a:latin typeface="Calibri"/>
              </a:rPr>
              <a:t>•  </a:t>
            </a:r>
            <a:r>
              <a:rPr sz="1267" b="1">
                <a:solidFill>
                  <a:srgbClr val="3D4756"/>
                </a:solidFill>
                <a:latin typeface="Calibri"/>
              </a:rPr>
              <a:t>Stochastic sampling: </a:t>
            </a:r>
            <a:r>
              <a:rPr sz="1267" b="0">
                <a:solidFill>
                  <a:srgbClr val="3D4756"/>
                </a:solidFill>
                <a:latin typeface="Calibri"/>
              </a:rPr>
              <a:t>draw 120 latent vectors around that centre using a shared covariance learned from training data.</a:t>
            </a:r>
          </a:p>
        </p:txBody>
      </p:sp>
      <p:sp>
        <p:nvSpPr>
          <p:cNvPr id="11" name="TextBox 10"/>
          <p:cNvSpPr txBox="1"/>
          <p:nvPr/>
        </p:nvSpPr>
        <p:spPr>
          <a:xfrm>
            <a:off x="777240" y="2783865"/>
            <a:ext cx="5117115" cy="418376"/>
          </a:xfrm>
          <a:prstGeom prst="rect">
            <a:avLst/>
          </a:prstGeom>
          <a:noFill/>
        </p:spPr>
        <p:txBody>
          <a:bodyPr wrap="square" lIns="0" rIns="0" tIns="0" bIns="0">
            <a:spAutoFit/>
          </a:bodyPr>
          <a:lstStyle/>
          <a:p>
            <a:pPr algn="l"/>
            <a:r>
              <a:rPr sz="1267" b="1">
                <a:solidFill>
                  <a:srgbClr val="3D4756"/>
                </a:solidFill>
                <a:latin typeface="Calibri"/>
              </a:rPr>
              <a:t>•  </a:t>
            </a:r>
            <a:r>
              <a:rPr sz="1267" b="1">
                <a:solidFill>
                  <a:srgbClr val="3D4756"/>
                </a:solidFill>
                <a:latin typeface="Calibri"/>
              </a:rPr>
              <a:t>Unseen movements: </a:t>
            </a:r>
            <a:r>
              <a:rPr sz="1267" b="0">
                <a:solidFill>
                  <a:srgbClr val="3D4756"/>
                </a:solidFill>
                <a:latin typeface="Calibri"/>
              </a:rPr>
              <a:t>query trials are held aside to evaluate the distribution and are never exposed to the model.</a:t>
            </a:r>
          </a:p>
        </p:txBody>
      </p:sp>
      <p:sp>
        <p:nvSpPr>
          <p:cNvPr id="12" name="TextBox 11"/>
          <p:cNvSpPr txBox="1"/>
          <p:nvPr/>
        </p:nvSpPr>
        <p:spPr>
          <a:xfrm>
            <a:off x="777240" y="3383584"/>
            <a:ext cx="5117115" cy="418376"/>
          </a:xfrm>
          <a:prstGeom prst="rect">
            <a:avLst/>
          </a:prstGeom>
          <a:noFill/>
        </p:spPr>
        <p:txBody>
          <a:bodyPr wrap="square" lIns="0" rIns="0" tIns="0" bIns="0">
            <a:spAutoFit/>
          </a:bodyPr>
          <a:lstStyle/>
          <a:p>
            <a:pPr algn="l"/>
            <a:r>
              <a:rPr sz="1267" b="0">
                <a:solidFill>
                  <a:srgbClr val="3D4756"/>
                </a:solidFill>
                <a:latin typeface="Calibri"/>
              </a:rPr>
              <a:t>Below, n = 8. Thin: first 30 draws. Thick: their mean. Equal x/y scale, cm.</a:t>
            </a:r>
          </a:p>
        </p:txBody>
      </p:sp>
      <p:sp>
        <p:nvSpPr>
          <p:cNvPr id="13" name="Rounded Rectangle 12"/>
          <p:cNvSpPr/>
          <p:nvPr/>
        </p:nvSpPr>
        <p:spPr>
          <a:xfrm>
            <a:off x="6297339" y="1465352"/>
            <a:ext cx="5117116" cy="639457"/>
          </a:xfrm>
          <a:prstGeom prst="roundRect">
            <a:avLst/>
          </a:prstGeom>
          <a:solidFill>
            <a:srgbClr val="FAFBFD"/>
          </a:solidFill>
          <a:ln w="9525">
            <a:solidFill>
              <a:srgbClr val="E5E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8831" y="1666844"/>
            <a:ext cx="4714132" cy="236473"/>
          </a:xfrm>
          <a:prstGeom prst="rect">
            <a:avLst/>
          </a:prstGeom>
          <a:noFill/>
        </p:spPr>
        <p:txBody>
          <a:bodyPr wrap="square" lIns="0" rIns="0" tIns="0" bIns="0">
            <a:spAutoFit/>
          </a:bodyPr>
          <a:lstStyle/>
          <a:p>
            <a:pPr algn="ctr"/>
            <a:r>
              <a:rPr sz="1432" b="0">
                <a:solidFill>
                  <a:srgbClr val="161E2E"/>
                </a:solidFill>
                <a:latin typeface="Calibri"/>
              </a:rPr>
              <a:t>fingerprint centre:   θ_s  =  (1 / |C_s|) Σ c_i</a:t>
            </a:r>
          </a:p>
        </p:txBody>
      </p:sp>
      <p:sp>
        <p:nvSpPr>
          <p:cNvPr id="15" name="Rounded Rectangle 14"/>
          <p:cNvSpPr/>
          <p:nvPr/>
        </p:nvSpPr>
        <p:spPr>
          <a:xfrm>
            <a:off x="6297339" y="2286152"/>
            <a:ext cx="5117116" cy="639457"/>
          </a:xfrm>
          <a:prstGeom prst="roundRect">
            <a:avLst/>
          </a:prstGeom>
          <a:solidFill>
            <a:srgbClr val="FAFBFD"/>
          </a:solidFill>
          <a:ln w="9525">
            <a:solidFill>
              <a:srgbClr val="E5E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8831" y="2487644"/>
            <a:ext cx="4714132" cy="236473"/>
          </a:xfrm>
          <a:prstGeom prst="rect">
            <a:avLst/>
          </a:prstGeom>
          <a:noFill/>
        </p:spPr>
        <p:txBody>
          <a:bodyPr wrap="square" lIns="0" rIns="0" tIns="0" bIns="0">
            <a:spAutoFit/>
          </a:bodyPr>
          <a:lstStyle/>
          <a:p>
            <a:pPr algn="ctr"/>
            <a:r>
              <a:rPr sz="1432" b="0">
                <a:solidFill>
                  <a:srgbClr val="161E2E"/>
                </a:solidFill>
                <a:latin typeface="Calibri"/>
              </a:rPr>
              <a:t>one generated movement:   z  ∼  N ( θ_s ,  Σ_train )</a:t>
            </a:r>
          </a:p>
        </p:txBody>
      </p:sp>
      <p:sp>
        <p:nvSpPr>
          <p:cNvPr id="17" name="TextBox 16"/>
          <p:cNvSpPr txBox="1"/>
          <p:nvPr/>
        </p:nvSpPr>
        <p:spPr>
          <a:xfrm>
            <a:off x="6297339" y="3106952"/>
            <a:ext cx="5117116" cy="418376"/>
          </a:xfrm>
          <a:prstGeom prst="rect">
            <a:avLst/>
          </a:prstGeom>
          <a:noFill/>
        </p:spPr>
        <p:txBody>
          <a:bodyPr wrap="square" lIns="0" rIns="0" tIns="0" bIns="0">
            <a:spAutoFit/>
          </a:bodyPr>
          <a:lstStyle/>
          <a:p>
            <a:pPr algn="l"/>
            <a:r>
              <a:rPr sz="1267" b="0">
                <a:solidFill>
                  <a:srgbClr val="3D4756"/>
                </a:solidFill>
                <a:latin typeface="Calibri"/>
              </a:rPr>
              <a:t>c_i is the trial's code: the encoder mean μ_i for the neural families, the PCA scores for spline + PCA.</a:t>
            </a:r>
          </a:p>
        </p:txBody>
      </p:sp>
      <p:pic>
        <p:nvPicPr>
          <p:cNvPr id="18" name="Picture 17" descr="generation_slide_n8.png"/>
          <p:cNvPicPr>
            <a:picLocks noChangeAspect="1"/>
          </p:cNvPicPr>
          <p:nvPr/>
        </p:nvPicPr>
        <p:blipFill>
          <a:blip r:embed="rId2"/>
          <a:stretch>
            <a:fillRect/>
          </a:stretch>
        </p:blipFill>
        <p:spPr>
          <a:xfrm>
            <a:off x="2816241" y="3963153"/>
            <a:ext cx="6559212" cy="237744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104847" cy="77724"/>
          </a:xfrm>
          <a:prstGeom prst="rect">
            <a:avLst/>
          </a:prstGeom>
          <a:gradFill rotWithShape="1">
            <a:gsLst>
              <a:gs pos="0">
                <a:srgbClr val="1B6FEA"/>
              </a:gs>
              <a:gs pos="100000">
                <a:srgbClr val="17A2A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847" y="0"/>
            <a:ext cx="6104847" cy="77724"/>
          </a:xfrm>
          <a:prstGeom prst="rect">
            <a:avLst/>
          </a:prstGeom>
          <a:gradFill rotWithShape="1">
            <a:gsLst>
              <a:gs pos="0">
                <a:srgbClr val="17A2A2"/>
              </a:gs>
              <a:gs pos="100000">
                <a:srgbClr val="7A5CF0"/>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92608"/>
            <a:ext cx="8716975" cy="566928"/>
          </a:xfrm>
          <a:prstGeom prst="rect">
            <a:avLst/>
          </a:prstGeom>
          <a:noFill/>
        </p:spPr>
        <p:txBody>
          <a:bodyPr wrap="square" lIns="0" rIns="0" tIns="0" bIns="0">
            <a:spAutoFit/>
          </a:bodyPr>
          <a:lstStyle/>
          <a:p>
            <a:pPr algn="l"/>
            <a:r>
              <a:rPr sz="2400" b="1">
                <a:solidFill>
                  <a:srgbClr val="161E2E"/>
                </a:solidFill>
                <a:latin typeface="Calibri"/>
              </a:rPr>
              <a:t>How we score a generated distribution</a:t>
            </a:r>
          </a:p>
        </p:txBody>
      </p:sp>
      <p:sp>
        <p:nvSpPr>
          <p:cNvPr id="6" name="Rounded Rectangle 5"/>
          <p:cNvSpPr/>
          <p:nvPr/>
        </p:nvSpPr>
        <p:spPr>
          <a:xfrm>
            <a:off x="10752531" y="347472"/>
            <a:ext cx="661924" cy="327914"/>
          </a:xfrm>
          <a:prstGeom prst="roundRect">
            <a:avLst>
              <a:gd name="adj" fmla="val 50000"/>
            </a:avLst>
          </a:prstGeom>
          <a:solidFill>
            <a:srgbClr val="E3F0F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1B6FEA"/>
                </a:solidFill>
                <a:latin typeface="Calibri"/>
              </a:rPr>
              <a:t>7/11</a:t>
            </a:r>
          </a:p>
        </p:txBody>
      </p:sp>
      <p:sp>
        <p:nvSpPr>
          <p:cNvPr id="7" name="Rectangle 6"/>
          <p:cNvSpPr/>
          <p:nvPr/>
        </p:nvSpPr>
        <p:spPr>
          <a:xfrm>
            <a:off x="777240" y="950976"/>
            <a:ext cx="10637215" cy="9525"/>
          </a:xfrm>
          <a:prstGeom prst="rect">
            <a:avLst/>
          </a:prstGeom>
          <a:solidFill>
            <a:srgbClr val="E1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1188720"/>
            <a:ext cx="5021012" cy="4816230"/>
          </a:xfrm>
          <a:prstGeom prst="roundRect">
            <a:avLst/>
          </a:prstGeom>
          <a:solidFill>
            <a:srgbClr val="F8FAFC"/>
          </a:solidFill>
          <a:ln w="9525">
            <a:solidFill>
              <a:srgbClr val="E5E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32386" y="1643866"/>
            <a:ext cx="4110720" cy="331877"/>
          </a:xfrm>
          <a:prstGeom prst="rect">
            <a:avLst/>
          </a:prstGeom>
          <a:noFill/>
        </p:spPr>
        <p:txBody>
          <a:bodyPr wrap="square" lIns="0" rIns="0" tIns="0" bIns="0">
            <a:spAutoFit/>
          </a:bodyPr>
          <a:lstStyle/>
          <a:p>
            <a:pPr algn="l"/>
            <a:r>
              <a:rPr sz="2010" b="1">
                <a:solidFill>
                  <a:srgbClr val="1B6FEA"/>
                </a:solidFill>
                <a:latin typeface="Calibri"/>
              </a:rPr>
              <a:t>WHAT WE MEASURE</a:t>
            </a:r>
          </a:p>
        </p:txBody>
      </p:sp>
      <p:sp>
        <p:nvSpPr>
          <p:cNvPr id="10" name="TextBox 9"/>
          <p:cNvSpPr txBox="1"/>
          <p:nvPr/>
        </p:nvSpPr>
        <p:spPr>
          <a:xfrm>
            <a:off x="1232386" y="2115787"/>
            <a:ext cx="4110720" cy="1137864"/>
          </a:xfrm>
          <a:prstGeom prst="rect">
            <a:avLst/>
          </a:prstGeom>
          <a:noFill/>
        </p:spPr>
        <p:txBody>
          <a:bodyPr wrap="square" lIns="0" rIns="0" tIns="0" bIns="0">
            <a:spAutoFit/>
          </a:bodyPr>
          <a:lstStyle/>
          <a:p>
            <a:pPr algn="l"/>
            <a:r>
              <a:rPr sz="3445" b="1">
                <a:solidFill>
                  <a:srgbClr val="161E2E"/>
                </a:solidFill>
                <a:latin typeface="Calibri"/>
              </a:rPr>
              <a:t>11 kinematic features</a:t>
            </a:r>
          </a:p>
        </p:txBody>
      </p:sp>
      <p:sp>
        <p:nvSpPr>
          <p:cNvPr id="11" name="TextBox 10"/>
          <p:cNvSpPr txBox="1"/>
          <p:nvPr/>
        </p:nvSpPr>
        <p:spPr>
          <a:xfrm>
            <a:off x="1232386" y="3463718"/>
            <a:ext cx="4110720" cy="2086086"/>
          </a:xfrm>
          <a:prstGeom prst="rect">
            <a:avLst/>
          </a:prstGeom>
          <a:noFill/>
        </p:spPr>
        <p:txBody>
          <a:bodyPr wrap="square" lIns="0" rIns="0" tIns="0" bIns="0">
            <a:spAutoFit/>
          </a:bodyPr>
          <a:lstStyle/>
          <a:p>
            <a:pPr algn="l"/>
            <a:r>
              <a:rPr sz="2105" b="0">
                <a:solidFill>
                  <a:srgbClr val="3D4756"/>
                </a:solidFill>
                <a:latin typeface="Calibri"/>
              </a:rPr>
              <a:t>Initiation and movement time, peak speed, time to peak, path length, straight-line distance, curvature, maximum lateral deviation and the three endpoint coordinates.</a:t>
            </a:r>
          </a:p>
        </p:txBody>
      </p:sp>
      <p:sp>
        <p:nvSpPr>
          <p:cNvPr id="12" name="Rounded Rectangle 11"/>
          <p:cNvSpPr/>
          <p:nvPr/>
        </p:nvSpPr>
        <p:spPr>
          <a:xfrm>
            <a:off x="6393443" y="1188720"/>
            <a:ext cx="5021012" cy="4816230"/>
          </a:xfrm>
          <a:prstGeom prst="roundRect">
            <a:avLst/>
          </a:prstGeom>
          <a:solidFill>
            <a:srgbClr val="F8FAFC"/>
          </a:solidFill>
          <a:ln w="9525">
            <a:solidFill>
              <a:srgbClr val="E5E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48589" y="1643866"/>
            <a:ext cx="4110720" cy="331877"/>
          </a:xfrm>
          <a:prstGeom prst="rect">
            <a:avLst/>
          </a:prstGeom>
          <a:noFill/>
        </p:spPr>
        <p:txBody>
          <a:bodyPr wrap="square" lIns="0" rIns="0" tIns="0" bIns="0">
            <a:spAutoFit/>
          </a:bodyPr>
          <a:lstStyle/>
          <a:p>
            <a:pPr algn="l"/>
            <a:r>
              <a:rPr sz="2010" b="1">
                <a:solidFill>
                  <a:srgbClr val="1B6FEA"/>
                </a:solidFill>
                <a:latin typeface="Calibri"/>
              </a:rPr>
              <a:t>HOW WE COMPARE</a:t>
            </a:r>
          </a:p>
        </p:txBody>
      </p:sp>
      <p:sp>
        <p:nvSpPr>
          <p:cNvPr id="14" name="TextBox 13"/>
          <p:cNvSpPr txBox="1"/>
          <p:nvPr/>
        </p:nvSpPr>
        <p:spPr>
          <a:xfrm>
            <a:off x="6848589" y="2115787"/>
            <a:ext cx="4110720" cy="1137864"/>
          </a:xfrm>
          <a:prstGeom prst="rect">
            <a:avLst/>
          </a:prstGeom>
          <a:noFill/>
        </p:spPr>
        <p:txBody>
          <a:bodyPr wrap="square" lIns="0" rIns="0" tIns="0" bIns="0">
            <a:spAutoFit/>
          </a:bodyPr>
          <a:lstStyle/>
          <a:p>
            <a:pPr algn="l"/>
            <a:r>
              <a:rPr sz="3445" b="1">
                <a:solidFill>
                  <a:srgbClr val="161E2E"/>
                </a:solidFill>
                <a:latin typeface="Calibri"/>
              </a:rPr>
              <a:t>Marginal Feature Matching</a:t>
            </a:r>
          </a:p>
        </p:txBody>
      </p:sp>
      <p:sp>
        <p:nvSpPr>
          <p:cNvPr id="15" name="TextBox 14"/>
          <p:cNvSpPr txBox="1"/>
          <p:nvPr/>
        </p:nvSpPr>
        <p:spPr>
          <a:xfrm>
            <a:off x="6848589" y="3463718"/>
            <a:ext cx="4110720" cy="1390724"/>
          </a:xfrm>
          <a:prstGeom prst="rect">
            <a:avLst/>
          </a:prstGeom>
          <a:noFill/>
        </p:spPr>
        <p:txBody>
          <a:bodyPr wrap="square" lIns="0" rIns="0" tIns="0" bIns="0">
            <a:spAutoFit/>
          </a:bodyPr>
          <a:lstStyle/>
          <a:p>
            <a:pPr algn="l"/>
            <a:r>
              <a:rPr sz="2105" b="0">
                <a:solidFill>
                  <a:srgbClr val="3D4756"/>
                </a:solidFill>
                <a:latin typeface="Calibri"/>
              </a:rPr>
              <a:t>One KS test per feature, averaged over the 11 features into Mean KS. Lower is better.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104847" cy="77724"/>
          </a:xfrm>
          <a:prstGeom prst="rect">
            <a:avLst/>
          </a:prstGeom>
          <a:gradFill rotWithShape="1">
            <a:gsLst>
              <a:gs pos="0">
                <a:srgbClr val="1B6FEA"/>
              </a:gs>
              <a:gs pos="100000">
                <a:srgbClr val="17A2A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847" y="0"/>
            <a:ext cx="6104847" cy="77724"/>
          </a:xfrm>
          <a:prstGeom prst="rect">
            <a:avLst/>
          </a:prstGeom>
          <a:gradFill rotWithShape="1">
            <a:gsLst>
              <a:gs pos="0">
                <a:srgbClr val="17A2A2"/>
              </a:gs>
              <a:gs pos="100000">
                <a:srgbClr val="7A5CF0"/>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92608"/>
            <a:ext cx="8716975" cy="566928"/>
          </a:xfrm>
          <a:prstGeom prst="rect">
            <a:avLst/>
          </a:prstGeom>
          <a:noFill/>
        </p:spPr>
        <p:txBody>
          <a:bodyPr wrap="square" lIns="0" rIns="0" tIns="0" bIns="0">
            <a:spAutoFit/>
          </a:bodyPr>
          <a:lstStyle/>
          <a:p>
            <a:pPr algn="l"/>
            <a:r>
              <a:rPr sz="2400" b="1">
                <a:solidFill>
                  <a:srgbClr val="161E2E"/>
                </a:solidFill>
                <a:latin typeface="Calibri"/>
              </a:rPr>
              <a:t>Generation results: VAE leads on movement distributions</a:t>
            </a:r>
          </a:p>
        </p:txBody>
      </p:sp>
      <p:sp>
        <p:nvSpPr>
          <p:cNvPr id="6" name="Rounded Rectangle 5"/>
          <p:cNvSpPr/>
          <p:nvPr/>
        </p:nvSpPr>
        <p:spPr>
          <a:xfrm>
            <a:off x="10752531" y="347472"/>
            <a:ext cx="661924" cy="327914"/>
          </a:xfrm>
          <a:prstGeom prst="roundRect">
            <a:avLst>
              <a:gd name="adj" fmla="val 50000"/>
            </a:avLst>
          </a:prstGeom>
          <a:solidFill>
            <a:srgbClr val="E3F0F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1B6FEA"/>
                </a:solidFill>
                <a:latin typeface="Calibri"/>
              </a:rPr>
              <a:t>8/11</a:t>
            </a:r>
          </a:p>
        </p:txBody>
      </p:sp>
      <p:sp>
        <p:nvSpPr>
          <p:cNvPr id="7" name="Rectangle 6"/>
          <p:cNvSpPr/>
          <p:nvPr/>
        </p:nvSpPr>
        <p:spPr>
          <a:xfrm>
            <a:off x="777240" y="950976"/>
            <a:ext cx="10637215" cy="9525"/>
          </a:xfrm>
          <a:prstGeom prst="rect">
            <a:avLst/>
          </a:prstGeom>
          <a:solidFill>
            <a:srgbClr val="E1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ean_ks_chart.png"/>
          <p:cNvPicPr>
            <a:picLocks noChangeAspect="1"/>
          </p:cNvPicPr>
          <p:nvPr/>
        </p:nvPicPr>
        <p:blipFill>
          <a:blip r:embed="rId2"/>
          <a:stretch>
            <a:fillRect/>
          </a:stretch>
        </p:blipFill>
        <p:spPr>
          <a:xfrm>
            <a:off x="2404996" y="1188720"/>
            <a:ext cx="7381703" cy="3291840"/>
          </a:xfrm>
          <a:prstGeom prst="rect">
            <a:avLst/>
          </a:prstGeom>
        </p:spPr>
      </p:pic>
      <p:sp>
        <p:nvSpPr>
          <p:cNvPr id="9" name="Rectangle 8"/>
          <p:cNvSpPr/>
          <p:nvPr/>
        </p:nvSpPr>
        <p:spPr>
          <a:xfrm>
            <a:off x="777240" y="4684504"/>
            <a:ext cx="10637215" cy="1621990"/>
          </a:xfrm>
          <a:prstGeom prst="rect">
            <a:avLst/>
          </a:prstGeom>
          <a:solidFill>
            <a:srgbClr val="EF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84504"/>
            <a:ext cx="76479" cy="1621990"/>
          </a:xfrm>
          <a:prstGeom prst="rect">
            <a:avLst/>
          </a:prstGeom>
          <a:solidFill>
            <a:srgbClr val="1B6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83156" y="4888448"/>
            <a:ext cx="9897918" cy="276174"/>
          </a:xfrm>
          <a:prstGeom prst="rect">
            <a:avLst/>
          </a:prstGeom>
          <a:noFill/>
        </p:spPr>
        <p:txBody>
          <a:bodyPr wrap="square" lIns="0" rIns="0" tIns="0" bIns="0">
            <a:spAutoFit/>
          </a:bodyPr>
          <a:lstStyle/>
          <a:p>
            <a:pPr algn="l"/>
            <a:r>
              <a:rPr sz="1672" b="1">
                <a:solidFill>
                  <a:srgbClr val="1B6FEA"/>
                </a:solidFill>
                <a:latin typeface="Calibri"/>
              </a:rPr>
              <a:t>A reversal in the ranking: VAE wins at generation</a:t>
            </a:r>
          </a:p>
        </p:txBody>
      </p:sp>
      <p:sp>
        <p:nvSpPr>
          <p:cNvPr id="12" name="TextBox 11"/>
          <p:cNvSpPr txBox="1"/>
          <p:nvPr/>
        </p:nvSpPr>
        <p:spPr>
          <a:xfrm>
            <a:off x="1083156" y="5292087"/>
            <a:ext cx="9897918" cy="759477"/>
          </a:xfrm>
          <a:prstGeom prst="rect">
            <a:avLst/>
          </a:prstGeom>
          <a:noFill/>
        </p:spPr>
        <p:txBody>
          <a:bodyPr wrap="square" lIns="0" rIns="0" tIns="0" bIns="0">
            <a:spAutoFit/>
          </a:bodyPr>
          <a:lstStyle/>
          <a:p>
            <a:pPr algn="l"/>
            <a:r>
              <a:rPr sz="1533" b="0">
                <a:solidFill>
                  <a:srgbClr val="3D4756"/>
                </a:solidFill>
                <a:latin typeface="Calibri"/>
              </a:rPr>
              <a:t>Although Spline + PCA won pointwise reconstruction, VAE and CVAE achieve much better distribution matching (corrected p &lt; 0.001 under BH and Holm). VAE at n = 8 was set as the dashboard default.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104847" cy="77724"/>
          </a:xfrm>
          <a:prstGeom prst="rect">
            <a:avLst/>
          </a:prstGeom>
          <a:gradFill rotWithShape="1">
            <a:gsLst>
              <a:gs pos="0">
                <a:srgbClr val="1B6FEA"/>
              </a:gs>
              <a:gs pos="100000">
                <a:srgbClr val="17A2A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847" y="0"/>
            <a:ext cx="6104847" cy="77724"/>
          </a:xfrm>
          <a:prstGeom prst="rect">
            <a:avLst/>
          </a:prstGeom>
          <a:gradFill rotWithShape="1">
            <a:gsLst>
              <a:gs pos="0">
                <a:srgbClr val="17A2A2"/>
              </a:gs>
              <a:gs pos="100000">
                <a:srgbClr val="7A5CF0"/>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92608"/>
            <a:ext cx="8716975" cy="566928"/>
          </a:xfrm>
          <a:prstGeom prst="rect">
            <a:avLst/>
          </a:prstGeom>
          <a:noFill/>
        </p:spPr>
        <p:txBody>
          <a:bodyPr wrap="square" lIns="0" rIns="0" tIns="0" bIns="0">
            <a:spAutoFit/>
          </a:bodyPr>
          <a:lstStyle/>
          <a:p>
            <a:pPr algn="l"/>
            <a:r>
              <a:rPr sz="2400" b="1">
                <a:solidFill>
                  <a:srgbClr val="161E2E"/>
                </a:solidFill>
                <a:latin typeface="Calibri"/>
              </a:rPr>
              <a:t>Validating the personal fingerprint  (Control Test)</a:t>
            </a:r>
          </a:p>
        </p:txBody>
      </p:sp>
      <p:sp>
        <p:nvSpPr>
          <p:cNvPr id="6" name="Rounded Rectangle 5"/>
          <p:cNvSpPr/>
          <p:nvPr/>
        </p:nvSpPr>
        <p:spPr>
          <a:xfrm>
            <a:off x="10752531" y="347472"/>
            <a:ext cx="661924" cy="327914"/>
          </a:xfrm>
          <a:prstGeom prst="roundRect">
            <a:avLst>
              <a:gd name="adj" fmla="val 50000"/>
            </a:avLst>
          </a:prstGeom>
          <a:solidFill>
            <a:srgbClr val="E3F0F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1B6FEA"/>
                </a:solidFill>
                <a:latin typeface="Calibri"/>
              </a:rPr>
              <a:t>9/11</a:t>
            </a:r>
          </a:p>
        </p:txBody>
      </p:sp>
      <p:sp>
        <p:nvSpPr>
          <p:cNvPr id="7" name="Rectangle 6"/>
          <p:cNvSpPr/>
          <p:nvPr/>
        </p:nvSpPr>
        <p:spPr>
          <a:xfrm>
            <a:off x="777240" y="950976"/>
            <a:ext cx="10637215" cy="9525"/>
          </a:xfrm>
          <a:prstGeom prst="rect">
            <a:avLst/>
          </a:prstGeom>
          <a:solidFill>
            <a:srgbClr val="E1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1753385"/>
            <a:ext cx="5069107" cy="3751859"/>
          </a:xfrm>
          <a:prstGeom prst="roundRect">
            <a:avLst/>
          </a:prstGeom>
          <a:solidFill>
            <a:srgbClr val="EA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302286"/>
            <a:ext cx="5069107" cy="1171266"/>
          </a:xfrm>
          <a:prstGeom prst="rect">
            <a:avLst/>
          </a:prstGeom>
          <a:noFill/>
        </p:spPr>
        <p:txBody>
          <a:bodyPr wrap="square" lIns="0" rIns="0" tIns="0" bIns="0">
            <a:spAutoFit/>
          </a:bodyPr>
          <a:lstStyle/>
          <a:p>
            <a:pPr algn="ctr"/>
            <a:r>
              <a:rPr sz="7094" b="1">
                <a:solidFill>
                  <a:srgbClr val="1D7A3E"/>
                </a:solidFill>
                <a:latin typeface="Calibri"/>
              </a:rPr>
              <a:t>27 / 28</a:t>
            </a:r>
          </a:p>
        </p:txBody>
      </p:sp>
      <p:sp>
        <p:nvSpPr>
          <p:cNvPr id="10" name="TextBox 9"/>
          <p:cNvSpPr txBox="1"/>
          <p:nvPr/>
        </p:nvSpPr>
        <p:spPr>
          <a:xfrm>
            <a:off x="777240" y="3698102"/>
            <a:ext cx="5069107" cy="315340"/>
          </a:xfrm>
          <a:prstGeom prst="rect">
            <a:avLst/>
          </a:prstGeom>
          <a:noFill/>
        </p:spPr>
        <p:txBody>
          <a:bodyPr wrap="square" lIns="0" rIns="0" tIns="0" bIns="0">
            <a:spAutoFit/>
          </a:bodyPr>
          <a:lstStyle/>
          <a:p>
            <a:pPr algn="ctr"/>
            <a:r>
              <a:rPr sz="1909" b="1">
                <a:solidFill>
                  <a:srgbClr val="161E2E"/>
                </a:solidFill>
                <a:latin typeface="Calibri"/>
              </a:rPr>
              <a:t>participants improved markedly</a:t>
            </a:r>
          </a:p>
        </p:txBody>
      </p:sp>
      <p:sp>
        <p:nvSpPr>
          <p:cNvPr id="11" name="TextBox 10"/>
          <p:cNvSpPr txBox="1"/>
          <p:nvPr/>
        </p:nvSpPr>
        <p:spPr>
          <a:xfrm>
            <a:off x="1089115" y="4213042"/>
            <a:ext cx="4445356" cy="743301"/>
          </a:xfrm>
          <a:prstGeom prst="rect">
            <a:avLst/>
          </a:prstGeom>
          <a:noFill/>
        </p:spPr>
        <p:txBody>
          <a:bodyPr wrap="square" lIns="0" rIns="0" tIns="0" bIns="0">
            <a:spAutoFit/>
          </a:bodyPr>
          <a:lstStyle/>
          <a:p>
            <a:pPr algn="ctr"/>
            <a:r>
              <a:rPr sz="1500" b="0">
                <a:solidFill>
                  <a:srgbClr val="3D4756"/>
                </a:solidFill>
                <a:latin typeface="Calibri"/>
              </a:rPr>
              <a:t>Using the personal fingerprint improved distribution matching against generic attribution (p &lt; 1.5 x 10^-6).</a:t>
            </a:r>
          </a:p>
        </p:txBody>
      </p:sp>
      <p:sp>
        <p:nvSpPr>
          <p:cNvPr id="12" name="TextBox 11"/>
          <p:cNvSpPr txBox="1"/>
          <p:nvPr/>
        </p:nvSpPr>
        <p:spPr>
          <a:xfrm>
            <a:off x="6345347" y="1188720"/>
            <a:ext cx="5069108" cy="630680"/>
          </a:xfrm>
          <a:prstGeom prst="rect">
            <a:avLst/>
          </a:prstGeom>
          <a:noFill/>
        </p:spPr>
        <p:txBody>
          <a:bodyPr wrap="square" lIns="0" rIns="0" tIns="0" bIns="0">
            <a:spAutoFit/>
          </a:bodyPr>
          <a:lstStyle/>
          <a:p>
            <a:pPr algn="l"/>
            <a:r>
              <a:rPr sz="1909" b="1">
                <a:solidFill>
                  <a:srgbClr val="161E2E"/>
                </a:solidFill>
                <a:latin typeface="Calibri"/>
              </a:rPr>
              <a:t>Does the personal fingerprint really matter?</a:t>
            </a:r>
          </a:p>
        </p:txBody>
      </p:sp>
      <p:sp>
        <p:nvSpPr>
          <p:cNvPr id="13" name="TextBox 12"/>
          <p:cNvSpPr txBox="1"/>
          <p:nvPr/>
        </p:nvSpPr>
        <p:spPr>
          <a:xfrm>
            <a:off x="6345347" y="1994050"/>
            <a:ext cx="5069108" cy="1036120"/>
          </a:xfrm>
          <a:prstGeom prst="rect">
            <a:avLst/>
          </a:prstGeom>
          <a:noFill/>
        </p:spPr>
        <p:txBody>
          <a:bodyPr wrap="square" lIns="0" rIns="0" tIns="0" bIns="0">
            <a:spAutoFit/>
          </a:bodyPr>
          <a:lstStyle/>
          <a:p>
            <a:pPr algn="l"/>
            <a:r>
              <a:rPr sz="1568" b="0">
                <a:solidFill>
                  <a:srgbClr val="3D4756"/>
                </a:solidFill>
                <a:latin typeface="Calibri"/>
              </a:rPr>
              <a:t>To verify that the model is not merely producing a generic average movement, we replaced the fingerprint while the decoder, the noise and the conditions stayed completely frozen:</a:t>
            </a:r>
          </a:p>
        </p:txBody>
      </p:sp>
      <p:graphicFrame>
        <p:nvGraphicFramePr>
          <p:cNvPr id="14" name="Table 13"/>
          <p:cNvGraphicFramePr>
            <a:graphicFrameLocks noGrp="1"/>
          </p:cNvGraphicFramePr>
          <p:nvPr/>
        </p:nvGraphicFramePr>
        <p:xfrm>
          <a:off x="6345347" y="3229770"/>
          <a:ext cx="5069106" cy="2790240"/>
        </p:xfrm>
        <a:graphic>
          <a:graphicData uri="http://schemas.openxmlformats.org/drawingml/2006/table">
            <a:tbl>
              <a:tblPr firstRow="1" bandRow="1">
                <a:tableStyleId>{5C22544A-7EE6-4342-B048-85BDC9FD1C3A}</a:tableStyleId>
              </a:tblPr>
              <a:tblGrid>
                <a:gridCol w="2339588"/>
                <a:gridCol w="1403752"/>
                <a:gridCol w="1325766"/>
              </a:tblGrid>
              <a:tr h="697560">
                <a:tc>
                  <a:txBody>
                    <a:bodyPr/>
                    <a:lstStyle/>
                    <a:p>
                      <a:r>
                        <a:rPr sz="1432" b="1">
                          <a:solidFill>
                            <a:srgbClr val="FFFFFF"/>
                          </a:solidFill>
                          <a:latin typeface="Calibri"/>
                        </a:rPr>
                        <a:t>Injected fingerprint centre</a:t>
                      </a:r>
                    </a:p>
                  </a:txBody>
                  <a:tcPr marL="112275" marR="112275" marT="37425" marB="37425" anchor="ctr">
                    <a:solidFill>
                      <a:srgbClr val="0E1729"/>
                    </a:solidFill>
                  </a:tcPr>
                </a:tc>
                <a:tc>
                  <a:txBody>
                    <a:bodyPr/>
                    <a:lstStyle/>
                    <a:p>
                      <a:r>
                        <a:rPr sz="1432" b="1">
                          <a:solidFill>
                            <a:srgbClr val="FFFFFF"/>
                          </a:solidFill>
                          <a:latin typeface="Calibri"/>
                        </a:rPr>
                        <a:t>CVAE n=8 (Mean KS)</a:t>
                      </a:r>
                    </a:p>
                  </a:txBody>
                  <a:tcPr marL="112275" marR="112275" marT="37425" marB="37425" anchor="ctr">
                    <a:solidFill>
                      <a:srgbClr val="0E1729"/>
                    </a:solidFill>
                  </a:tcPr>
                </a:tc>
                <a:tc>
                  <a:txBody>
                    <a:bodyPr/>
                    <a:lstStyle/>
                    <a:p>
                      <a:r>
                        <a:rPr sz="1432" b="1">
                          <a:solidFill>
                            <a:srgbClr val="FFFFFF"/>
                          </a:solidFill>
                          <a:latin typeface="Calibri"/>
                        </a:rPr>
                        <a:t>VAE n=8 (Mean KS)</a:t>
                      </a:r>
                    </a:p>
                  </a:txBody>
                  <a:tcPr marL="112275" marR="112275" marT="37425" marB="37425" anchor="ctr">
                    <a:solidFill>
                      <a:srgbClr val="0E1729"/>
                    </a:solidFill>
                  </a:tcPr>
                </a:tc>
              </a:tr>
              <a:tr h="697560">
                <a:tc>
                  <a:txBody>
                    <a:bodyPr/>
                    <a:lstStyle/>
                    <a:p>
                      <a:r>
                        <a:rPr sz="1432" b="1">
                          <a:solidFill>
                            <a:srgbClr val="1D7A3E"/>
                          </a:solidFill>
                          <a:latin typeface="Calibri"/>
                        </a:rPr>
                        <a:t>The participant's own centroid</a:t>
                      </a:r>
                    </a:p>
                  </a:txBody>
                  <a:tcPr marL="112275" marR="112275" marT="37425" marB="37425" anchor="ctr">
                    <a:solidFill>
                      <a:srgbClr val="EAF7EE"/>
                    </a:solidFill>
                  </a:tcPr>
                </a:tc>
                <a:tc>
                  <a:txBody>
                    <a:bodyPr/>
                    <a:lstStyle/>
                    <a:p>
                      <a:r>
                        <a:rPr sz="1432" b="1">
                          <a:solidFill>
                            <a:srgbClr val="1D7A3E"/>
                          </a:solidFill>
                          <a:latin typeface="Calibri"/>
                        </a:rPr>
                        <a:t>0.2194</a:t>
                      </a:r>
                    </a:p>
                  </a:txBody>
                  <a:tcPr marL="112275" marR="112275" marT="37425" marB="37425" anchor="ctr">
                    <a:solidFill>
                      <a:srgbClr val="EAF7EE"/>
                    </a:solidFill>
                  </a:tcPr>
                </a:tc>
                <a:tc>
                  <a:txBody>
                    <a:bodyPr/>
                    <a:lstStyle/>
                    <a:p>
                      <a:r>
                        <a:rPr sz="1432" b="1">
                          <a:solidFill>
                            <a:srgbClr val="1D7A3E"/>
                          </a:solidFill>
                          <a:latin typeface="Calibri"/>
                        </a:rPr>
                        <a:t>0.2151</a:t>
                      </a:r>
                    </a:p>
                  </a:txBody>
                  <a:tcPr marL="112275" marR="112275" marT="37425" marB="37425" anchor="ctr">
                    <a:solidFill>
                      <a:srgbClr val="EAF7EE"/>
                    </a:solidFill>
                  </a:tcPr>
                </a:tc>
              </a:tr>
              <a:tr h="697560">
                <a:tc>
                  <a:txBody>
                    <a:bodyPr/>
                    <a:lstStyle/>
                    <a:p>
                      <a:r>
                        <a:rPr sz="1432" b="1">
                          <a:solidFill>
                            <a:srgbClr val="161E2E"/>
                          </a:solidFill>
                          <a:latin typeface="Calibri"/>
                        </a:rPr>
                        <a:t>Training-population mean</a:t>
                      </a:r>
                    </a:p>
                  </a:txBody>
                  <a:tcPr marL="112275" marR="112275" marT="37425" marB="37425" anchor="ctr">
                    <a:solidFill>
                      <a:srgbClr val="F8FAFC"/>
                    </a:solidFill>
                  </a:tcPr>
                </a:tc>
                <a:tc>
                  <a:txBody>
                    <a:bodyPr/>
                    <a:lstStyle/>
                    <a:p>
                      <a:r>
                        <a:rPr sz="1432" b="0">
                          <a:solidFill>
                            <a:srgbClr val="3D4756"/>
                          </a:solidFill>
                          <a:latin typeface="Calibri"/>
                        </a:rPr>
                        <a:t>0.2896</a:t>
                      </a:r>
                    </a:p>
                  </a:txBody>
                  <a:tcPr marL="112275" marR="112275" marT="37425" marB="37425" anchor="ctr">
                    <a:solidFill>
                      <a:srgbClr val="F8FAFC"/>
                    </a:solidFill>
                  </a:tcPr>
                </a:tc>
                <a:tc>
                  <a:txBody>
                    <a:bodyPr/>
                    <a:lstStyle/>
                    <a:p>
                      <a:r>
                        <a:rPr sz="1432" b="0">
                          <a:solidFill>
                            <a:srgbClr val="3D4756"/>
                          </a:solidFill>
                          <a:latin typeface="Calibri"/>
                        </a:rPr>
                        <a:t>0.2841</a:t>
                      </a:r>
                    </a:p>
                  </a:txBody>
                  <a:tcPr marL="112275" marR="112275" marT="37425" marB="37425" anchor="ctr">
                    <a:solidFill>
                      <a:srgbClr val="F8FAFC"/>
                    </a:solidFill>
                  </a:tcPr>
                </a:tc>
              </a:tr>
              <a:tr h="697560">
                <a:tc>
                  <a:txBody>
                    <a:bodyPr/>
                    <a:lstStyle/>
                    <a:p>
                      <a:r>
                        <a:rPr sz="1432" b="1">
                          <a:solidFill>
                            <a:srgbClr val="161E2E"/>
                          </a:solidFill>
                          <a:latin typeface="Calibri"/>
                        </a:rPr>
                        <a:t>Another test participant</a:t>
                      </a:r>
                    </a:p>
                  </a:txBody>
                  <a:tcPr marL="112275" marR="112275" marT="37425" marB="37425" anchor="ctr">
                    <a:solidFill>
                      <a:srgbClr val="FFFFFF"/>
                    </a:solidFill>
                  </a:tcPr>
                </a:tc>
                <a:tc>
                  <a:txBody>
                    <a:bodyPr/>
                    <a:lstStyle/>
                    <a:p>
                      <a:r>
                        <a:rPr sz="1432" b="0">
                          <a:solidFill>
                            <a:srgbClr val="3D4756"/>
                          </a:solidFill>
                          <a:latin typeface="Calibri"/>
                        </a:rPr>
                        <a:t>0.3172</a:t>
                      </a:r>
                    </a:p>
                  </a:txBody>
                  <a:tcPr marL="112275" marR="112275" marT="37425" marB="37425" anchor="ctr">
                    <a:solidFill>
                      <a:srgbClr val="FFFFFF"/>
                    </a:solidFill>
                  </a:tcPr>
                </a:tc>
                <a:tc>
                  <a:txBody>
                    <a:bodyPr/>
                    <a:lstStyle/>
                    <a:p>
                      <a:r>
                        <a:rPr sz="1432" b="0">
                          <a:solidFill>
                            <a:srgbClr val="3D4756"/>
                          </a:solidFill>
                          <a:latin typeface="Calibri"/>
                        </a:rPr>
                        <a:t>0.3144</a:t>
                      </a:r>
                    </a:p>
                  </a:txBody>
                  <a:tcPr marL="112275" marR="112275" marT="37425" marB="37425" anchor="ct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104847" cy="77724"/>
          </a:xfrm>
          <a:prstGeom prst="rect">
            <a:avLst/>
          </a:prstGeom>
          <a:gradFill rotWithShape="1">
            <a:gsLst>
              <a:gs pos="0">
                <a:srgbClr val="1B6FEA"/>
              </a:gs>
              <a:gs pos="100000">
                <a:srgbClr val="17A2A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847" y="0"/>
            <a:ext cx="6104847" cy="77724"/>
          </a:xfrm>
          <a:prstGeom prst="rect">
            <a:avLst/>
          </a:prstGeom>
          <a:gradFill rotWithShape="1">
            <a:gsLst>
              <a:gs pos="0">
                <a:srgbClr val="17A2A2"/>
              </a:gs>
              <a:gs pos="100000">
                <a:srgbClr val="7A5CF0"/>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92608"/>
            <a:ext cx="8716975" cy="566928"/>
          </a:xfrm>
          <a:prstGeom prst="rect">
            <a:avLst/>
          </a:prstGeom>
          <a:noFill/>
        </p:spPr>
        <p:txBody>
          <a:bodyPr wrap="square" lIns="0" rIns="0" tIns="0" bIns="0">
            <a:spAutoFit/>
          </a:bodyPr>
          <a:lstStyle/>
          <a:p>
            <a:pPr algn="l"/>
            <a:r>
              <a:rPr sz="2400" b="1">
                <a:solidFill>
                  <a:srgbClr val="161E2E"/>
                </a:solidFill>
                <a:latin typeface="Calibri"/>
              </a:rPr>
              <a:t>Recommended summary: the trade-off between reconstruction and generation</a:t>
            </a:r>
          </a:p>
        </p:txBody>
      </p:sp>
      <p:sp>
        <p:nvSpPr>
          <p:cNvPr id="6" name="Rounded Rectangle 5"/>
          <p:cNvSpPr/>
          <p:nvPr/>
        </p:nvSpPr>
        <p:spPr>
          <a:xfrm>
            <a:off x="10678490" y="347472"/>
            <a:ext cx="735965" cy="327914"/>
          </a:xfrm>
          <a:prstGeom prst="roundRect">
            <a:avLst>
              <a:gd name="adj" fmla="val 50000"/>
            </a:avLst>
          </a:prstGeom>
          <a:solidFill>
            <a:srgbClr val="E3F0F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1B6FEA"/>
                </a:solidFill>
                <a:latin typeface="Calibri"/>
              </a:rPr>
              <a:t>10/11</a:t>
            </a:r>
          </a:p>
        </p:txBody>
      </p:sp>
      <p:sp>
        <p:nvSpPr>
          <p:cNvPr id="7" name="Rectangle 6"/>
          <p:cNvSpPr/>
          <p:nvPr/>
        </p:nvSpPr>
        <p:spPr>
          <a:xfrm>
            <a:off x="777240" y="950976"/>
            <a:ext cx="10637215" cy="9525"/>
          </a:xfrm>
          <a:prstGeom prst="rect">
            <a:avLst/>
          </a:prstGeom>
          <a:solidFill>
            <a:srgbClr val="E1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1188720"/>
            <a:ext cx="5085452" cy="3055206"/>
          </a:xfrm>
          <a:prstGeom prst="roundRect">
            <a:avLst/>
          </a:prstGeom>
          <a:solidFill>
            <a:srgbClr val="F8FAFC"/>
          </a:solidFill>
          <a:ln w="9525">
            <a:solidFill>
              <a:srgbClr val="E5E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33830" y="1545310"/>
            <a:ext cx="4372272" cy="260013"/>
          </a:xfrm>
          <a:prstGeom prst="rect">
            <a:avLst/>
          </a:prstGeom>
          <a:noFill/>
        </p:spPr>
        <p:txBody>
          <a:bodyPr wrap="square" lIns="0" rIns="0" tIns="0" bIns="0">
            <a:spAutoFit/>
          </a:bodyPr>
          <a:lstStyle/>
          <a:p>
            <a:pPr algn="l"/>
            <a:r>
              <a:rPr sz="1574" b="1">
                <a:solidFill>
                  <a:srgbClr val="1B6FEA"/>
                </a:solidFill>
                <a:latin typeface="Calibri"/>
              </a:rPr>
              <a:t>To reconstruct known trajectories</a:t>
            </a:r>
          </a:p>
        </p:txBody>
      </p:sp>
      <p:sp>
        <p:nvSpPr>
          <p:cNvPr id="10" name="TextBox 9"/>
          <p:cNvSpPr txBox="1"/>
          <p:nvPr/>
        </p:nvSpPr>
        <p:spPr>
          <a:xfrm>
            <a:off x="1133830" y="1915043"/>
            <a:ext cx="4372272" cy="445738"/>
          </a:xfrm>
          <a:prstGeom prst="rect">
            <a:avLst/>
          </a:prstGeom>
          <a:noFill/>
        </p:spPr>
        <p:txBody>
          <a:bodyPr wrap="square" lIns="0" rIns="0" tIns="0" bIns="0">
            <a:spAutoFit/>
          </a:bodyPr>
          <a:lstStyle/>
          <a:p>
            <a:pPr algn="l"/>
            <a:r>
              <a:rPr sz="2699" b="1">
                <a:solidFill>
                  <a:srgbClr val="161E2E"/>
                </a:solidFill>
                <a:latin typeface="Calibri"/>
              </a:rPr>
              <a:t>Spline + PCA</a:t>
            </a:r>
          </a:p>
        </p:txBody>
      </p:sp>
      <p:sp>
        <p:nvSpPr>
          <p:cNvPr id="11" name="TextBox 10"/>
          <p:cNvSpPr txBox="1"/>
          <p:nvPr/>
        </p:nvSpPr>
        <p:spPr>
          <a:xfrm>
            <a:off x="1133830" y="2525361"/>
            <a:ext cx="4372272" cy="1089580"/>
          </a:xfrm>
          <a:prstGeom prst="rect">
            <a:avLst/>
          </a:prstGeom>
          <a:noFill/>
        </p:spPr>
        <p:txBody>
          <a:bodyPr wrap="square" lIns="0" rIns="0" tIns="0" bIns="0">
            <a:spAutoFit/>
          </a:bodyPr>
          <a:lstStyle/>
          <a:p>
            <a:pPr algn="l"/>
            <a:r>
              <a:rPr sz="1649" b="0">
                <a:solidFill>
                  <a:srgbClr val="3D4756"/>
                </a:solidFill>
                <a:latin typeface="Calibri"/>
              </a:rPr>
              <a:t>Recommended when the goal is compact compression and the most accurate pointwise reconstruction of a measured trajectory (MSE = 0.0228).</a:t>
            </a:r>
          </a:p>
        </p:txBody>
      </p:sp>
      <p:sp>
        <p:nvSpPr>
          <p:cNvPr id="12" name="Rounded Rectangle 11"/>
          <p:cNvSpPr/>
          <p:nvPr/>
        </p:nvSpPr>
        <p:spPr>
          <a:xfrm>
            <a:off x="6329002" y="1188720"/>
            <a:ext cx="5085452" cy="3055206"/>
          </a:xfrm>
          <a:prstGeom prst="roundRect">
            <a:avLst/>
          </a:prstGeom>
          <a:solidFill>
            <a:srgbClr val="F8FAFC"/>
          </a:solidFill>
          <a:ln w="9525">
            <a:solidFill>
              <a:srgbClr val="E5E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85592" y="1545310"/>
            <a:ext cx="4372272" cy="260013"/>
          </a:xfrm>
          <a:prstGeom prst="rect">
            <a:avLst/>
          </a:prstGeom>
          <a:noFill/>
        </p:spPr>
        <p:txBody>
          <a:bodyPr wrap="square" lIns="0" rIns="0" tIns="0" bIns="0">
            <a:spAutoFit/>
          </a:bodyPr>
          <a:lstStyle/>
          <a:p>
            <a:pPr algn="l"/>
            <a:r>
              <a:rPr sz="1574" b="1">
                <a:solidFill>
                  <a:srgbClr val="1D7A3E"/>
                </a:solidFill>
                <a:latin typeface="Calibri"/>
              </a:rPr>
              <a:t>For generation and simulation</a:t>
            </a:r>
          </a:p>
        </p:txBody>
      </p:sp>
      <p:sp>
        <p:nvSpPr>
          <p:cNvPr id="14" name="TextBox 13"/>
          <p:cNvSpPr txBox="1"/>
          <p:nvPr/>
        </p:nvSpPr>
        <p:spPr>
          <a:xfrm>
            <a:off x="6685592" y="1915043"/>
            <a:ext cx="4372272" cy="445738"/>
          </a:xfrm>
          <a:prstGeom prst="rect">
            <a:avLst/>
          </a:prstGeom>
          <a:noFill/>
        </p:spPr>
        <p:txBody>
          <a:bodyPr wrap="square" lIns="0" rIns="0" tIns="0" bIns="0">
            <a:spAutoFit/>
          </a:bodyPr>
          <a:lstStyle/>
          <a:p>
            <a:pPr algn="l"/>
            <a:r>
              <a:rPr sz="2699" b="1">
                <a:solidFill>
                  <a:srgbClr val="161E2E"/>
                </a:solidFill>
                <a:latin typeface="Calibri"/>
              </a:rPr>
              <a:t>VAE  (n = 8)</a:t>
            </a:r>
          </a:p>
        </p:txBody>
      </p:sp>
      <p:sp>
        <p:nvSpPr>
          <p:cNvPr id="15" name="TextBox 14"/>
          <p:cNvSpPr txBox="1"/>
          <p:nvPr/>
        </p:nvSpPr>
        <p:spPr>
          <a:xfrm>
            <a:off x="6685592" y="2525361"/>
            <a:ext cx="4372272" cy="1361975"/>
          </a:xfrm>
          <a:prstGeom prst="rect">
            <a:avLst/>
          </a:prstGeom>
          <a:noFill/>
        </p:spPr>
        <p:txBody>
          <a:bodyPr wrap="square" lIns="0" rIns="0" tIns="0" bIns="0">
            <a:spAutoFit/>
          </a:bodyPr>
          <a:lstStyle/>
          <a:p>
            <a:pPr algn="l"/>
            <a:r>
              <a:rPr sz="1649" b="0">
                <a:solidFill>
                  <a:srgbClr val="3D4756"/>
                </a:solidFill>
                <a:latin typeface="Calibri"/>
              </a:rPr>
              <a:t>Recommended for simulating a participant's future movements. Produces the kinematic distributions closest to reality (MMD squared = 0.0639).</a:t>
            </a:r>
          </a:p>
        </p:txBody>
      </p:sp>
      <p:sp>
        <p:nvSpPr>
          <p:cNvPr id="16" name="Rectangle 15"/>
          <p:cNvSpPr/>
          <p:nvPr/>
        </p:nvSpPr>
        <p:spPr>
          <a:xfrm>
            <a:off x="777240" y="4545656"/>
            <a:ext cx="10637215" cy="1745233"/>
          </a:xfrm>
          <a:prstGeom prst="rect">
            <a:avLst/>
          </a:prstGeom>
          <a:solidFill>
            <a:srgbClr val="FEF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545656"/>
            <a:ext cx="82290" cy="1745233"/>
          </a:xfrm>
          <a:prstGeom prst="rect">
            <a:avLst/>
          </a:prstGeom>
          <a:solidFill>
            <a:srgbClr val="E0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06400" y="4765096"/>
            <a:ext cx="9841745" cy="297158"/>
          </a:xfrm>
          <a:prstGeom prst="rect">
            <a:avLst/>
          </a:prstGeom>
          <a:noFill/>
        </p:spPr>
        <p:txBody>
          <a:bodyPr wrap="square" lIns="0" rIns="0" tIns="0" bIns="0">
            <a:spAutoFit/>
          </a:bodyPr>
          <a:lstStyle/>
          <a:p>
            <a:pPr algn="l"/>
            <a:r>
              <a:rPr sz="1799" b="1">
                <a:solidFill>
                  <a:srgbClr val="8A6216"/>
                </a:solidFill>
                <a:latin typeface="Calibri"/>
              </a:rPr>
              <a:t>! Key caveat</a:t>
            </a:r>
          </a:p>
        </p:txBody>
      </p:sp>
      <p:sp>
        <p:nvSpPr>
          <p:cNvPr id="19" name="TextBox 18"/>
          <p:cNvSpPr txBox="1"/>
          <p:nvPr/>
        </p:nvSpPr>
        <p:spPr>
          <a:xfrm>
            <a:off x="1106400" y="5199404"/>
            <a:ext cx="9841745" cy="817185"/>
          </a:xfrm>
          <a:prstGeom prst="rect">
            <a:avLst/>
          </a:prstGeom>
          <a:noFill/>
        </p:spPr>
        <p:txBody>
          <a:bodyPr wrap="square" lIns="0" rIns="0" tIns="0" bIns="0">
            <a:spAutoFit/>
          </a:bodyPr>
          <a:lstStyle/>
          <a:p>
            <a:pPr algn="l"/>
            <a:r>
              <a:rPr sz="1649" b="0">
                <a:solidFill>
                  <a:srgbClr val="3D4756"/>
                </a:solidFill>
                <a:latin typeface="Calibri"/>
              </a:rPr>
              <a:t>Direct measurement from the participant's own context data still beats latent regressions at predicting pointwise summary measures. The compact representation is meant to generate whole trajectories, not a single number.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104847" cy="77724"/>
          </a:xfrm>
          <a:prstGeom prst="rect">
            <a:avLst/>
          </a:prstGeom>
          <a:gradFill rotWithShape="1">
            <a:gsLst>
              <a:gs pos="0">
                <a:srgbClr val="1B6FEA"/>
              </a:gs>
              <a:gs pos="100000">
                <a:srgbClr val="17A2A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847" y="0"/>
            <a:ext cx="6104847" cy="77724"/>
          </a:xfrm>
          <a:prstGeom prst="rect">
            <a:avLst/>
          </a:prstGeom>
          <a:gradFill rotWithShape="1">
            <a:gsLst>
              <a:gs pos="0">
                <a:srgbClr val="17A2A2"/>
              </a:gs>
              <a:gs pos="100000">
                <a:srgbClr val="7A5CF0"/>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92608"/>
            <a:ext cx="8716975" cy="566928"/>
          </a:xfrm>
          <a:prstGeom prst="rect">
            <a:avLst/>
          </a:prstGeom>
          <a:noFill/>
        </p:spPr>
        <p:txBody>
          <a:bodyPr wrap="square" lIns="0" rIns="0" tIns="0" bIns="0">
            <a:spAutoFit/>
          </a:bodyPr>
          <a:lstStyle/>
          <a:p>
            <a:pPr algn="l"/>
            <a:r>
              <a:rPr sz="2400" b="1">
                <a:solidFill>
                  <a:srgbClr val="161E2E"/>
                </a:solidFill>
                <a:latin typeface="Calibri"/>
              </a:rPr>
              <a:t>The applied product: an interactive dashboard</a:t>
            </a:r>
          </a:p>
        </p:txBody>
      </p:sp>
      <p:sp>
        <p:nvSpPr>
          <p:cNvPr id="6" name="Rounded Rectangle 5"/>
          <p:cNvSpPr/>
          <p:nvPr/>
        </p:nvSpPr>
        <p:spPr>
          <a:xfrm>
            <a:off x="10678490" y="347472"/>
            <a:ext cx="735965" cy="327914"/>
          </a:xfrm>
          <a:prstGeom prst="roundRect">
            <a:avLst>
              <a:gd name="adj" fmla="val 50000"/>
            </a:avLst>
          </a:prstGeom>
          <a:solidFill>
            <a:srgbClr val="E3F0F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1B6FEA"/>
                </a:solidFill>
                <a:latin typeface="Calibri"/>
              </a:rPr>
              <a:t>11/11</a:t>
            </a:r>
          </a:p>
        </p:txBody>
      </p:sp>
      <p:sp>
        <p:nvSpPr>
          <p:cNvPr id="7" name="Rectangle 6"/>
          <p:cNvSpPr/>
          <p:nvPr/>
        </p:nvSpPr>
        <p:spPr>
          <a:xfrm>
            <a:off x="777240" y="950976"/>
            <a:ext cx="10637215" cy="9525"/>
          </a:xfrm>
          <a:prstGeom prst="rect">
            <a:avLst/>
          </a:prstGeom>
          <a:solidFill>
            <a:srgbClr val="E1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1188720"/>
            <a:ext cx="3240495" cy="3437541"/>
          </a:xfrm>
          <a:prstGeom prst="roundRect">
            <a:avLst/>
          </a:prstGeom>
          <a:solidFill>
            <a:srgbClr val="F8FAFC"/>
          </a:solidFill>
          <a:ln w="9525">
            <a:solidFill>
              <a:srgbClr val="E5E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27372" y="1538852"/>
            <a:ext cx="2540231" cy="255305"/>
          </a:xfrm>
          <a:prstGeom prst="rect">
            <a:avLst/>
          </a:prstGeom>
          <a:noFill/>
        </p:spPr>
        <p:txBody>
          <a:bodyPr wrap="square" lIns="0" rIns="0" tIns="0" bIns="0">
            <a:spAutoFit/>
          </a:bodyPr>
          <a:lstStyle/>
          <a:p>
            <a:pPr algn="l"/>
            <a:r>
              <a:rPr sz="1546" b="1">
                <a:solidFill>
                  <a:srgbClr val="1B6FEA"/>
                </a:solidFill>
                <a:latin typeface="Calibri"/>
              </a:rPr>
              <a:t>1</a:t>
            </a:r>
          </a:p>
        </p:txBody>
      </p:sp>
      <p:sp>
        <p:nvSpPr>
          <p:cNvPr id="10" name="TextBox 9"/>
          <p:cNvSpPr txBox="1"/>
          <p:nvPr/>
        </p:nvSpPr>
        <p:spPr>
          <a:xfrm>
            <a:off x="1127372" y="1901890"/>
            <a:ext cx="2540231" cy="875330"/>
          </a:xfrm>
          <a:prstGeom prst="rect">
            <a:avLst/>
          </a:prstGeom>
          <a:noFill/>
        </p:spPr>
        <p:txBody>
          <a:bodyPr wrap="square" lIns="0" rIns="0" tIns="0" bIns="0">
            <a:spAutoFit/>
          </a:bodyPr>
          <a:lstStyle/>
          <a:p>
            <a:pPr algn="l"/>
            <a:r>
              <a:rPr sz="2650" b="1">
                <a:solidFill>
                  <a:srgbClr val="161E2E"/>
                </a:solidFill>
                <a:latin typeface="Calibri"/>
              </a:rPr>
              <a:t>Model and dimension</a:t>
            </a:r>
          </a:p>
        </p:txBody>
      </p:sp>
      <p:sp>
        <p:nvSpPr>
          <p:cNvPr id="11" name="TextBox 10"/>
          <p:cNvSpPr txBox="1"/>
          <p:nvPr/>
        </p:nvSpPr>
        <p:spPr>
          <a:xfrm>
            <a:off x="1127372" y="2938819"/>
            <a:ext cx="2540231" cy="1069848"/>
          </a:xfrm>
          <a:prstGeom prst="rect">
            <a:avLst/>
          </a:prstGeom>
          <a:noFill/>
        </p:spPr>
        <p:txBody>
          <a:bodyPr wrap="square" lIns="0" rIns="0" tIns="0" bIns="0">
            <a:spAutoFit/>
          </a:bodyPr>
          <a:lstStyle/>
          <a:p>
            <a:pPr algn="l"/>
            <a:r>
              <a:rPr sz="1620" b="0">
                <a:solidFill>
                  <a:srgbClr val="3D4756"/>
                </a:solidFill>
                <a:latin typeface="Calibri"/>
              </a:rPr>
              <a:t>Supports CAE, CVAE, VAE and Spline + PCA at dimensions 2, 3, 4 and 8.</a:t>
            </a:r>
          </a:p>
        </p:txBody>
      </p:sp>
      <p:sp>
        <p:nvSpPr>
          <p:cNvPr id="12" name="Rounded Rectangle 11"/>
          <p:cNvSpPr/>
          <p:nvPr/>
        </p:nvSpPr>
        <p:spPr>
          <a:xfrm>
            <a:off x="4475600" y="1188720"/>
            <a:ext cx="3240495" cy="3437541"/>
          </a:xfrm>
          <a:prstGeom prst="roundRect">
            <a:avLst/>
          </a:prstGeom>
          <a:solidFill>
            <a:srgbClr val="F8FAFC"/>
          </a:solidFill>
          <a:ln w="9525">
            <a:solidFill>
              <a:srgbClr val="E5E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25732" y="1538852"/>
            <a:ext cx="2540231" cy="255305"/>
          </a:xfrm>
          <a:prstGeom prst="rect">
            <a:avLst/>
          </a:prstGeom>
          <a:noFill/>
        </p:spPr>
        <p:txBody>
          <a:bodyPr wrap="square" lIns="0" rIns="0" tIns="0" bIns="0">
            <a:spAutoFit/>
          </a:bodyPr>
          <a:lstStyle/>
          <a:p>
            <a:pPr algn="l"/>
            <a:r>
              <a:rPr sz="1546" b="1">
                <a:solidFill>
                  <a:srgbClr val="1B6FEA"/>
                </a:solidFill>
                <a:latin typeface="Calibri"/>
              </a:rPr>
              <a:t>2</a:t>
            </a:r>
          </a:p>
        </p:txBody>
      </p:sp>
      <p:sp>
        <p:nvSpPr>
          <p:cNvPr id="14" name="TextBox 13"/>
          <p:cNvSpPr txBox="1"/>
          <p:nvPr/>
        </p:nvSpPr>
        <p:spPr>
          <a:xfrm>
            <a:off x="4825732" y="1901890"/>
            <a:ext cx="2540231" cy="875330"/>
          </a:xfrm>
          <a:prstGeom prst="rect">
            <a:avLst/>
          </a:prstGeom>
          <a:noFill/>
        </p:spPr>
        <p:txBody>
          <a:bodyPr wrap="square" lIns="0" rIns="0" tIns="0" bIns="0">
            <a:spAutoFit/>
          </a:bodyPr>
          <a:lstStyle/>
          <a:p>
            <a:pPr algn="l"/>
            <a:r>
              <a:rPr sz="2650" b="1">
                <a:solidFill>
                  <a:srgbClr val="161E2E"/>
                </a:solidFill>
                <a:latin typeface="Calibri"/>
              </a:rPr>
              <a:t>Fingerprint selection</a:t>
            </a:r>
          </a:p>
        </p:txBody>
      </p:sp>
      <p:sp>
        <p:nvSpPr>
          <p:cNvPr id="15" name="TextBox 14"/>
          <p:cNvSpPr txBox="1"/>
          <p:nvPr/>
        </p:nvSpPr>
        <p:spPr>
          <a:xfrm>
            <a:off x="4825732" y="2938819"/>
            <a:ext cx="2540231" cy="1337310"/>
          </a:xfrm>
          <a:prstGeom prst="rect">
            <a:avLst/>
          </a:prstGeom>
          <a:noFill/>
        </p:spPr>
        <p:txBody>
          <a:bodyPr wrap="square" lIns="0" rIns="0" tIns="0" bIns="0">
            <a:spAutoFit/>
          </a:bodyPr>
          <a:lstStyle/>
          <a:p>
            <a:pPr algn="l"/>
            <a:r>
              <a:rPr sz="1620" b="0">
                <a:solidFill>
                  <a:srgbClr val="3D4756"/>
                </a:solidFill>
                <a:latin typeface="Calibri"/>
              </a:rPr>
              <a:t>Slider control over the latent coordinates and real-time simulation of the resulting trajectory.</a:t>
            </a:r>
          </a:p>
        </p:txBody>
      </p:sp>
      <p:sp>
        <p:nvSpPr>
          <p:cNvPr id="16" name="Rounded Rectangle 15"/>
          <p:cNvSpPr/>
          <p:nvPr/>
        </p:nvSpPr>
        <p:spPr>
          <a:xfrm>
            <a:off x="8173960" y="1188720"/>
            <a:ext cx="3240495" cy="3437541"/>
          </a:xfrm>
          <a:prstGeom prst="roundRect">
            <a:avLst/>
          </a:prstGeom>
          <a:solidFill>
            <a:srgbClr val="F8FAFC"/>
          </a:solidFill>
          <a:ln w="9525">
            <a:solidFill>
              <a:srgbClr val="E5E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24092" y="1538852"/>
            <a:ext cx="2540231" cy="255305"/>
          </a:xfrm>
          <a:prstGeom prst="rect">
            <a:avLst/>
          </a:prstGeom>
          <a:noFill/>
        </p:spPr>
        <p:txBody>
          <a:bodyPr wrap="square" lIns="0" rIns="0" tIns="0" bIns="0">
            <a:spAutoFit/>
          </a:bodyPr>
          <a:lstStyle/>
          <a:p>
            <a:pPr algn="l"/>
            <a:r>
              <a:rPr sz="1546" b="1">
                <a:solidFill>
                  <a:srgbClr val="1B6FEA"/>
                </a:solidFill>
                <a:latin typeface="Calibri"/>
              </a:rPr>
              <a:t>3</a:t>
            </a:r>
          </a:p>
        </p:txBody>
      </p:sp>
      <p:sp>
        <p:nvSpPr>
          <p:cNvPr id="18" name="TextBox 17"/>
          <p:cNvSpPr txBox="1"/>
          <p:nvPr/>
        </p:nvSpPr>
        <p:spPr>
          <a:xfrm>
            <a:off x="8524092" y="1901890"/>
            <a:ext cx="2540231" cy="875330"/>
          </a:xfrm>
          <a:prstGeom prst="rect">
            <a:avLst/>
          </a:prstGeom>
          <a:noFill/>
        </p:spPr>
        <p:txBody>
          <a:bodyPr wrap="square" lIns="0" rIns="0" tIns="0" bIns="0">
            <a:spAutoFit/>
          </a:bodyPr>
          <a:lstStyle/>
          <a:p>
            <a:pPr algn="l"/>
            <a:r>
              <a:rPr sz="2650" b="1">
                <a:solidFill>
                  <a:srgbClr val="161E2E"/>
                </a:solidFill>
                <a:latin typeface="Calibri"/>
              </a:rPr>
              <a:t>Distribution sampling</a:t>
            </a:r>
          </a:p>
        </p:txBody>
      </p:sp>
      <p:sp>
        <p:nvSpPr>
          <p:cNvPr id="19" name="TextBox 18"/>
          <p:cNvSpPr txBox="1"/>
          <p:nvPr/>
        </p:nvSpPr>
        <p:spPr>
          <a:xfrm>
            <a:off x="8524092" y="2938819"/>
            <a:ext cx="2540231" cy="1337310"/>
          </a:xfrm>
          <a:prstGeom prst="rect">
            <a:avLst/>
          </a:prstGeom>
          <a:noFill/>
        </p:spPr>
        <p:txBody>
          <a:bodyPr wrap="square" lIns="0" rIns="0" tIns="0" bIns="0">
            <a:spAutoFit/>
          </a:bodyPr>
          <a:lstStyle/>
          <a:p>
            <a:pPr algn="l"/>
            <a:r>
              <a:rPr sz="1620" b="0">
                <a:solidFill>
                  <a:srgbClr val="3D4756"/>
                </a:solidFill>
                <a:latin typeface="Calibri"/>
              </a:rPr>
              <a:t>Generate 25 to 500 trajectories and compare them against the participant's real data.</a:t>
            </a:r>
          </a:p>
        </p:txBody>
      </p:sp>
      <p:sp>
        <p:nvSpPr>
          <p:cNvPr id="20" name="Rounded Rectangle 19"/>
          <p:cNvSpPr/>
          <p:nvPr/>
        </p:nvSpPr>
        <p:spPr>
          <a:xfrm>
            <a:off x="777240" y="4922527"/>
            <a:ext cx="10637215" cy="1372472"/>
          </a:xfrm>
          <a:prstGeom prst="roundRect">
            <a:avLst/>
          </a:prstGeom>
          <a:solidFill>
            <a:srgbClr val="0E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27372" y="5164926"/>
            <a:ext cx="9936950" cy="243147"/>
          </a:xfrm>
          <a:prstGeom prst="rect">
            <a:avLst/>
          </a:prstGeom>
          <a:noFill/>
        </p:spPr>
        <p:txBody>
          <a:bodyPr wrap="square" lIns="0" rIns="0" tIns="0" bIns="0">
            <a:spAutoFit/>
          </a:bodyPr>
          <a:lstStyle/>
          <a:p>
            <a:pPr algn="l"/>
            <a:r>
              <a:rPr sz="1472" b="0">
                <a:solidFill>
                  <a:srgbClr val="3EB1EC"/>
                </a:solidFill>
                <a:latin typeface="Calibri"/>
              </a:rPr>
              <a:t>Run locally in a terminal:</a:t>
            </a:r>
          </a:p>
        </p:txBody>
      </p:sp>
      <p:sp>
        <p:nvSpPr>
          <p:cNvPr id="22" name="Rounded Rectangle 21"/>
          <p:cNvSpPr/>
          <p:nvPr/>
        </p:nvSpPr>
        <p:spPr>
          <a:xfrm>
            <a:off x="1127372" y="5569672"/>
            <a:ext cx="1956211" cy="482928"/>
          </a:xfrm>
          <a:prstGeom prst="roundRect">
            <a:avLst/>
          </a:prstGeom>
          <a:solidFill>
            <a:srgbClr val="1B6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20" b="1">
                <a:solidFill>
                  <a:srgbClr val="FFFFFF"/>
                </a:solidFill>
                <a:latin typeface="Calibri"/>
              </a:rPr>
              <a:t>Streamlit App</a:t>
            </a:r>
          </a:p>
        </p:txBody>
      </p:sp>
      <p:sp>
        <p:nvSpPr>
          <p:cNvPr id="23" name="TextBox 22"/>
          <p:cNvSpPr txBox="1"/>
          <p:nvPr/>
        </p:nvSpPr>
        <p:spPr>
          <a:xfrm>
            <a:off x="3487582" y="5665247"/>
            <a:ext cx="7442074" cy="291777"/>
          </a:xfrm>
          <a:prstGeom prst="rect">
            <a:avLst/>
          </a:prstGeom>
          <a:noFill/>
        </p:spPr>
        <p:txBody>
          <a:bodyPr wrap="square" lIns="0" rIns="0" tIns="0" bIns="0">
            <a:spAutoFit/>
          </a:bodyPr>
          <a:lstStyle/>
          <a:p>
            <a:pPr algn="l"/>
            <a:r>
              <a:rPr sz="1767" b="0">
                <a:solidFill>
                  <a:srgbClr val="D6DEE8"/>
                </a:solidFill>
                <a:latin typeface="Consolas"/>
              </a:rPr>
              <a:t>python -m streamlit run src/confirmatory_dashboard.py --server.port 8510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104847" cy="77724"/>
          </a:xfrm>
          <a:prstGeom prst="rect">
            <a:avLst/>
          </a:prstGeom>
          <a:gradFill rotWithShape="1">
            <a:gsLst>
              <a:gs pos="0">
                <a:srgbClr val="1B6FEA"/>
              </a:gs>
              <a:gs pos="100000">
                <a:srgbClr val="17A2A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847" y="0"/>
            <a:ext cx="6104847" cy="77724"/>
          </a:xfrm>
          <a:prstGeom prst="rect">
            <a:avLst/>
          </a:prstGeom>
          <a:gradFill rotWithShape="1">
            <a:gsLst>
              <a:gs pos="0">
                <a:srgbClr val="17A2A2"/>
              </a:gs>
              <a:gs pos="100000">
                <a:srgbClr val="7A5CF0"/>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92608"/>
            <a:ext cx="8716975" cy="566928"/>
          </a:xfrm>
          <a:prstGeom prst="rect">
            <a:avLst/>
          </a:prstGeom>
          <a:noFill/>
        </p:spPr>
        <p:txBody>
          <a:bodyPr wrap="square" lIns="0" rIns="0" tIns="0" bIns="0">
            <a:spAutoFit/>
          </a:bodyPr>
          <a:lstStyle/>
          <a:p>
            <a:pPr algn="l"/>
            <a:r>
              <a:rPr sz="2400" b="1">
                <a:solidFill>
                  <a:srgbClr val="161E2E"/>
                </a:solidFill>
                <a:latin typeface="Calibri"/>
              </a:rPr>
              <a:t>Backup: resampling and the two time windows</a:t>
            </a:r>
          </a:p>
        </p:txBody>
      </p:sp>
      <p:sp>
        <p:nvSpPr>
          <p:cNvPr id="6" name="Rounded Rectangle 5"/>
          <p:cNvSpPr/>
          <p:nvPr/>
        </p:nvSpPr>
        <p:spPr>
          <a:xfrm>
            <a:off x="10604449" y="347472"/>
            <a:ext cx="810006" cy="327914"/>
          </a:xfrm>
          <a:prstGeom prst="roundRect">
            <a:avLst>
              <a:gd name="adj" fmla="val 50000"/>
            </a:avLst>
          </a:prstGeom>
          <a:solidFill>
            <a:srgbClr val="EF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737E8B"/>
                </a:solidFill>
                <a:latin typeface="Calibri"/>
              </a:rPr>
              <a:t>BACKUP</a:t>
            </a:r>
          </a:p>
        </p:txBody>
      </p:sp>
      <p:sp>
        <p:nvSpPr>
          <p:cNvPr id="7" name="Rectangle 6"/>
          <p:cNvSpPr/>
          <p:nvPr/>
        </p:nvSpPr>
        <p:spPr>
          <a:xfrm>
            <a:off x="777240" y="950976"/>
            <a:ext cx="10637215" cy="9525"/>
          </a:xfrm>
          <a:prstGeom prst="rect">
            <a:avLst/>
          </a:prstGeom>
          <a:solidFill>
            <a:srgbClr val="E1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188720"/>
            <a:ext cx="10637215" cy="395238"/>
          </a:xfrm>
          <a:prstGeom prst="rect">
            <a:avLst/>
          </a:prstGeom>
          <a:noFill/>
        </p:spPr>
        <p:txBody>
          <a:bodyPr wrap="square" lIns="0" rIns="0" tIns="0" bIns="0">
            <a:spAutoFit/>
          </a:bodyPr>
          <a:lstStyle/>
          <a:p>
            <a:pPr algn="l"/>
            <a:r>
              <a:rPr sz="2393" b="0">
                <a:solidFill>
                  <a:srgbClr val="3D4756"/>
                </a:solidFill>
                <a:latin typeface="Calibri"/>
              </a:rPr>
              <a:t>Model input: target motion to final tracker sample.</a:t>
            </a:r>
          </a:p>
        </p:txBody>
      </p:sp>
      <p:sp>
        <p:nvSpPr>
          <p:cNvPr id="9" name="TextBox 8"/>
          <p:cNvSpPr txBox="1"/>
          <p:nvPr/>
        </p:nvSpPr>
        <p:spPr>
          <a:xfrm>
            <a:off x="777240" y="1875826"/>
            <a:ext cx="10637215" cy="395238"/>
          </a:xfrm>
          <a:prstGeom prst="rect">
            <a:avLst/>
          </a:prstGeom>
          <a:noFill/>
        </p:spPr>
        <p:txBody>
          <a:bodyPr wrap="square" lIns="0" rIns="0" tIns="0" bIns="0">
            <a:spAutoFit/>
          </a:bodyPr>
          <a:lstStyle/>
          <a:p>
            <a:pPr algn="l"/>
            <a:r>
              <a:rPr sz="2393" b="0">
                <a:solidFill>
                  <a:srgbClr val="3D4756"/>
                </a:solidFill>
                <a:latin typeface="Calibri"/>
              </a:rPr>
              <a:t>Feature input: detected finger onset to end.</a:t>
            </a:r>
          </a:p>
        </p:txBody>
      </p:sp>
      <p:sp>
        <p:nvSpPr>
          <p:cNvPr id="10" name="TextBox 9"/>
          <p:cNvSpPr txBox="1"/>
          <p:nvPr/>
        </p:nvSpPr>
        <p:spPr>
          <a:xfrm>
            <a:off x="777240" y="2562932"/>
            <a:ext cx="10637215" cy="790476"/>
          </a:xfrm>
          <a:prstGeom prst="rect">
            <a:avLst/>
          </a:prstGeom>
          <a:noFill/>
        </p:spPr>
        <p:txBody>
          <a:bodyPr wrap="square" lIns="0" rIns="0" tIns="0" bIns="0">
            <a:spAutoFit/>
          </a:bodyPr>
          <a:lstStyle/>
          <a:p>
            <a:pPr algn="l"/>
            <a:r>
              <a:rPr sz="2393" b="0">
                <a:solidFill>
                  <a:srgbClr val="3D4756"/>
                </a:solidFill>
                <a:latin typeface="Calibri"/>
              </a:rPr>
              <a:t>A phase of 0.5 means half the selected time interval, not half the path length.</a:t>
            </a:r>
          </a:p>
        </p:txBody>
      </p:sp>
      <p:pic>
        <p:nvPicPr>
          <p:cNvPr id="11" name="Picture 10" descr="equation_resample.png"/>
          <p:cNvPicPr>
            <a:picLocks noChangeAspect="1"/>
          </p:cNvPicPr>
          <p:nvPr/>
        </p:nvPicPr>
        <p:blipFill>
          <a:blip r:embed="rId2"/>
          <a:stretch>
            <a:fillRect/>
          </a:stretch>
        </p:blipFill>
        <p:spPr>
          <a:xfrm>
            <a:off x="777240" y="3645276"/>
            <a:ext cx="10637215" cy="900169"/>
          </a:xfrm>
          <a:prstGeom prst="rect">
            <a:avLst/>
          </a:prstGeom>
        </p:spPr>
      </p:pic>
      <p:sp>
        <p:nvSpPr>
          <p:cNvPr id="12" name="Rectangle 11"/>
          <p:cNvSpPr/>
          <p:nvPr/>
        </p:nvSpPr>
        <p:spPr>
          <a:xfrm>
            <a:off x="777240" y="4837313"/>
            <a:ext cx="10637215" cy="1381308"/>
          </a:xfrm>
          <a:prstGeom prst="rect">
            <a:avLst/>
          </a:prstGeom>
          <a:solidFill>
            <a:srgbClr val="EF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837313"/>
            <a:ext cx="109450" cy="1381308"/>
          </a:xfrm>
          <a:prstGeom prst="rect">
            <a:avLst/>
          </a:prstGeom>
          <a:solidFill>
            <a:srgbClr val="1B6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15042" y="5129181"/>
            <a:ext cx="9579194" cy="724604"/>
          </a:xfrm>
          <a:prstGeom prst="rect">
            <a:avLst/>
          </a:prstGeom>
          <a:noFill/>
        </p:spPr>
        <p:txBody>
          <a:bodyPr wrap="square" lIns="0" rIns="0" tIns="0" bIns="0">
            <a:spAutoFit/>
          </a:bodyPr>
          <a:lstStyle/>
          <a:p>
            <a:pPr algn="l"/>
            <a:r>
              <a:rPr sz="2194" b="0">
                <a:solidFill>
                  <a:srgbClr val="3D4756"/>
                </a:solidFill>
                <a:latin typeface="Calibri"/>
              </a:rPr>
              <a:t>100 samples are a common representation, not 100 independent observations.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104847" cy="77724"/>
          </a:xfrm>
          <a:prstGeom prst="rect">
            <a:avLst/>
          </a:prstGeom>
          <a:gradFill rotWithShape="1">
            <a:gsLst>
              <a:gs pos="0">
                <a:srgbClr val="1B6FEA"/>
              </a:gs>
              <a:gs pos="100000">
                <a:srgbClr val="17A2A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847" y="0"/>
            <a:ext cx="6104847" cy="77724"/>
          </a:xfrm>
          <a:prstGeom prst="rect">
            <a:avLst/>
          </a:prstGeom>
          <a:gradFill rotWithShape="1">
            <a:gsLst>
              <a:gs pos="0">
                <a:srgbClr val="17A2A2"/>
              </a:gs>
              <a:gs pos="100000">
                <a:srgbClr val="7A5CF0"/>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92608"/>
            <a:ext cx="8716975" cy="566928"/>
          </a:xfrm>
          <a:prstGeom prst="rect">
            <a:avLst/>
          </a:prstGeom>
          <a:noFill/>
        </p:spPr>
        <p:txBody>
          <a:bodyPr wrap="square" lIns="0" rIns="0" tIns="0" bIns="0">
            <a:spAutoFit/>
          </a:bodyPr>
          <a:lstStyle/>
          <a:p>
            <a:pPr algn="l"/>
            <a:r>
              <a:rPr sz="2400" b="1">
                <a:solidFill>
                  <a:srgbClr val="161E2E"/>
                </a:solidFill>
                <a:latin typeface="Calibri"/>
              </a:rPr>
              <a:t>Backup: what becomes the PCA matrix?</a:t>
            </a:r>
          </a:p>
        </p:txBody>
      </p:sp>
      <p:sp>
        <p:nvSpPr>
          <p:cNvPr id="6" name="Rounded Rectangle 5"/>
          <p:cNvSpPr/>
          <p:nvPr/>
        </p:nvSpPr>
        <p:spPr>
          <a:xfrm>
            <a:off x="10604449" y="347472"/>
            <a:ext cx="810006" cy="327914"/>
          </a:xfrm>
          <a:prstGeom prst="roundRect">
            <a:avLst>
              <a:gd name="adj" fmla="val 50000"/>
            </a:avLst>
          </a:prstGeom>
          <a:solidFill>
            <a:srgbClr val="EF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737E8B"/>
                </a:solidFill>
                <a:latin typeface="Calibri"/>
              </a:rPr>
              <a:t>BACKUP</a:t>
            </a:r>
          </a:p>
        </p:txBody>
      </p:sp>
      <p:sp>
        <p:nvSpPr>
          <p:cNvPr id="7" name="Rectangle 6"/>
          <p:cNvSpPr/>
          <p:nvPr/>
        </p:nvSpPr>
        <p:spPr>
          <a:xfrm>
            <a:off x="777240" y="950976"/>
            <a:ext cx="10637215" cy="9525"/>
          </a:xfrm>
          <a:prstGeom prst="rect">
            <a:avLst/>
          </a:prstGeom>
          <a:solidFill>
            <a:srgbClr val="E1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777240" y="1188720"/>
          <a:ext cx="10637214" cy="4179098"/>
        </p:xfrm>
        <a:graphic>
          <a:graphicData uri="http://schemas.openxmlformats.org/drawingml/2006/table">
            <a:tbl>
              <a:tblPr firstRow="1" bandRow="1">
                <a:tableStyleId>{5C22544A-7EE6-4342-B048-85BDC9FD1C3A}</a:tableStyleId>
              </a:tblPr>
              <a:tblGrid>
                <a:gridCol w="3590060"/>
                <a:gridCol w="1994477"/>
                <a:gridCol w="5052677"/>
              </a:tblGrid>
              <a:tr h="597014">
                <a:tc>
                  <a:txBody>
                    <a:bodyPr/>
                    <a:lstStyle/>
                    <a:p>
                      <a:r>
                        <a:rPr sz="1564" b="1">
                          <a:solidFill>
                            <a:srgbClr val="FFFFFF"/>
                          </a:solidFill>
                          <a:latin typeface="Calibri"/>
                        </a:rPr>
                        <a:t>Object</a:t>
                      </a:r>
                    </a:p>
                  </a:txBody>
                  <a:tcPr marL="111940" marR="111940" marT="37313" marB="37313" anchor="ctr">
                    <a:solidFill>
                      <a:srgbClr val="0E1729"/>
                    </a:solidFill>
                  </a:tcPr>
                </a:tc>
                <a:tc>
                  <a:txBody>
                    <a:bodyPr/>
                    <a:lstStyle/>
                    <a:p>
                      <a:r>
                        <a:rPr sz="1564" b="1">
                          <a:solidFill>
                            <a:srgbClr val="FFFFFF"/>
                          </a:solidFill>
                          <a:latin typeface="Calibri"/>
                        </a:rPr>
                        <a:t>Dimensions</a:t>
                      </a:r>
                    </a:p>
                  </a:txBody>
                  <a:tcPr marL="111940" marR="111940" marT="37313" marB="37313" anchor="ctr">
                    <a:solidFill>
                      <a:srgbClr val="0E1729"/>
                    </a:solidFill>
                  </a:tcPr>
                </a:tc>
                <a:tc>
                  <a:txBody>
                    <a:bodyPr/>
                    <a:lstStyle/>
                    <a:p>
                      <a:r>
                        <a:rPr sz="1564" b="1">
                          <a:solidFill>
                            <a:srgbClr val="FFFFFF"/>
                          </a:solidFill>
                          <a:latin typeface="Calibri"/>
                        </a:rPr>
                        <a:t>One row / one column means</a:t>
                      </a:r>
                    </a:p>
                  </a:txBody>
                  <a:tcPr marL="111940" marR="111940" marT="37313" marB="37313" anchor="ctr">
                    <a:solidFill>
                      <a:srgbClr val="0E1729"/>
                    </a:solidFill>
                  </a:tcPr>
                </a:tc>
              </a:tr>
              <a:tr h="597014">
                <a:tc>
                  <a:txBody>
                    <a:bodyPr/>
                    <a:lstStyle/>
                    <a:p>
                      <a:r>
                        <a:rPr sz="1564" b="1">
                          <a:solidFill>
                            <a:srgbClr val="161E2E"/>
                          </a:solidFill>
                          <a:latin typeface="Calibri"/>
                        </a:rPr>
                        <a:t>Sampled trial</a:t>
                      </a:r>
                    </a:p>
                  </a:txBody>
                  <a:tcPr marL="111940" marR="111940" marT="37313" marB="37313" anchor="ctr">
                    <a:solidFill>
                      <a:srgbClr val="FFFFFF"/>
                    </a:solidFill>
                  </a:tcPr>
                </a:tc>
                <a:tc>
                  <a:txBody>
                    <a:bodyPr/>
                    <a:lstStyle/>
                    <a:p>
                      <a:r>
                        <a:rPr sz="1564" b="0">
                          <a:solidFill>
                            <a:srgbClr val="3D4756"/>
                          </a:solidFill>
                          <a:latin typeface="Calibri"/>
                        </a:rPr>
                        <a:t>100 × 2</a:t>
                      </a:r>
                    </a:p>
                  </a:txBody>
                  <a:tcPr marL="111940" marR="111940" marT="37313" marB="37313" anchor="ctr">
                    <a:solidFill>
                      <a:srgbClr val="FFFFFF"/>
                    </a:solidFill>
                  </a:tcPr>
                </a:tc>
                <a:tc>
                  <a:txBody>
                    <a:bodyPr/>
                    <a:lstStyle/>
                    <a:p>
                      <a:r>
                        <a:rPr sz="1564" b="0">
                          <a:solidFill>
                            <a:srgbClr val="3D4756"/>
                          </a:solidFill>
                          <a:latin typeface="Calibri"/>
                        </a:rPr>
                        <a:t>Time point / x or y</a:t>
                      </a:r>
                    </a:p>
                  </a:txBody>
                  <a:tcPr marL="111940" marR="111940" marT="37313" marB="37313" anchor="ctr">
                    <a:solidFill>
                      <a:srgbClr val="FFFFFF"/>
                    </a:solidFill>
                  </a:tcPr>
                </a:tc>
              </a:tr>
              <a:tr h="597014">
                <a:tc>
                  <a:txBody>
                    <a:bodyPr/>
                    <a:lstStyle/>
                    <a:p>
                      <a:r>
                        <a:rPr sz="1564" b="1">
                          <a:solidFill>
                            <a:srgbClr val="161E2E"/>
                          </a:solidFill>
                          <a:latin typeface="Calibri"/>
                        </a:rPr>
                        <a:t>Spline basis B</a:t>
                      </a:r>
                    </a:p>
                  </a:txBody>
                  <a:tcPr marL="111940" marR="111940" marT="37313" marB="37313" anchor="ctr">
                    <a:solidFill>
                      <a:srgbClr val="F8FAFC"/>
                    </a:solidFill>
                  </a:tcPr>
                </a:tc>
                <a:tc>
                  <a:txBody>
                    <a:bodyPr/>
                    <a:lstStyle/>
                    <a:p>
                      <a:r>
                        <a:rPr sz="1564" b="0">
                          <a:solidFill>
                            <a:srgbClr val="3D4756"/>
                          </a:solidFill>
                          <a:latin typeface="Calibri"/>
                        </a:rPr>
                        <a:t>100 x 9</a:t>
                      </a:r>
                    </a:p>
                  </a:txBody>
                  <a:tcPr marL="111940" marR="111940" marT="37313" marB="37313" anchor="ctr">
                    <a:solidFill>
                      <a:srgbClr val="F8FAFC"/>
                    </a:solidFill>
                  </a:tcPr>
                </a:tc>
                <a:tc>
                  <a:txBody>
                    <a:bodyPr/>
                    <a:lstStyle/>
                    <a:p>
                      <a:r>
                        <a:rPr sz="1564" b="0">
                          <a:solidFill>
                            <a:srgbClr val="3D4756"/>
                          </a:solidFill>
                          <a:latin typeface="Calibri"/>
                        </a:rPr>
                        <a:t>Time point / basis function</a:t>
                      </a:r>
                    </a:p>
                  </a:txBody>
                  <a:tcPr marL="111940" marR="111940" marT="37313" marB="37313" anchor="ctr">
                    <a:solidFill>
                      <a:srgbClr val="F8FAFC"/>
                    </a:solidFill>
                  </a:tcPr>
                </a:tc>
              </a:tr>
              <a:tr h="597014">
                <a:tc>
                  <a:txBody>
                    <a:bodyPr/>
                    <a:lstStyle/>
                    <a:p>
                      <a:r>
                        <a:rPr sz="1564" b="1">
                          <a:solidFill>
                            <a:srgbClr val="161E2E"/>
                          </a:solidFill>
                          <a:latin typeface="Calibri"/>
                        </a:rPr>
                        <a:t>Trial coefficient vector</a:t>
                      </a:r>
                    </a:p>
                  </a:txBody>
                  <a:tcPr marL="111940" marR="111940" marT="37313" marB="37313" anchor="ctr">
                    <a:solidFill>
                      <a:srgbClr val="FFFFFF"/>
                    </a:solidFill>
                  </a:tcPr>
                </a:tc>
                <a:tc>
                  <a:txBody>
                    <a:bodyPr/>
                    <a:lstStyle/>
                    <a:p>
                      <a:r>
                        <a:rPr sz="1564" b="0">
                          <a:solidFill>
                            <a:srgbClr val="3D4756"/>
                          </a:solidFill>
                          <a:latin typeface="Calibri"/>
                        </a:rPr>
                        <a:t>18</a:t>
                      </a:r>
                    </a:p>
                  </a:txBody>
                  <a:tcPr marL="111940" marR="111940" marT="37313" marB="37313" anchor="ctr">
                    <a:solidFill>
                      <a:srgbClr val="FFFFFF"/>
                    </a:solidFill>
                  </a:tcPr>
                </a:tc>
                <a:tc>
                  <a:txBody>
                    <a:bodyPr/>
                    <a:lstStyle/>
                    <a:p>
                      <a:r>
                        <a:rPr sz="1564" b="0">
                          <a:solidFill>
                            <a:srgbClr val="3D4756"/>
                          </a:solidFill>
                          <a:latin typeface="Calibri"/>
                        </a:rPr>
                        <a:t>Nine x coefficients followed by nine y</a:t>
                      </a:r>
                    </a:p>
                  </a:txBody>
                  <a:tcPr marL="111940" marR="111940" marT="37313" marB="37313" anchor="ctr">
                    <a:solidFill>
                      <a:srgbClr val="FFFFFF"/>
                    </a:solidFill>
                  </a:tcPr>
                </a:tc>
              </a:tr>
              <a:tr h="597014">
                <a:tc>
                  <a:txBody>
                    <a:bodyPr/>
                    <a:lstStyle/>
                    <a:p>
                      <a:r>
                        <a:rPr sz="1564" b="1">
                          <a:solidFill>
                            <a:srgbClr val="161E2E"/>
                          </a:solidFill>
                          <a:latin typeface="Calibri"/>
                        </a:rPr>
                        <a:t>Training coefficient matrix</a:t>
                      </a:r>
                    </a:p>
                  </a:txBody>
                  <a:tcPr marL="111940" marR="111940" marT="37313" marB="37313" anchor="ctr">
                    <a:solidFill>
                      <a:srgbClr val="F8FAFC"/>
                    </a:solidFill>
                  </a:tcPr>
                </a:tc>
                <a:tc>
                  <a:txBody>
                    <a:bodyPr/>
                    <a:lstStyle/>
                    <a:p>
                      <a:r>
                        <a:rPr sz="1564" b="0">
                          <a:solidFill>
                            <a:srgbClr val="3D4756"/>
                          </a:solidFill>
                          <a:latin typeface="Calibri"/>
                        </a:rPr>
                        <a:t>N training x 18</a:t>
                      </a:r>
                    </a:p>
                  </a:txBody>
                  <a:tcPr marL="111940" marR="111940" marT="37313" marB="37313" anchor="ctr">
                    <a:solidFill>
                      <a:srgbClr val="F8FAFC"/>
                    </a:solidFill>
                  </a:tcPr>
                </a:tc>
                <a:tc>
                  <a:txBody>
                    <a:bodyPr/>
                    <a:lstStyle/>
                    <a:p>
                      <a:r>
                        <a:rPr sz="1564" b="0">
                          <a:solidFill>
                            <a:srgbClr val="3D4756"/>
                          </a:solidFill>
                          <a:latin typeface="Calibri"/>
                        </a:rPr>
                        <a:t>Trial / coefficient</a:t>
                      </a:r>
                    </a:p>
                  </a:txBody>
                  <a:tcPr marL="111940" marR="111940" marT="37313" marB="37313" anchor="ctr">
                    <a:solidFill>
                      <a:srgbClr val="F8FAFC"/>
                    </a:solidFill>
                  </a:tcPr>
                </a:tc>
              </a:tr>
              <a:tr h="597014">
                <a:tc>
                  <a:txBody>
                    <a:bodyPr/>
                    <a:lstStyle/>
                    <a:p>
                      <a:r>
                        <a:rPr sz="1564" b="1">
                          <a:solidFill>
                            <a:srgbClr val="161E2E"/>
                          </a:solidFill>
                          <a:latin typeface="Calibri"/>
                        </a:rPr>
                        <a:t>PCA directions V</a:t>
                      </a:r>
                    </a:p>
                  </a:txBody>
                  <a:tcPr marL="111940" marR="111940" marT="37313" marB="37313" anchor="ctr">
                    <a:solidFill>
                      <a:srgbClr val="FFFFFF"/>
                    </a:solidFill>
                  </a:tcPr>
                </a:tc>
                <a:tc>
                  <a:txBody>
                    <a:bodyPr/>
                    <a:lstStyle/>
                    <a:p>
                      <a:r>
                        <a:rPr sz="1564" b="0">
                          <a:solidFill>
                            <a:srgbClr val="3D4756"/>
                          </a:solidFill>
                          <a:latin typeface="Calibri"/>
                        </a:rPr>
                        <a:t>18 x n</a:t>
                      </a:r>
                    </a:p>
                  </a:txBody>
                  <a:tcPr marL="111940" marR="111940" marT="37313" marB="37313" anchor="ctr">
                    <a:solidFill>
                      <a:srgbClr val="FFFFFF"/>
                    </a:solidFill>
                  </a:tcPr>
                </a:tc>
                <a:tc>
                  <a:txBody>
                    <a:bodyPr/>
                    <a:lstStyle/>
                    <a:p>
                      <a:r>
                        <a:rPr sz="1564" b="0">
                          <a:solidFill>
                            <a:srgbClr val="3D4756"/>
                          </a:solidFill>
                          <a:latin typeface="Calibri"/>
                        </a:rPr>
                        <a:t>Coefficient / retained component</a:t>
                      </a:r>
                    </a:p>
                  </a:txBody>
                  <a:tcPr marL="111940" marR="111940" marT="37313" marB="37313" anchor="ctr">
                    <a:solidFill>
                      <a:srgbClr val="FFFFFF"/>
                    </a:solidFill>
                  </a:tcPr>
                </a:tc>
              </a:tr>
              <a:tr h="597014">
                <a:tc>
                  <a:txBody>
                    <a:bodyPr/>
                    <a:lstStyle/>
                    <a:p>
                      <a:r>
                        <a:rPr sz="1564" b="1">
                          <a:solidFill>
                            <a:srgbClr val="161E2E"/>
                          </a:solidFill>
                          <a:latin typeface="Calibri"/>
                        </a:rPr>
                        <a:t>Training latent codes</a:t>
                      </a:r>
                    </a:p>
                  </a:txBody>
                  <a:tcPr marL="111940" marR="111940" marT="37313" marB="37313" anchor="ctr">
                    <a:solidFill>
                      <a:srgbClr val="F8FAFC"/>
                    </a:solidFill>
                  </a:tcPr>
                </a:tc>
                <a:tc>
                  <a:txBody>
                    <a:bodyPr/>
                    <a:lstStyle/>
                    <a:p>
                      <a:r>
                        <a:rPr sz="1564" b="0">
                          <a:solidFill>
                            <a:srgbClr val="3D4756"/>
                          </a:solidFill>
                          <a:latin typeface="Calibri"/>
                        </a:rPr>
                        <a:t>N training x n</a:t>
                      </a:r>
                    </a:p>
                  </a:txBody>
                  <a:tcPr marL="111940" marR="111940" marT="37313" marB="37313" anchor="ctr">
                    <a:solidFill>
                      <a:srgbClr val="F8FAFC"/>
                    </a:solidFill>
                  </a:tcPr>
                </a:tc>
                <a:tc>
                  <a:txBody>
                    <a:bodyPr/>
                    <a:lstStyle/>
                    <a:p>
                      <a:r>
                        <a:rPr sz="1564" b="0">
                          <a:solidFill>
                            <a:srgbClr val="3D4756"/>
                          </a:solidFill>
                          <a:latin typeface="Calibri"/>
                        </a:rPr>
                        <a:t>Trial / latent coordinate</a:t>
                      </a:r>
                    </a:p>
                  </a:txBody>
                  <a:tcPr marL="111940" marR="111940" marT="37313" marB="37313" anchor="ctr">
                    <a:solidFill>
                      <a:srgbClr val="F8FAFC"/>
                    </a:solidFill>
                  </a:tcPr>
                </a:tc>
              </a:tr>
            </a:tbl>
          </a:graphicData>
        </a:graphic>
      </p:graphicFrame>
      <p:sp>
        <p:nvSpPr>
          <p:cNvPr id="9" name="Rectangle 8"/>
          <p:cNvSpPr/>
          <p:nvPr/>
        </p:nvSpPr>
        <p:spPr>
          <a:xfrm>
            <a:off x="777240" y="5616573"/>
            <a:ext cx="10637215" cy="694788"/>
          </a:xfrm>
          <a:prstGeom prst="rect">
            <a:avLst/>
          </a:prstGeom>
          <a:solidFill>
            <a:srgbClr val="EF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616573"/>
            <a:ext cx="74626" cy="694788"/>
          </a:xfrm>
          <a:prstGeom prst="rect">
            <a:avLst/>
          </a:prstGeom>
          <a:solidFill>
            <a:srgbClr val="1B6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75747" y="5815577"/>
            <a:ext cx="9915824" cy="247028"/>
          </a:xfrm>
          <a:prstGeom prst="rect">
            <a:avLst/>
          </a:prstGeom>
          <a:noFill/>
        </p:spPr>
        <p:txBody>
          <a:bodyPr wrap="square" lIns="0" rIns="0" tIns="0" bIns="0">
            <a:spAutoFit/>
          </a:bodyPr>
          <a:lstStyle/>
          <a:p>
            <a:pPr algn="l"/>
            <a:r>
              <a:rPr sz="1496" b="0">
                <a:solidFill>
                  <a:srgbClr val="3D4756"/>
                </a:solidFill>
                <a:latin typeface="Calibri"/>
              </a:rPr>
              <a:t>Five interior knots + degree 3 + 1 = nine coefficients per axis.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104847" cy="77724"/>
          </a:xfrm>
          <a:prstGeom prst="rect">
            <a:avLst/>
          </a:prstGeom>
          <a:gradFill rotWithShape="1">
            <a:gsLst>
              <a:gs pos="0">
                <a:srgbClr val="1B6FEA"/>
              </a:gs>
              <a:gs pos="100000">
                <a:srgbClr val="17A2A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847" y="0"/>
            <a:ext cx="6104847" cy="77724"/>
          </a:xfrm>
          <a:prstGeom prst="rect">
            <a:avLst/>
          </a:prstGeom>
          <a:gradFill rotWithShape="1">
            <a:gsLst>
              <a:gs pos="0">
                <a:srgbClr val="17A2A2"/>
              </a:gs>
              <a:gs pos="100000">
                <a:srgbClr val="7A5CF0"/>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92608"/>
            <a:ext cx="8716975" cy="566928"/>
          </a:xfrm>
          <a:prstGeom prst="rect">
            <a:avLst/>
          </a:prstGeom>
          <a:noFill/>
        </p:spPr>
        <p:txBody>
          <a:bodyPr wrap="square" lIns="0" rIns="0" tIns="0" bIns="0">
            <a:spAutoFit/>
          </a:bodyPr>
          <a:lstStyle/>
          <a:p>
            <a:pPr algn="l"/>
            <a:r>
              <a:rPr sz="2400" b="1">
                <a:solidFill>
                  <a:srgbClr val="161E2E"/>
                </a:solidFill>
                <a:latin typeface="Calibri"/>
              </a:rPr>
              <a:t>Backup: fitting and decoding spline + PCA</a:t>
            </a:r>
          </a:p>
        </p:txBody>
      </p:sp>
      <p:sp>
        <p:nvSpPr>
          <p:cNvPr id="6" name="Rounded Rectangle 5"/>
          <p:cNvSpPr/>
          <p:nvPr/>
        </p:nvSpPr>
        <p:spPr>
          <a:xfrm>
            <a:off x="10604449" y="347472"/>
            <a:ext cx="810006" cy="327914"/>
          </a:xfrm>
          <a:prstGeom prst="roundRect">
            <a:avLst>
              <a:gd name="adj" fmla="val 50000"/>
            </a:avLst>
          </a:prstGeom>
          <a:solidFill>
            <a:srgbClr val="EF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737E8B"/>
                </a:solidFill>
                <a:latin typeface="Calibri"/>
              </a:rPr>
              <a:t>BACKUP</a:t>
            </a:r>
          </a:p>
        </p:txBody>
      </p:sp>
      <p:sp>
        <p:nvSpPr>
          <p:cNvPr id="7" name="Rectangle 6"/>
          <p:cNvSpPr/>
          <p:nvPr/>
        </p:nvSpPr>
        <p:spPr>
          <a:xfrm>
            <a:off x="777240" y="950976"/>
            <a:ext cx="10637215" cy="9525"/>
          </a:xfrm>
          <a:prstGeom prst="rect">
            <a:avLst/>
          </a:prstGeom>
          <a:solidFill>
            <a:srgbClr val="E1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188720"/>
            <a:ext cx="10637215" cy="396240"/>
          </a:xfrm>
          <a:prstGeom prst="rect">
            <a:avLst/>
          </a:prstGeom>
          <a:noFill/>
        </p:spPr>
        <p:txBody>
          <a:bodyPr wrap="square" lIns="0" rIns="0" tIns="0" bIns="0">
            <a:spAutoFit/>
          </a:bodyPr>
          <a:lstStyle/>
          <a:p>
            <a:pPr algn="l"/>
            <a:r>
              <a:rPr sz="2400" b="0">
                <a:solidFill>
                  <a:srgbClr val="3D4756"/>
                </a:solidFill>
                <a:latin typeface="Calibri"/>
              </a:rPr>
              <a:t>Fit the two coordinate coefficient vectors by least squares.</a:t>
            </a:r>
          </a:p>
        </p:txBody>
      </p:sp>
      <p:sp>
        <p:nvSpPr>
          <p:cNvPr id="9" name="TextBox 8"/>
          <p:cNvSpPr txBox="1"/>
          <p:nvPr/>
        </p:nvSpPr>
        <p:spPr>
          <a:xfrm>
            <a:off x="777240" y="1877568"/>
            <a:ext cx="10637215" cy="396240"/>
          </a:xfrm>
          <a:prstGeom prst="rect">
            <a:avLst/>
          </a:prstGeom>
          <a:noFill/>
        </p:spPr>
        <p:txBody>
          <a:bodyPr wrap="square" lIns="0" rIns="0" tIns="0" bIns="0">
            <a:spAutoFit/>
          </a:bodyPr>
          <a:lstStyle/>
          <a:p>
            <a:pPr algn="l"/>
            <a:r>
              <a:rPr sz="2400" b="0">
                <a:solidFill>
                  <a:srgbClr val="3D4756"/>
                </a:solidFill>
                <a:latin typeface="Calibri"/>
              </a:rPr>
              <a:t>Validation selects raw or standardized coefficients.</a:t>
            </a:r>
          </a:p>
        </p:txBody>
      </p:sp>
      <p:sp>
        <p:nvSpPr>
          <p:cNvPr id="10" name="TextBox 9"/>
          <p:cNvSpPr txBox="1"/>
          <p:nvPr/>
        </p:nvSpPr>
        <p:spPr>
          <a:xfrm>
            <a:off x="777240" y="2566416"/>
            <a:ext cx="10637215" cy="792480"/>
          </a:xfrm>
          <a:prstGeom prst="rect">
            <a:avLst/>
          </a:prstGeom>
          <a:noFill/>
        </p:spPr>
        <p:txBody>
          <a:bodyPr wrap="square" lIns="0" rIns="0" tIns="0" bIns="0">
            <a:spAutoFit/>
          </a:bodyPr>
          <a:lstStyle/>
          <a:p>
            <a:pPr algn="l"/>
            <a:r>
              <a:rPr sz="2400" b="0">
                <a:solidFill>
                  <a:srgbClr val="3D4756"/>
                </a:solidFill>
                <a:latin typeface="Calibri"/>
              </a:rPr>
              <a:t>Inverse PCA gives coefficients; multiplying by B restores the path.</a:t>
            </a:r>
          </a:p>
        </p:txBody>
      </p:sp>
      <p:pic>
        <p:nvPicPr>
          <p:cNvPr id="11" name="Picture 10" descr="equation_pca.png"/>
          <p:cNvPicPr>
            <a:picLocks noChangeAspect="1"/>
          </p:cNvPicPr>
          <p:nvPr/>
        </p:nvPicPr>
        <p:blipFill>
          <a:blip r:embed="rId2"/>
          <a:stretch>
            <a:fillRect/>
          </a:stretch>
        </p:blipFill>
        <p:spPr>
          <a:xfrm>
            <a:off x="777240" y="3651504"/>
            <a:ext cx="10637215" cy="818247"/>
          </a:xfrm>
          <a:prstGeom prst="rect">
            <a:avLst/>
          </a:prstGeom>
        </p:spPr>
      </p:pic>
      <p:sp>
        <p:nvSpPr>
          <p:cNvPr id="12" name="Rectangle 11"/>
          <p:cNvSpPr/>
          <p:nvPr/>
        </p:nvSpPr>
        <p:spPr>
          <a:xfrm>
            <a:off x="777240" y="4762359"/>
            <a:ext cx="10637215" cy="1384808"/>
          </a:xfrm>
          <a:prstGeom prst="rect">
            <a:avLst/>
          </a:prstGeom>
          <a:solidFill>
            <a:srgbClr val="EF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762359"/>
            <a:ext cx="109728" cy="1384808"/>
          </a:xfrm>
          <a:prstGeom prst="rect">
            <a:avLst/>
          </a:prstGeom>
          <a:solidFill>
            <a:srgbClr val="1B6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16152" y="5054967"/>
            <a:ext cx="9576511" cy="726440"/>
          </a:xfrm>
          <a:prstGeom prst="rect">
            <a:avLst/>
          </a:prstGeom>
          <a:noFill/>
        </p:spPr>
        <p:txBody>
          <a:bodyPr wrap="square" lIns="0" rIns="0" tIns="0" bIns="0">
            <a:spAutoFit/>
          </a:bodyPr>
          <a:lstStyle/>
          <a:p>
            <a:pPr algn="l"/>
            <a:r>
              <a:rPr sz="2200" b="0">
                <a:solidFill>
                  <a:srgbClr val="3D4756"/>
                </a:solidFill>
                <a:latin typeface="Calibri"/>
              </a:rPr>
              <a:t>m and d combine centering/scaling; V contains retained PCA directions. Raw PCA uses d = 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104847" cy="77724"/>
          </a:xfrm>
          <a:prstGeom prst="rect">
            <a:avLst/>
          </a:prstGeom>
          <a:gradFill rotWithShape="1">
            <a:gsLst>
              <a:gs pos="0">
                <a:srgbClr val="1B6FEA"/>
              </a:gs>
              <a:gs pos="100000">
                <a:srgbClr val="17A2A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847" y="0"/>
            <a:ext cx="6104847" cy="77724"/>
          </a:xfrm>
          <a:prstGeom prst="rect">
            <a:avLst/>
          </a:prstGeom>
          <a:gradFill rotWithShape="1">
            <a:gsLst>
              <a:gs pos="0">
                <a:srgbClr val="17A2A2"/>
              </a:gs>
              <a:gs pos="100000">
                <a:srgbClr val="7A5CF0"/>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92608"/>
            <a:ext cx="8716975" cy="566928"/>
          </a:xfrm>
          <a:prstGeom prst="rect">
            <a:avLst/>
          </a:prstGeom>
          <a:noFill/>
        </p:spPr>
        <p:txBody>
          <a:bodyPr wrap="square" lIns="0" rIns="0" tIns="0" bIns="0">
            <a:spAutoFit/>
          </a:bodyPr>
          <a:lstStyle/>
          <a:p>
            <a:pPr algn="l"/>
            <a:r>
              <a:rPr sz="2400" b="1">
                <a:solidFill>
                  <a:srgbClr val="161E2E"/>
                </a:solidFill>
                <a:latin typeface="Calibri"/>
              </a:rPr>
              <a:t>Backup: predicting physical timing</a:t>
            </a:r>
          </a:p>
        </p:txBody>
      </p:sp>
      <p:sp>
        <p:nvSpPr>
          <p:cNvPr id="6" name="Rounded Rectangle 5"/>
          <p:cNvSpPr/>
          <p:nvPr/>
        </p:nvSpPr>
        <p:spPr>
          <a:xfrm>
            <a:off x="10604449" y="347472"/>
            <a:ext cx="810006" cy="327914"/>
          </a:xfrm>
          <a:prstGeom prst="roundRect">
            <a:avLst>
              <a:gd name="adj" fmla="val 50000"/>
            </a:avLst>
          </a:prstGeom>
          <a:solidFill>
            <a:srgbClr val="EF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737E8B"/>
                </a:solidFill>
                <a:latin typeface="Calibri"/>
              </a:rPr>
              <a:t>BACKUP</a:t>
            </a:r>
          </a:p>
        </p:txBody>
      </p:sp>
      <p:sp>
        <p:nvSpPr>
          <p:cNvPr id="7" name="Rectangle 6"/>
          <p:cNvSpPr/>
          <p:nvPr/>
        </p:nvSpPr>
        <p:spPr>
          <a:xfrm>
            <a:off x="777240" y="950976"/>
            <a:ext cx="10637215" cy="9525"/>
          </a:xfrm>
          <a:prstGeom prst="rect">
            <a:avLst/>
          </a:prstGeom>
          <a:solidFill>
            <a:srgbClr val="E1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777240" y="1188720"/>
          <a:ext cx="10637214" cy="3735276"/>
        </p:xfrm>
        <a:graphic>
          <a:graphicData uri="http://schemas.openxmlformats.org/drawingml/2006/table">
            <a:tbl>
              <a:tblPr firstRow="1" bandRow="1">
                <a:tableStyleId>{5C22544A-7EE6-4342-B048-85BDC9FD1C3A}</a:tableStyleId>
              </a:tblPr>
              <a:tblGrid>
                <a:gridCol w="1195192"/>
                <a:gridCol w="4900290"/>
                <a:gridCol w="4541732"/>
              </a:tblGrid>
              <a:tr h="681580">
                <a:tc>
                  <a:txBody>
                    <a:bodyPr/>
                    <a:lstStyle/>
                    <a:p>
                      <a:r>
                        <a:rPr sz="1785" b="1">
                          <a:solidFill>
                            <a:srgbClr val="FFFFFF"/>
                          </a:solidFill>
                          <a:latin typeface="Calibri"/>
                        </a:rPr>
                        <a:t>Stage</a:t>
                      </a:r>
                    </a:p>
                  </a:txBody>
                  <a:tcPr marL="127796" marR="127796" marT="42598" marB="42598" anchor="ctr">
                    <a:solidFill>
                      <a:srgbClr val="0E1729"/>
                    </a:solidFill>
                  </a:tcPr>
                </a:tc>
                <a:tc>
                  <a:txBody>
                    <a:bodyPr/>
                    <a:lstStyle/>
                    <a:p>
                      <a:r>
                        <a:rPr sz="1785" b="1">
                          <a:solidFill>
                            <a:srgbClr val="FFFFFF"/>
                          </a:solidFill>
                          <a:latin typeface="Calibri"/>
                        </a:rPr>
                        <a:t>Spline + PCA</a:t>
                      </a:r>
                    </a:p>
                  </a:txBody>
                  <a:tcPr marL="127796" marR="127796" marT="42598" marB="42598" anchor="ctr">
                    <a:solidFill>
                      <a:srgbClr val="0E1729"/>
                    </a:solidFill>
                  </a:tcPr>
                </a:tc>
                <a:tc>
                  <a:txBody>
                    <a:bodyPr/>
                    <a:lstStyle/>
                    <a:p>
                      <a:r>
                        <a:rPr sz="1785" b="1">
                          <a:solidFill>
                            <a:srgbClr val="FFFFFF"/>
                          </a:solidFill>
                          <a:latin typeface="Calibri"/>
                        </a:rPr>
                        <a:t>Neural models</a:t>
                      </a:r>
                    </a:p>
                  </a:txBody>
                  <a:tcPr marL="127796" marR="127796" marT="42598" marB="42598" anchor="ctr">
                    <a:solidFill>
                      <a:srgbClr val="0E1729"/>
                    </a:solidFill>
                  </a:tcPr>
                </a:tc>
              </a:tr>
              <a:tr h="845268">
                <a:tc>
                  <a:txBody>
                    <a:bodyPr/>
                    <a:lstStyle/>
                    <a:p>
                      <a:r>
                        <a:rPr sz="1785" b="1">
                          <a:solidFill>
                            <a:srgbClr val="161E2E"/>
                          </a:solidFill>
                          <a:latin typeface="Calibri"/>
                        </a:rPr>
                        <a:t>Predictors</a:t>
                      </a:r>
                    </a:p>
                  </a:txBody>
                  <a:tcPr marL="127796" marR="127796" marT="42598" marB="42598" anchor="ctr">
                    <a:solidFill>
                      <a:srgbClr val="FFFFFF"/>
                    </a:solidFill>
                  </a:tcPr>
                </a:tc>
                <a:tc>
                  <a:txBody>
                    <a:bodyPr/>
                    <a:lstStyle/>
                    <a:p>
                      <a:r>
                        <a:rPr sz="1785" b="0">
                          <a:solidFill>
                            <a:srgbClr val="3D4756"/>
                          </a:solidFill>
                          <a:latin typeface="Calibri"/>
                        </a:rPr>
                        <a:t>n PCA scores + 5 conditions</a:t>
                      </a:r>
                    </a:p>
                  </a:txBody>
                  <a:tcPr marL="127796" marR="127796" marT="42598" marB="42598" anchor="ctr">
                    <a:solidFill>
                      <a:srgbClr val="FFFFFF"/>
                    </a:solidFill>
                  </a:tcPr>
                </a:tc>
                <a:tc>
                  <a:txBody>
                    <a:bodyPr/>
                    <a:lstStyle/>
                    <a:p>
                      <a:r>
                        <a:rPr sz="1785" b="0">
                          <a:solidFill>
                            <a:srgbClr val="3D4756"/>
                          </a:solidFill>
                          <a:latin typeface="Calibri"/>
                        </a:rPr>
                        <a:t>Latent code + conditions where enabled</a:t>
                      </a:r>
                    </a:p>
                  </a:txBody>
                  <a:tcPr marL="127796" marR="127796" marT="42598" marB="42598" anchor="ctr">
                    <a:solidFill>
                      <a:srgbClr val="FFFFFF"/>
                    </a:solidFill>
                  </a:tcPr>
                </a:tc>
              </a:tr>
              <a:tr h="681580">
                <a:tc>
                  <a:txBody>
                    <a:bodyPr/>
                    <a:lstStyle/>
                    <a:p>
                      <a:r>
                        <a:rPr sz="1785" b="1">
                          <a:solidFill>
                            <a:srgbClr val="161E2E"/>
                          </a:solidFill>
                          <a:latin typeface="Calibri"/>
                        </a:rPr>
                        <a:t>Targets</a:t>
                      </a:r>
                    </a:p>
                  </a:txBody>
                  <a:tcPr marL="127796" marR="127796" marT="42598" marB="42598" anchor="ctr">
                    <a:solidFill>
                      <a:srgbClr val="F8FAFC"/>
                    </a:solidFill>
                  </a:tcPr>
                </a:tc>
                <a:tc>
                  <a:txBody>
                    <a:bodyPr/>
                    <a:lstStyle/>
                    <a:p>
                      <a:r>
                        <a:rPr sz="1785" b="0">
                          <a:solidFill>
                            <a:srgbClr val="3D4756"/>
                          </a:solidFill>
                          <a:latin typeface="Calibri"/>
                        </a:rPr>
                        <a:t>Two standardized log(t + .001) values</a:t>
                      </a:r>
                    </a:p>
                  </a:txBody>
                  <a:tcPr marL="127796" marR="127796" marT="42598" marB="42598" anchor="ctr">
                    <a:solidFill>
                      <a:srgbClr val="F8FAFC"/>
                    </a:solidFill>
                  </a:tcPr>
                </a:tc>
                <a:tc>
                  <a:txBody>
                    <a:bodyPr/>
                    <a:lstStyle/>
                    <a:p>
                      <a:r>
                        <a:rPr sz="1785" b="0">
                          <a:solidFill>
                            <a:srgbClr val="3D4756"/>
                          </a:solidFill>
                          <a:latin typeface="Calibri"/>
                        </a:rPr>
                        <a:t>Same two standardized targets</a:t>
                      </a:r>
                    </a:p>
                  </a:txBody>
                  <a:tcPr marL="127796" marR="127796" marT="42598" marB="42598" anchor="ctr">
                    <a:solidFill>
                      <a:srgbClr val="F8FAFC"/>
                    </a:solidFill>
                  </a:tcPr>
                </a:tc>
              </a:tr>
              <a:tr h="681580">
                <a:tc>
                  <a:txBody>
                    <a:bodyPr/>
                    <a:lstStyle/>
                    <a:p>
                      <a:r>
                        <a:rPr sz="1785" b="1">
                          <a:solidFill>
                            <a:srgbClr val="161E2E"/>
                          </a:solidFill>
                          <a:latin typeface="Calibri"/>
                        </a:rPr>
                        <a:t>Predictor</a:t>
                      </a:r>
                    </a:p>
                  </a:txBody>
                  <a:tcPr marL="127796" marR="127796" marT="42598" marB="42598" anchor="ctr">
                    <a:solidFill>
                      <a:srgbClr val="FFFFFF"/>
                    </a:solidFill>
                  </a:tcPr>
                </a:tc>
                <a:tc>
                  <a:txBody>
                    <a:bodyPr/>
                    <a:lstStyle/>
                    <a:p>
                      <a:r>
                        <a:rPr sz="1785" b="0">
                          <a:solidFill>
                            <a:srgbClr val="3D4756"/>
                          </a:solidFill>
                          <a:latin typeface="Calibri"/>
                        </a:rPr>
                        <a:t>Ridge, alpha selected on validation</a:t>
                      </a:r>
                    </a:p>
                  </a:txBody>
                  <a:tcPr marL="127796" marR="127796" marT="42598" marB="42598" anchor="ctr">
                    <a:solidFill>
                      <a:srgbClr val="FFFFFF"/>
                    </a:solidFill>
                  </a:tcPr>
                </a:tc>
                <a:tc>
                  <a:txBody>
                    <a:bodyPr/>
                    <a:lstStyle/>
                    <a:p>
                      <a:r>
                        <a:rPr sz="1785" b="0">
                          <a:solidFill>
                            <a:srgbClr val="3D4756"/>
                          </a:solidFill>
                          <a:latin typeface="Calibri"/>
                        </a:rPr>
                        <a:t>Separate decoder output head</a:t>
                      </a:r>
                    </a:p>
                  </a:txBody>
                  <a:tcPr marL="127796" marR="127796" marT="42598" marB="42598" anchor="ctr">
                    <a:solidFill>
                      <a:srgbClr val="FFFFFF"/>
                    </a:solidFill>
                  </a:tcPr>
                </a:tc>
              </a:tr>
              <a:tr h="845268">
                <a:tc>
                  <a:txBody>
                    <a:bodyPr/>
                    <a:lstStyle/>
                    <a:p>
                      <a:r>
                        <a:rPr sz="1785" b="1">
                          <a:solidFill>
                            <a:srgbClr val="161E2E"/>
                          </a:solidFill>
                          <a:latin typeface="Calibri"/>
                        </a:rPr>
                        <a:t>Inverse</a:t>
                      </a:r>
                    </a:p>
                  </a:txBody>
                  <a:tcPr marL="127796" marR="127796" marT="42598" marB="42598" anchor="ctr">
                    <a:solidFill>
                      <a:srgbClr val="F8FAFC"/>
                    </a:solidFill>
                  </a:tcPr>
                </a:tc>
                <a:tc>
                  <a:txBody>
                    <a:bodyPr/>
                    <a:lstStyle/>
                    <a:p>
                      <a:r>
                        <a:rPr sz="1785" b="0">
                          <a:solidFill>
                            <a:srgbClr val="3D4756"/>
                          </a:solidFill>
                          <a:latin typeface="Calibri"/>
                        </a:rPr>
                        <a:t>Undo scaling, exponentiate, subtract .001</a:t>
                      </a:r>
                    </a:p>
                  </a:txBody>
                  <a:tcPr marL="127796" marR="127796" marT="42598" marB="42598" anchor="ctr">
                    <a:solidFill>
                      <a:srgbClr val="F8FAFC"/>
                    </a:solidFill>
                  </a:tcPr>
                </a:tc>
                <a:tc>
                  <a:txBody>
                    <a:bodyPr/>
                    <a:lstStyle/>
                    <a:p>
                      <a:r>
                        <a:rPr sz="1785" b="0">
                          <a:solidFill>
                            <a:srgbClr val="3D4756"/>
                          </a:solidFill>
                          <a:latin typeface="Calibri"/>
                        </a:rPr>
                        <a:t>Same inverse transform</a:t>
                      </a:r>
                    </a:p>
                  </a:txBody>
                  <a:tcPr marL="127796" marR="127796" marT="42598" marB="42598" anchor="ctr">
                    <a:solidFill>
                      <a:srgbClr val="F8FAFC"/>
                    </a:solidFill>
                  </a:tcPr>
                </a:tc>
              </a:tr>
            </a:tbl>
          </a:graphicData>
        </a:graphic>
      </p:graphicFrame>
      <p:sp>
        <p:nvSpPr>
          <p:cNvPr id="9" name="Rectangle 8"/>
          <p:cNvSpPr/>
          <p:nvPr/>
        </p:nvSpPr>
        <p:spPr>
          <a:xfrm>
            <a:off x="777240" y="5207987"/>
            <a:ext cx="10637215" cy="1075222"/>
          </a:xfrm>
          <a:prstGeom prst="rect">
            <a:avLst/>
          </a:prstGeom>
          <a:solidFill>
            <a:srgbClr val="EF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07987"/>
            <a:ext cx="85197" cy="1075222"/>
          </a:xfrm>
          <a:prstGeom prst="rect">
            <a:avLst/>
          </a:prstGeom>
          <a:solidFill>
            <a:srgbClr val="1B6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18030" y="5435180"/>
            <a:ext cx="9813640" cy="564038"/>
          </a:xfrm>
          <a:prstGeom prst="rect">
            <a:avLst/>
          </a:prstGeom>
          <a:noFill/>
        </p:spPr>
        <p:txBody>
          <a:bodyPr wrap="square" lIns="0" rIns="0" tIns="0" bIns="0">
            <a:spAutoFit/>
          </a:bodyPr>
          <a:lstStyle/>
          <a:p>
            <a:pPr algn="l"/>
            <a:r>
              <a:rPr sz="1708" b="0">
                <a:solidFill>
                  <a:srgbClr val="3D4756"/>
                </a:solidFill>
                <a:latin typeface="Calibri"/>
              </a:rPr>
              <a:t>Observed timing never enters the trajectory encoder. Reconstruction-time timing prediction sees the observed shape.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104847" cy="77724"/>
          </a:xfrm>
          <a:prstGeom prst="rect">
            <a:avLst/>
          </a:prstGeom>
          <a:gradFill rotWithShape="1">
            <a:gsLst>
              <a:gs pos="0">
                <a:srgbClr val="1B6FEA"/>
              </a:gs>
              <a:gs pos="100000">
                <a:srgbClr val="17A2A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847" y="0"/>
            <a:ext cx="6104847" cy="77724"/>
          </a:xfrm>
          <a:prstGeom prst="rect">
            <a:avLst/>
          </a:prstGeom>
          <a:gradFill rotWithShape="1">
            <a:gsLst>
              <a:gs pos="0">
                <a:srgbClr val="17A2A2"/>
              </a:gs>
              <a:gs pos="100000">
                <a:srgbClr val="7A5CF0"/>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92608"/>
            <a:ext cx="8716975" cy="566928"/>
          </a:xfrm>
          <a:prstGeom prst="rect">
            <a:avLst/>
          </a:prstGeom>
          <a:noFill/>
        </p:spPr>
        <p:txBody>
          <a:bodyPr wrap="square" lIns="0" rIns="0" tIns="0" bIns="0">
            <a:spAutoFit/>
          </a:bodyPr>
          <a:lstStyle/>
          <a:p>
            <a:pPr algn="l"/>
            <a:r>
              <a:rPr sz="2400" b="1">
                <a:solidFill>
                  <a:srgbClr val="161E2E"/>
                </a:solidFill>
                <a:latin typeface="Calibri"/>
              </a:rPr>
              <a:t>Backup: the neural training objective</a:t>
            </a:r>
          </a:p>
        </p:txBody>
      </p:sp>
      <p:sp>
        <p:nvSpPr>
          <p:cNvPr id="6" name="Rounded Rectangle 5"/>
          <p:cNvSpPr/>
          <p:nvPr/>
        </p:nvSpPr>
        <p:spPr>
          <a:xfrm>
            <a:off x="10604449" y="347472"/>
            <a:ext cx="810006" cy="327914"/>
          </a:xfrm>
          <a:prstGeom prst="roundRect">
            <a:avLst>
              <a:gd name="adj" fmla="val 50000"/>
            </a:avLst>
          </a:prstGeom>
          <a:solidFill>
            <a:srgbClr val="EF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737E8B"/>
                </a:solidFill>
                <a:latin typeface="Calibri"/>
              </a:rPr>
              <a:t>BACKUP</a:t>
            </a:r>
          </a:p>
        </p:txBody>
      </p:sp>
      <p:sp>
        <p:nvSpPr>
          <p:cNvPr id="7" name="Rectangle 6"/>
          <p:cNvSpPr/>
          <p:nvPr/>
        </p:nvSpPr>
        <p:spPr>
          <a:xfrm>
            <a:off x="777240" y="950976"/>
            <a:ext cx="10637215" cy="9525"/>
          </a:xfrm>
          <a:prstGeom prst="rect">
            <a:avLst/>
          </a:prstGeom>
          <a:solidFill>
            <a:srgbClr val="E1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188720"/>
            <a:ext cx="10637215" cy="396240"/>
          </a:xfrm>
          <a:prstGeom prst="rect">
            <a:avLst/>
          </a:prstGeom>
          <a:noFill/>
        </p:spPr>
        <p:txBody>
          <a:bodyPr wrap="square" lIns="0" rIns="0" tIns="0" bIns="0">
            <a:spAutoFit/>
          </a:bodyPr>
          <a:lstStyle/>
          <a:p>
            <a:pPr algn="l"/>
            <a:r>
              <a:rPr sz="2400" b="0">
                <a:solidFill>
                  <a:srgbClr val="3D4756"/>
                </a:solidFill>
                <a:latin typeface="Calibri"/>
              </a:rPr>
              <a:t>Coordinate error sums 200 squared differences.</a:t>
            </a:r>
          </a:p>
        </p:txBody>
      </p:sp>
      <p:sp>
        <p:nvSpPr>
          <p:cNvPr id="9" name="TextBox 8"/>
          <p:cNvSpPr txBox="1"/>
          <p:nvPr/>
        </p:nvSpPr>
        <p:spPr>
          <a:xfrm>
            <a:off x="777240" y="1877568"/>
            <a:ext cx="10637215" cy="396240"/>
          </a:xfrm>
          <a:prstGeom prst="rect">
            <a:avLst/>
          </a:prstGeom>
          <a:noFill/>
        </p:spPr>
        <p:txBody>
          <a:bodyPr wrap="square" lIns="0" rIns="0" tIns="0" bIns="0">
            <a:spAutoFit/>
          </a:bodyPr>
          <a:lstStyle/>
          <a:p>
            <a:pPr algn="l"/>
            <a:r>
              <a:rPr sz="2400" b="0">
                <a:solidFill>
                  <a:srgbClr val="3D4756"/>
                </a:solidFill>
                <a:latin typeface="Calibri"/>
              </a:rPr>
              <a:t>Timing error sums two squared differences and receives weight 20.</a:t>
            </a:r>
          </a:p>
        </p:txBody>
      </p:sp>
      <p:sp>
        <p:nvSpPr>
          <p:cNvPr id="10" name="TextBox 9"/>
          <p:cNvSpPr txBox="1"/>
          <p:nvPr/>
        </p:nvSpPr>
        <p:spPr>
          <a:xfrm>
            <a:off x="777240" y="2566416"/>
            <a:ext cx="10637215" cy="396240"/>
          </a:xfrm>
          <a:prstGeom prst="rect">
            <a:avLst/>
          </a:prstGeom>
          <a:noFill/>
        </p:spPr>
        <p:txBody>
          <a:bodyPr wrap="square" lIns="0" rIns="0" tIns="0" bIns="0">
            <a:spAutoFit/>
          </a:bodyPr>
          <a:lstStyle/>
          <a:p>
            <a:pPr algn="l"/>
            <a:r>
              <a:rPr sz="2400" b="0">
                <a:solidFill>
                  <a:srgbClr val="3D4756"/>
                </a:solidFill>
                <a:latin typeface="Calibri"/>
              </a:rPr>
              <a:t>KL sums across latent dimensions; the batch averages the total.</a:t>
            </a:r>
          </a:p>
        </p:txBody>
      </p:sp>
      <p:pic>
        <p:nvPicPr>
          <p:cNvPr id="11" name="Picture 10" descr="equation_loss.png"/>
          <p:cNvPicPr>
            <a:picLocks noChangeAspect="1"/>
          </p:cNvPicPr>
          <p:nvPr/>
        </p:nvPicPr>
        <p:blipFill>
          <a:blip r:embed="rId2"/>
          <a:stretch>
            <a:fillRect/>
          </a:stretch>
        </p:blipFill>
        <p:spPr>
          <a:xfrm>
            <a:off x="777240" y="3255264"/>
            <a:ext cx="10637215" cy="689291"/>
          </a:xfrm>
          <a:prstGeom prst="rect">
            <a:avLst/>
          </a:prstGeom>
        </p:spPr>
      </p:pic>
      <p:sp>
        <p:nvSpPr>
          <p:cNvPr id="12" name="Rectangle 11"/>
          <p:cNvSpPr/>
          <p:nvPr/>
        </p:nvSpPr>
        <p:spPr>
          <a:xfrm>
            <a:off x="777240" y="4237163"/>
            <a:ext cx="10637215" cy="1384808"/>
          </a:xfrm>
          <a:prstGeom prst="rect">
            <a:avLst/>
          </a:prstGeom>
          <a:solidFill>
            <a:srgbClr val="EF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37163"/>
            <a:ext cx="109728" cy="1384808"/>
          </a:xfrm>
          <a:prstGeom prst="rect">
            <a:avLst/>
          </a:prstGeom>
          <a:solidFill>
            <a:srgbClr val="1B6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16152" y="4529771"/>
            <a:ext cx="9576511" cy="726440"/>
          </a:xfrm>
          <a:prstGeom prst="rect">
            <a:avLst/>
          </a:prstGeom>
          <a:noFill/>
        </p:spPr>
        <p:txBody>
          <a:bodyPr wrap="square" lIns="0" rIns="0" tIns="0" bIns="0">
            <a:spAutoFit/>
          </a:bodyPr>
          <a:lstStyle/>
          <a:p>
            <a:pPr algn="l"/>
            <a:r>
              <a:rPr sz="2200" b="0">
                <a:solidFill>
                  <a:srgbClr val="3D4756"/>
                </a:solidFill>
                <a:latin typeface="Calibri"/>
              </a:rPr>
              <a:t>Replacing both summed terms by separate MSE means would change the effective timing weight.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104847" cy="77724"/>
          </a:xfrm>
          <a:prstGeom prst="rect">
            <a:avLst/>
          </a:prstGeom>
          <a:gradFill rotWithShape="1">
            <a:gsLst>
              <a:gs pos="0">
                <a:srgbClr val="1B6FEA"/>
              </a:gs>
              <a:gs pos="100000">
                <a:srgbClr val="17A2A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847" y="0"/>
            <a:ext cx="6104847" cy="77724"/>
          </a:xfrm>
          <a:prstGeom prst="rect">
            <a:avLst/>
          </a:prstGeom>
          <a:gradFill rotWithShape="1">
            <a:gsLst>
              <a:gs pos="0">
                <a:srgbClr val="17A2A2"/>
              </a:gs>
              <a:gs pos="100000">
                <a:srgbClr val="7A5CF0"/>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92608"/>
            <a:ext cx="8716975" cy="566928"/>
          </a:xfrm>
          <a:prstGeom prst="rect">
            <a:avLst/>
          </a:prstGeom>
          <a:noFill/>
        </p:spPr>
        <p:txBody>
          <a:bodyPr wrap="square" lIns="0" rIns="0" tIns="0" bIns="0">
            <a:spAutoFit/>
          </a:bodyPr>
          <a:lstStyle/>
          <a:p>
            <a:pPr algn="l"/>
            <a:r>
              <a:rPr sz="2400" b="1">
                <a:solidFill>
                  <a:srgbClr val="161E2E"/>
                </a:solidFill>
                <a:latin typeface="Calibri"/>
              </a:rPr>
              <a:t>Backup: VAE, CVAE and CAE</a:t>
            </a:r>
          </a:p>
        </p:txBody>
      </p:sp>
      <p:sp>
        <p:nvSpPr>
          <p:cNvPr id="6" name="Rounded Rectangle 5"/>
          <p:cNvSpPr/>
          <p:nvPr/>
        </p:nvSpPr>
        <p:spPr>
          <a:xfrm>
            <a:off x="10604449" y="347472"/>
            <a:ext cx="810006" cy="327914"/>
          </a:xfrm>
          <a:prstGeom prst="roundRect">
            <a:avLst>
              <a:gd name="adj" fmla="val 50000"/>
            </a:avLst>
          </a:prstGeom>
          <a:solidFill>
            <a:srgbClr val="EF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737E8B"/>
                </a:solidFill>
                <a:latin typeface="Calibri"/>
              </a:rPr>
              <a:t>BACKUP</a:t>
            </a:r>
          </a:p>
        </p:txBody>
      </p:sp>
      <p:sp>
        <p:nvSpPr>
          <p:cNvPr id="7" name="Rectangle 6"/>
          <p:cNvSpPr/>
          <p:nvPr/>
        </p:nvSpPr>
        <p:spPr>
          <a:xfrm>
            <a:off x="777240" y="950976"/>
            <a:ext cx="10637215" cy="9525"/>
          </a:xfrm>
          <a:prstGeom prst="rect">
            <a:avLst/>
          </a:prstGeom>
          <a:solidFill>
            <a:srgbClr val="E1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777240" y="1188720"/>
          <a:ext cx="10637214" cy="3834210"/>
        </p:xfrm>
        <a:graphic>
          <a:graphicData uri="http://schemas.openxmlformats.org/drawingml/2006/table">
            <a:tbl>
              <a:tblPr firstRow="1" bandRow="1">
                <a:tableStyleId>{5C22544A-7EE6-4342-B048-85BDC9FD1C3A}</a:tableStyleId>
              </a:tblPr>
              <a:tblGrid>
                <a:gridCol w="2836590"/>
                <a:gridCol w="2411102"/>
                <a:gridCol w="2694761"/>
                <a:gridCol w="2694761"/>
              </a:tblGrid>
              <a:tr h="639035">
                <a:tc>
                  <a:txBody>
                    <a:bodyPr/>
                    <a:lstStyle/>
                    <a:p>
                      <a:r>
                        <a:rPr sz="1674" b="1">
                          <a:solidFill>
                            <a:srgbClr val="FFFFFF"/>
                          </a:solidFill>
                          <a:latin typeface="Calibri"/>
                        </a:rPr>
                        <a:t>Property</a:t>
                      </a:r>
                    </a:p>
                  </a:txBody>
                  <a:tcPr marL="119819" marR="119819" marT="39939" marB="39939" anchor="ctr">
                    <a:solidFill>
                      <a:srgbClr val="0E1729"/>
                    </a:solidFill>
                  </a:tcPr>
                </a:tc>
                <a:tc>
                  <a:txBody>
                    <a:bodyPr/>
                    <a:lstStyle/>
                    <a:p>
                      <a:r>
                        <a:rPr sz="1674" b="1">
                          <a:solidFill>
                            <a:srgbClr val="FFFFFF"/>
                          </a:solidFill>
                          <a:latin typeface="Calibri"/>
                        </a:rPr>
                        <a:t>VAE</a:t>
                      </a:r>
                    </a:p>
                  </a:txBody>
                  <a:tcPr marL="119819" marR="119819" marT="39939" marB="39939" anchor="ctr">
                    <a:solidFill>
                      <a:srgbClr val="0E1729"/>
                    </a:solidFill>
                  </a:tcPr>
                </a:tc>
                <a:tc>
                  <a:txBody>
                    <a:bodyPr/>
                    <a:lstStyle/>
                    <a:p>
                      <a:r>
                        <a:rPr sz="1674" b="1">
                          <a:solidFill>
                            <a:srgbClr val="FFFFFF"/>
                          </a:solidFill>
                          <a:latin typeface="Calibri"/>
                        </a:rPr>
                        <a:t>CVAE</a:t>
                      </a:r>
                    </a:p>
                  </a:txBody>
                  <a:tcPr marL="119819" marR="119819" marT="39939" marB="39939" anchor="ctr">
                    <a:solidFill>
                      <a:srgbClr val="0E1729"/>
                    </a:solidFill>
                  </a:tcPr>
                </a:tc>
                <a:tc>
                  <a:txBody>
                    <a:bodyPr/>
                    <a:lstStyle/>
                    <a:p>
                      <a:r>
                        <a:rPr sz="1674" b="1">
                          <a:solidFill>
                            <a:srgbClr val="FFFFFF"/>
                          </a:solidFill>
                          <a:latin typeface="Calibri"/>
                        </a:rPr>
                        <a:t>CAE</a:t>
                      </a:r>
                    </a:p>
                  </a:txBody>
                  <a:tcPr marL="119819" marR="119819" marT="39939" marB="39939" anchor="ctr">
                    <a:solidFill>
                      <a:srgbClr val="0E1729"/>
                    </a:solidFill>
                  </a:tcPr>
                </a:tc>
              </a:tr>
              <a:tr h="639035">
                <a:tc>
                  <a:txBody>
                    <a:bodyPr/>
                    <a:lstStyle/>
                    <a:p>
                      <a:r>
                        <a:rPr sz="1674" b="1">
                          <a:solidFill>
                            <a:srgbClr val="161E2E"/>
                          </a:solidFill>
                          <a:latin typeface="Calibri"/>
                        </a:rPr>
                        <a:t>Trajectory encoder</a:t>
                      </a:r>
                    </a:p>
                  </a:txBody>
                  <a:tcPr marL="119819" marR="119819" marT="39939" marB="39939" anchor="ctr">
                    <a:solidFill>
                      <a:srgbClr val="FFFFFF"/>
                    </a:solidFill>
                  </a:tcPr>
                </a:tc>
                <a:tc>
                  <a:txBody>
                    <a:bodyPr/>
                    <a:lstStyle/>
                    <a:p>
                      <a:r>
                        <a:rPr sz="1674" b="0">
                          <a:solidFill>
                            <a:srgbClr val="3D4756"/>
                          </a:solidFill>
                          <a:latin typeface="Calibri"/>
                        </a:rPr>
                        <a:t>Two hidden layers</a:t>
                      </a:r>
                    </a:p>
                  </a:txBody>
                  <a:tcPr marL="119819" marR="119819" marT="39939" marB="39939" anchor="ctr">
                    <a:solidFill>
                      <a:srgbClr val="FFFFFF"/>
                    </a:solidFill>
                  </a:tcPr>
                </a:tc>
                <a:tc>
                  <a:txBody>
                    <a:bodyPr/>
                    <a:lstStyle/>
                    <a:p>
                      <a:r>
                        <a:rPr sz="1674" b="0">
                          <a:solidFill>
                            <a:srgbClr val="3D4756"/>
                          </a:solidFill>
                          <a:latin typeface="Calibri"/>
                        </a:rPr>
                        <a:t>Two hidden layers</a:t>
                      </a:r>
                    </a:p>
                  </a:txBody>
                  <a:tcPr marL="119819" marR="119819" marT="39939" marB="39939" anchor="ctr">
                    <a:solidFill>
                      <a:srgbClr val="FFFFFF"/>
                    </a:solidFill>
                  </a:tcPr>
                </a:tc>
                <a:tc>
                  <a:txBody>
                    <a:bodyPr/>
                    <a:lstStyle/>
                    <a:p>
                      <a:r>
                        <a:rPr sz="1674" b="0">
                          <a:solidFill>
                            <a:srgbClr val="3D4756"/>
                          </a:solidFill>
                          <a:latin typeface="Calibri"/>
                        </a:rPr>
                        <a:t>Two hidden layers</a:t>
                      </a:r>
                    </a:p>
                  </a:txBody>
                  <a:tcPr marL="119819" marR="119819" marT="39939" marB="39939" anchor="ctr">
                    <a:solidFill>
                      <a:srgbClr val="FFFFFF"/>
                    </a:solidFill>
                  </a:tcPr>
                </a:tc>
              </a:tr>
              <a:tr h="639035">
                <a:tc>
                  <a:txBody>
                    <a:bodyPr/>
                    <a:lstStyle/>
                    <a:p>
                      <a:r>
                        <a:rPr sz="1674" b="1">
                          <a:solidFill>
                            <a:srgbClr val="161E2E"/>
                          </a:solidFill>
                          <a:latin typeface="Calibri"/>
                        </a:rPr>
                        <a:t>Task inputs</a:t>
                      </a:r>
                    </a:p>
                  </a:txBody>
                  <a:tcPr marL="119819" marR="119819" marT="39939" marB="39939" anchor="ctr">
                    <a:solidFill>
                      <a:srgbClr val="F8FAFC"/>
                    </a:solidFill>
                  </a:tcPr>
                </a:tc>
                <a:tc>
                  <a:txBody>
                    <a:bodyPr/>
                    <a:lstStyle/>
                    <a:p>
                      <a:r>
                        <a:rPr sz="1674" b="0">
                          <a:solidFill>
                            <a:srgbClr val="3D4756"/>
                          </a:solidFill>
                          <a:latin typeface="Calibri"/>
                        </a:rPr>
                        <a:t>Masked to zero</a:t>
                      </a:r>
                    </a:p>
                  </a:txBody>
                  <a:tcPr marL="119819" marR="119819" marT="39939" marB="39939" anchor="ctr">
                    <a:solidFill>
                      <a:srgbClr val="F8FAFC"/>
                    </a:solidFill>
                  </a:tcPr>
                </a:tc>
                <a:tc>
                  <a:txBody>
                    <a:bodyPr/>
                    <a:lstStyle/>
                    <a:p>
                      <a:r>
                        <a:rPr sz="1674" b="0">
                          <a:solidFill>
                            <a:srgbClr val="3D4756"/>
                          </a:solidFill>
                          <a:latin typeface="Calibri"/>
                        </a:rPr>
                        <a:t>Encoder and decoder</a:t>
                      </a:r>
                    </a:p>
                  </a:txBody>
                  <a:tcPr marL="119819" marR="119819" marT="39939" marB="39939" anchor="ctr">
                    <a:solidFill>
                      <a:srgbClr val="F8FAFC"/>
                    </a:solidFill>
                  </a:tcPr>
                </a:tc>
                <a:tc>
                  <a:txBody>
                    <a:bodyPr/>
                    <a:lstStyle/>
                    <a:p>
                      <a:r>
                        <a:rPr sz="1674" b="0">
                          <a:solidFill>
                            <a:srgbClr val="3D4756"/>
                          </a:solidFill>
                          <a:latin typeface="Calibri"/>
                        </a:rPr>
                        <a:t>Encoder and decoder</a:t>
                      </a:r>
                    </a:p>
                  </a:txBody>
                  <a:tcPr marL="119819" marR="119819" marT="39939" marB="39939" anchor="ctr">
                    <a:solidFill>
                      <a:srgbClr val="F8FAFC"/>
                    </a:solidFill>
                  </a:tcPr>
                </a:tc>
              </a:tr>
              <a:tr h="639035">
                <a:tc>
                  <a:txBody>
                    <a:bodyPr/>
                    <a:lstStyle/>
                    <a:p>
                      <a:r>
                        <a:rPr sz="1674" b="1">
                          <a:solidFill>
                            <a:srgbClr val="161E2E"/>
                          </a:solidFill>
                          <a:latin typeface="Calibri"/>
                        </a:rPr>
                        <a:t>Latent training code</a:t>
                      </a:r>
                    </a:p>
                  </a:txBody>
                  <a:tcPr marL="119819" marR="119819" marT="39939" marB="39939" anchor="ctr">
                    <a:solidFill>
                      <a:srgbClr val="FFFFFF"/>
                    </a:solidFill>
                  </a:tcPr>
                </a:tc>
                <a:tc>
                  <a:txBody>
                    <a:bodyPr/>
                    <a:lstStyle/>
                    <a:p>
                      <a:r>
                        <a:rPr sz="1674" b="0">
                          <a:solidFill>
                            <a:srgbClr val="3D4756"/>
                          </a:solidFill>
                          <a:latin typeface="Calibri"/>
                        </a:rPr>
                        <a:t>Gaussian sample</a:t>
                      </a:r>
                    </a:p>
                  </a:txBody>
                  <a:tcPr marL="119819" marR="119819" marT="39939" marB="39939" anchor="ctr">
                    <a:solidFill>
                      <a:srgbClr val="FFFFFF"/>
                    </a:solidFill>
                  </a:tcPr>
                </a:tc>
                <a:tc>
                  <a:txBody>
                    <a:bodyPr/>
                    <a:lstStyle/>
                    <a:p>
                      <a:r>
                        <a:rPr sz="1674" b="0">
                          <a:solidFill>
                            <a:srgbClr val="3D4756"/>
                          </a:solidFill>
                          <a:latin typeface="Calibri"/>
                        </a:rPr>
                        <a:t>Gaussian sample</a:t>
                      </a:r>
                    </a:p>
                  </a:txBody>
                  <a:tcPr marL="119819" marR="119819" marT="39939" marB="39939" anchor="ctr">
                    <a:solidFill>
                      <a:srgbClr val="FFFFFF"/>
                    </a:solidFill>
                  </a:tcPr>
                </a:tc>
                <a:tc>
                  <a:txBody>
                    <a:bodyPr/>
                    <a:lstStyle/>
                    <a:p>
                      <a:r>
                        <a:rPr sz="1674" b="0">
                          <a:solidFill>
                            <a:srgbClr val="3D4756"/>
                          </a:solidFill>
                          <a:latin typeface="Calibri"/>
                        </a:rPr>
                        <a:t>Deterministic</a:t>
                      </a:r>
                    </a:p>
                  </a:txBody>
                  <a:tcPr marL="119819" marR="119819" marT="39939" marB="39939" anchor="ctr">
                    <a:solidFill>
                      <a:srgbClr val="FFFFFF"/>
                    </a:solidFill>
                  </a:tcPr>
                </a:tc>
              </a:tr>
              <a:tr h="639035">
                <a:tc>
                  <a:txBody>
                    <a:bodyPr/>
                    <a:lstStyle/>
                    <a:p>
                      <a:r>
                        <a:rPr sz="1674" b="1">
                          <a:solidFill>
                            <a:srgbClr val="161E2E"/>
                          </a:solidFill>
                          <a:latin typeface="Calibri"/>
                        </a:rPr>
                        <a:t>KL penalty</a:t>
                      </a:r>
                    </a:p>
                  </a:txBody>
                  <a:tcPr marL="119819" marR="119819" marT="39939" marB="39939" anchor="ctr">
                    <a:solidFill>
                      <a:srgbClr val="F8FAFC"/>
                    </a:solidFill>
                  </a:tcPr>
                </a:tc>
                <a:tc>
                  <a:txBody>
                    <a:bodyPr/>
                    <a:lstStyle/>
                    <a:p>
                      <a:r>
                        <a:rPr sz="1674" b="0">
                          <a:solidFill>
                            <a:srgbClr val="3D4756"/>
                          </a:solidFill>
                          <a:latin typeface="Calibri"/>
                        </a:rPr>
                        <a:t>Yes</a:t>
                      </a:r>
                    </a:p>
                  </a:txBody>
                  <a:tcPr marL="119819" marR="119819" marT="39939" marB="39939" anchor="ctr">
                    <a:solidFill>
                      <a:srgbClr val="F8FAFC"/>
                    </a:solidFill>
                  </a:tcPr>
                </a:tc>
                <a:tc>
                  <a:txBody>
                    <a:bodyPr/>
                    <a:lstStyle/>
                    <a:p>
                      <a:r>
                        <a:rPr sz="1674" b="0">
                          <a:solidFill>
                            <a:srgbClr val="3D4756"/>
                          </a:solidFill>
                          <a:latin typeface="Calibri"/>
                        </a:rPr>
                        <a:t>Yes</a:t>
                      </a:r>
                    </a:p>
                  </a:txBody>
                  <a:tcPr marL="119819" marR="119819" marT="39939" marB="39939" anchor="ctr">
                    <a:solidFill>
                      <a:srgbClr val="F8FAFC"/>
                    </a:solidFill>
                  </a:tcPr>
                </a:tc>
                <a:tc>
                  <a:txBody>
                    <a:bodyPr/>
                    <a:lstStyle/>
                    <a:p>
                      <a:r>
                        <a:rPr sz="1674" b="0">
                          <a:solidFill>
                            <a:srgbClr val="3D4756"/>
                          </a:solidFill>
                          <a:latin typeface="Calibri"/>
                        </a:rPr>
                        <a:t>No</a:t>
                      </a:r>
                    </a:p>
                  </a:txBody>
                  <a:tcPr marL="119819" marR="119819" marT="39939" marB="39939" anchor="ctr">
                    <a:solidFill>
                      <a:srgbClr val="F8FAFC"/>
                    </a:solidFill>
                  </a:tcPr>
                </a:tc>
              </a:tr>
              <a:tr h="639035">
                <a:tc>
                  <a:txBody>
                    <a:bodyPr/>
                    <a:lstStyle/>
                    <a:p>
                      <a:r>
                        <a:rPr sz="1674" b="1">
                          <a:solidFill>
                            <a:srgbClr val="161E2E"/>
                          </a:solidFill>
                          <a:latin typeface="Calibri"/>
                        </a:rPr>
                        <a:t>Reconstruction code</a:t>
                      </a:r>
                    </a:p>
                  </a:txBody>
                  <a:tcPr marL="119819" marR="119819" marT="39939" marB="39939" anchor="ctr">
                    <a:solidFill>
                      <a:srgbClr val="FFFFFF"/>
                    </a:solidFill>
                  </a:tcPr>
                </a:tc>
                <a:tc>
                  <a:txBody>
                    <a:bodyPr/>
                    <a:lstStyle/>
                    <a:p>
                      <a:r>
                        <a:rPr sz="1674" b="0">
                          <a:solidFill>
                            <a:srgbClr val="3D4756"/>
                          </a:solidFill>
                          <a:latin typeface="Calibri"/>
                        </a:rPr>
                        <a:t>Posterior mean</a:t>
                      </a:r>
                    </a:p>
                  </a:txBody>
                  <a:tcPr marL="119819" marR="119819" marT="39939" marB="39939" anchor="ctr">
                    <a:solidFill>
                      <a:srgbClr val="FFFFFF"/>
                    </a:solidFill>
                  </a:tcPr>
                </a:tc>
                <a:tc>
                  <a:txBody>
                    <a:bodyPr/>
                    <a:lstStyle/>
                    <a:p>
                      <a:r>
                        <a:rPr sz="1674" b="0">
                          <a:solidFill>
                            <a:srgbClr val="3D4756"/>
                          </a:solidFill>
                          <a:latin typeface="Calibri"/>
                        </a:rPr>
                        <a:t>Posterior mean</a:t>
                      </a:r>
                    </a:p>
                  </a:txBody>
                  <a:tcPr marL="119819" marR="119819" marT="39939" marB="39939" anchor="ctr">
                    <a:solidFill>
                      <a:srgbClr val="FFFFFF"/>
                    </a:solidFill>
                  </a:tcPr>
                </a:tc>
                <a:tc>
                  <a:txBody>
                    <a:bodyPr/>
                    <a:lstStyle/>
                    <a:p>
                      <a:r>
                        <a:rPr sz="1674" b="0">
                          <a:solidFill>
                            <a:srgbClr val="3D4756"/>
                          </a:solidFill>
                          <a:latin typeface="Calibri"/>
                        </a:rPr>
                        <a:t>Deterministic code</a:t>
                      </a:r>
                    </a:p>
                  </a:txBody>
                  <a:tcPr marL="119819" marR="119819" marT="39939" marB="39939" anchor="ctr">
                    <a:solidFill>
                      <a:srgbClr val="FFFFFF"/>
                    </a:solidFill>
                  </a:tcPr>
                </a:tc>
              </a:tr>
            </a:tbl>
          </a:graphicData>
        </a:graphic>
      </p:graphicFrame>
      <p:sp>
        <p:nvSpPr>
          <p:cNvPr id="9" name="Rectangle 8"/>
          <p:cNvSpPr/>
          <p:nvPr/>
        </p:nvSpPr>
        <p:spPr>
          <a:xfrm>
            <a:off x="777240" y="5289194"/>
            <a:ext cx="10637215" cy="1008106"/>
          </a:xfrm>
          <a:prstGeom prst="rect">
            <a:avLst/>
          </a:prstGeom>
          <a:solidFill>
            <a:srgbClr val="EF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89194"/>
            <a:ext cx="79879" cy="1008106"/>
          </a:xfrm>
          <a:prstGeom prst="rect">
            <a:avLst/>
          </a:prstGeom>
          <a:solidFill>
            <a:srgbClr val="1B6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6757" y="5502205"/>
            <a:ext cx="9865049" cy="528830"/>
          </a:xfrm>
          <a:prstGeom prst="rect">
            <a:avLst/>
          </a:prstGeom>
          <a:noFill/>
        </p:spPr>
        <p:txBody>
          <a:bodyPr wrap="square" lIns="0" rIns="0" tIns="0" bIns="0">
            <a:spAutoFit/>
          </a:bodyPr>
          <a:lstStyle/>
          <a:p>
            <a:pPr algn="l"/>
            <a:r>
              <a:rPr sz="1601" b="0">
                <a:solidFill>
                  <a:srgbClr val="3D4756"/>
                </a:solidFill>
                <a:latin typeface="Calibri"/>
              </a:rPr>
              <a:t>A nonsignificant conditional-model advantage does not mean the experimental conditions are irrelevant.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104847" cy="77724"/>
          </a:xfrm>
          <a:prstGeom prst="rect">
            <a:avLst/>
          </a:prstGeom>
          <a:gradFill rotWithShape="1">
            <a:gsLst>
              <a:gs pos="0">
                <a:srgbClr val="1B6FEA"/>
              </a:gs>
              <a:gs pos="100000">
                <a:srgbClr val="17A2A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847" y="0"/>
            <a:ext cx="6104847" cy="77724"/>
          </a:xfrm>
          <a:prstGeom prst="rect">
            <a:avLst/>
          </a:prstGeom>
          <a:gradFill rotWithShape="1">
            <a:gsLst>
              <a:gs pos="0">
                <a:srgbClr val="17A2A2"/>
              </a:gs>
              <a:gs pos="100000">
                <a:srgbClr val="7A5CF0"/>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92608"/>
            <a:ext cx="8716975" cy="566928"/>
          </a:xfrm>
          <a:prstGeom prst="rect">
            <a:avLst/>
          </a:prstGeom>
          <a:noFill/>
        </p:spPr>
        <p:txBody>
          <a:bodyPr wrap="square" lIns="0" rIns="0" tIns="0" bIns="0">
            <a:spAutoFit/>
          </a:bodyPr>
          <a:lstStyle/>
          <a:p>
            <a:pPr algn="l"/>
            <a:r>
              <a:rPr sz="2400" b="1">
                <a:solidFill>
                  <a:srgbClr val="161E2E"/>
                </a:solidFill>
                <a:latin typeface="Calibri"/>
              </a:rPr>
              <a:t>Backup: where the generated variation comes from</a:t>
            </a:r>
          </a:p>
        </p:txBody>
      </p:sp>
      <p:sp>
        <p:nvSpPr>
          <p:cNvPr id="6" name="Rounded Rectangle 5"/>
          <p:cNvSpPr/>
          <p:nvPr/>
        </p:nvSpPr>
        <p:spPr>
          <a:xfrm>
            <a:off x="10604449" y="347472"/>
            <a:ext cx="810006" cy="327914"/>
          </a:xfrm>
          <a:prstGeom prst="roundRect">
            <a:avLst>
              <a:gd name="adj" fmla="val 50000"/>
            </a:avLst>
          </a:prstGeom>
          <a:solidFill>
            <a:srgbClr val="EF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737E8B"/>
                </a:solidFill>
                <a:latin typeface="Calibri"/>
              </a:rPr>
              <a:t>BACKUP</a:t>
            </a:r>
          </a:p>
        </p:txBody>
      </p:sp>
      <p:sp>
        <p:nvSpPr>
          <p:cNvPr id="7" name="Rectangle 6"/>
          <p:cNvSpPr/>
          <p:nvPr/>
        </p:nvSpPr>
        <p:spPr>
          <a:xfrm>
            <a:off x="777240" y="950976"/>
            <a:ext cx="10637215" cy="9525"/>
          </a:xfrm>
          <a:prstGeom prst="rect">
            <a:avLst/>
          </a:prstGeom>
          <a:solidFill>
            <a:srgbClr val="E1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188720"/>
            <a:ext cx="10637215" cy="396240"/>
          </a:xfrm>
          <a:prstGeom prst="rect">
            <a:avLst/>
          </a:prstGeom>
          <a:noFill/>
        </p:spPr>
        <p:txBody>
          <a:bodyPr wrap="square" lIns="0" rIns="0" tIns="0" bIns="0">
            <a:spAutoFit/>
          </a:bodyPr>
          <a:lstStyle/>
          <a:p>
            <a:pPr algn="l"/>
            <a:r>
              <a:rPr sz="2400" b="0">
                <a:solidFill>
                  <a:srgbClr val="3D4756"/>
                </a:solidFill>
                <a:latin typeface="Calibri"/>
              </a:rPr>
              <a:t>The personal center averages context codes.</a:t>
            </a:r>
          </a:p>
        </p:txBody>
      </p:sp>
      <p:sp>
        <p:nvSpPr>
          <p:cNvPr id="9" name="TextBox 8"/>
          <p:cNvSpPr txBox="1"/>
          <p:nvPr/>
        </p:nvSpPr>
        <p:spPr>
          <a:xfrm>
            <a:off x="777240" y="1877568"/>
            <a:ext cx="10637215" cy="396240"/>
          </a:xfrm>
          <a:prstGeom prst="rect">
            <a:avLst/>
          </a:prstGeom>
          <a:noFill/>
        </p:spPr>
        <p:txBody>
          <a:bodyPr wrap="square" lIns="0" rIns="0" tIns="0" bIns="0">
            <a:spAutoFit/>
          </a:bodyPr>
          <a:lstStyle/>
          <a:p>
            <a:pPr algn="l"/>
            <a:r>
              <a:rPr sz="2400" b="0">
                <a:solidFill>
                  <a:srgbClr val="3D4756"/>
                </a:solidFill>
                <a:latin typeface="Calibri"/>
              </a:rPr>
              <a:t>Training residuals estimate within-person latent variation.</a:t>
            </a:r>
          </a:p>
        </p:txBody>
      </p:sp>
      <p:sp>
        <p:nvSpPr>
          <p:cNvPr id="10" name="TextBox 9"/>
          <p:cNvSpPr txBox="1"/>
          <p:nvPr/>
        </p:nvSpPr>
        <p:spPr>
          <a:xfrm>
            <a:off x="777240" y="2566416"/>
            <a:ext cx="10637215" cy="396240"/>
          </a:xfrm>
          <a:prstGeom prst="rect">
            <a:avLst/>
          </a:prstGeom>
          <a:noFill/>
        </p:spPr>
        <p:txBody>
          <a:bodyPr wrap="square" lIns="0" rIns="0" tIns="0" bIns="0">
            <a:spAutoFit/>
          </a:bodyPr>
          <a:lstStyle/>
          <a:p>
            <a:pPr algn="l"/>
            <a:r>
              <a:rPr sz="2400" b="0">
                <a:solidFill>
                  <a:srgbClr val="3D4756"/>
                </a:solidFill>
                <a:latin typeface="Calibri"/>
              </a:rPr>
              <a:t>Variational models also add average posterior variance.</a:t>
            </a:r>
          </a:p>
        </p:txBody>
      </p:sp>
      <p:pic>
        <p:nvPicPr>
          <p:cNvPr id="11" name="Picture 10" descr="equation_covariance.png"/>
          <p:cNvPicPr>
            <a:picLocks noChangeAspect="1"/>
          </p:cNvPicPr>
          <p:nvPr/>
        </p:nvPicPr>
        <p:blipFill>
          <a:blip r:embed="rId2"/>
          <a:stretch>
            <a:fillRect/>
          </a:stretch>
        </p:blipFill>
        <p:spPr>
          <a:xfrm>
            <a:off x="777240" y="3255264"/>
            <a:ext cx="10637215" cy="775630"/>
          </a:xfrm>
          <a:prstGeom prst="rect">
            <a:avLst/>
          </a:prstGeom>
        </p:spPr>
      </p:pic>
      <p:sp>
        <p:nvSpPr>
          <p:cNvPr id="12" name="Rectangle 11"/>
          <p:cNvSpPr/>
          <p:nvPr/>
        </p:nvSpPr>
        <p:spPr>
          <a:xfrm>
            <a:off x="777240" y="4323502"/>
            <a:ext cx="10637215" cy="1384808"/>
          </a:xfrm>
          <a:prstGeom prst="rect">
            <a:avLst/>
          </a:prstGeom>
          <a:solidFill>
            <a:srgbClr val="EF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323502"/>
            <a:ext cx="109728" cy="1384808"/>
          </a:xfrm>
          <a:prstGeom prst="rect">
            <a:avLst/>
          </a:prstGeom>
          <a:solidFill>
            <a:srgbClr val="1B6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16152" y="4616110"/>
            <a:ext cx="9576511" cy="726440"/>
          </a:xfrm>
          <a:prstGeom prst="rect">
            <a:avLst/>
          </a:prstGeom>
          <a:noFill/>
        </p:spPr>
        <p:txBody>
          <a:bodyPr wrap="square" lIns="0" rIns="0" tIns="0" bIns="0">
            <a:spAutoFit/>
          </a:bodyPr>
          <a:lstStyle/>
          <a:p>
            <a:pPr algn="l"/>
            <a:r>
              <a:rPr sz="2200" b="0">
                <a:solidFill>
                  <a:srgbClr val="3D4756"/>
                </a:solidFill>
                <a:latin typeface="Calibri"/>
              </a:rPr>
              <a:t>One shared covariance for every participant; 120 draws around each personal center.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104847" cy="77724"/>
          </a:xfrm>
          <a:prstGeom prst="rect">
            <a:avLst/>
          </a:prstGeom>
          <a:gradFill rotWithShape="1">
            <a:gsLst>
              <a:gs pos="0">
                <a:srgbClr val="1B6FEA"/>
              </a:gs>
              <a:gs pos="100000">
                <a:srgbClr val="17A2A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847" y="0"/>
            <a:ext cx="6104847" cy="77724"/>
          </a:xfrm>
          <a:prstGeom prst="rect">
            <a:avLst/>
          </a:prstGeom>
          <a:gradFill rotWithShape="1">
            <a:gsLst>
              <a:gs pos="0">
                <a:srgbClr val="17A2A2"/>
              </a:gs>
              <a:gs pos="100000">
                <a:srgbClr val="7A5CF0"/>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92608"/>
            <a:ext cx="8716975" cy="566928"/>
          </a:xfrm>
          <a:prstGeom prst="rect">
            <a:avLst/>
          </a:prstGeom>
          <a:noFill/>
        </p:spPr>
        <p:txBody>
          <a:bodyPr wrap="square" lIns="0" rIns="0" tIns="0" bIns="0">
            <a:spAutoFit/>
          </a:bodyPr>
          <a:lstStyle/>
          <a:p>
            <a:pPr algn="l"/>
            <a:r>
              <a:rPr sz="2400" b="1">
                <a:solidFill>
                  <a:srgbClr val="161E2E"/>
                </a:solidFill>
                <a:latin typeface="Calibri"/>
              </a:rPr>
              <a:t>Backup: leakage and held-out evaluation</a:t>
            </a:r>
          </a:p>
        </p:txBody>
      </p:sp>
      <p:sp>
        <p:nvSpPr>
          <p:cNvPr id="6" name="Rounded Rectangle 5"/>
          <p:cNvSpPr/>
          <p:nvPr/>
        </p:nvSpPr>
        <p:spPr>
          <a:xfrm>
            <a:off x="10604449" y="347472"/>
            <a:ext cx="810006" cy="327914"/>
          </a:xfrm>
          <a:prstGeom prst="roundRect">
            <a:avLst>
              <a:gd name="adj" fmla="val 50000"/>
            </a:avLst>
          </a:prstGeom>
          <a:solidFill>
            <a:srgbClr val="EF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737E8B"/>
                </a:solidFill>
                <a:latin typeface="Calibri"/>
              </a:rPr>
              <a:t>BACKUP</a:t>
            </a:r>
          </a:p>
        </p:txBody>
      </p:sp>
      <p:sp>
        <p:nvSpPr>
          <p:cNvPr id="7" name="Rectangle 6"/>
          <p:cNvSpPr/>
          <p:nvPr/>
        </p:nvSpPr>
        <p:spPr>
          <a:xfrm>
            <a:off x="777240" y="950976"/>
            <a:ext cx="10637215" cy="9525"/>
          </a:xfrm>
          <a:prstGeom prst="rect">
            <a:avLst/>
          </a:prstGeom>
          <a:solidFill>
            <a:srgbClr val="E1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777240" y="1188720"/>
          <a:ext cx="10637213" cy="4179098"/>
        </p:xfrm>
        <a:graphic>
          <a:graphicData uri="http://schemas.openxmlformats.org/drawingml/2006/table">
            <a:tbl>
              <a:tblPr firstRow="1" bandRow="1">
                <a:tableStyleId>{5C22544A-7EE6-4342-B048-85BDC9FD1C3A}</a:tableStyleId>
              </a:tblPr>
              <a:tblGrid>
                <a:gridCol w="3788597"/>
                <a:gridCol w="1165722"/>
                <a:gridCol w="1457152"/>
                <a:gridCol w="1748583"/>
                <a:gridCol w="2477159"/>
              </a:tblGrid>
              <a:tr h="597014">
                <a:tc>
                  <a:txBody>
                    <a:bodyPr/>
                    <a:lstStyle/>
                    <a:p>
                      <a:r>
                        <a:rPr sz="1564" b="1">
                          <a:solidFill>
                            <a:srgbClr val="FFFFFF"/>
                          </a:solidFill>
                          <a:latin typeface="Calibri"/>
                        </a:rPr>
                        <a:t>Information</a:t>
                      </a:r>
                    </a:p>
                  </a:txBody>
                  <a:tcPr marL="111940" marR="111940" marT="37313" marB="37313" anchor="ctr">
                    <a:solidFill>
                      <a:srgbClr val="0E1729"/>
                    </a:solidFill>
                  </a:tcPr>
                </a:tc>
                <a:tc>
                  <a:txBody>
                    <a:bodyPr/>
                    <a:lstStyle/>
                    <a:p>
                      <a:r>
                        <a:rPr sz="1564" b="1">
                          <a:solidFill>
                            <a:srgbClr val="FFFFFF"/>
                          </a:solidFill>
                          <a:latin typeface="Calibri"/>
                        </a:rPr>
                        <a:t>Training</a:t>
                      </a:r>
                    </a:p>
                  </a:txBody>
                  <a:tcPr marL="111940" marR="111940" marT="37313" marB="37313" anchor="ctr">
                    <a:solidFill>
                      <a:srgbClr val="0E1729"/>
                    </a:solidFill>
                  </a:tcPr>
                </a:tc>
                <a:tc>
                  <a:txBody>
                    <a:bodyPr/>
                    <a:lstStyle/>
                    <a:p>
                      <a:r>
                        <a:rPr sz="1564" b="1">
                          <a:solidFill>
                            <a:srgbClr val="FFFFFF"/>
                          </a:solidFill>
                          <a:latin typeface="Calibri"/>
                        </a:rPr>
                        <a:t>Validation</a:t>
                      </a:r>
                    </a:p>
                  </a:txBody>
                  <a:tcPr marL="111940" marR="111940" marT="37313" marB="37313" anchor="ctr">
                    <a:solidFill>
                      <a:srgbClr val="0E1729"/>
                    </a:solidFill>
                  </a:tcPr>
                </a:tc>
                <a:tc>
                  <a:txBody>
                    <a:bodyPr/>
                    <a:lstStyle/>
                    <a:p>
                      <a:r>
                        <a:rPr sz="1564" b="1">
                          <a:solidFill>
                            <a:srgbClr val="FFFFFF"/>
                          </a:solidFill>
                          <a:latin typeface="Calibri"/>
                        </a:rPr>
                        <a:t>Test context</a:t>
                      </a:r>
                    </a:p>
                  </a:txBody>
                  <a:tcPr marL="111940" marR="111940" marT="37313" marB="37313" anchor="ctr">
                    <a:solidFill>
                      <a:srgbClr val="0E1729"/>
                    </a:solidFill>
                  </a:tcPr>
                </a:tc>
                <a:tc>
                  <a:txBody>
                    <a:bodyPr/>
                    <a:lstStyle/>
                    <a:p>
                      <a:r>
                        <a:rPr sz="1564" b="1">
                          <a:solidFill>
                            <a:srgbClr val="FFFFFF"/>
                          </a:solidFill>
                          <a:latin typeface="Calibri"/>
                        </a:rPr>
                        <a:t>Test query</a:t>
                      </a:r>
                    </a:p>
                  </a:txBody>
                  <a:tcPr marL="111940" marR="111940" marT="37313" marB="37313" anchor="ctr">
                    <a:solidFill>
                      <a:srgbClr val="0E1729"/>
                    </a:solidFill>
                  </a:tcPr>
                </a:tc>
              </a:tr>
              <a:tr h="597014">
                <a:tc>
                  <a:txBody>
                    <a:bodyPr/>
                    <a:lstStyle/>
                    <a:p>
                      <a:r>
                        <a:rPr sz="1564" b="1">
                          <a:solidFill>
                            <a:srgbClr val="161E2E"/>
                          </a:solidFill>
                          <a:latin typeface="Calibri"/>
                        </a:rPr>
                        <a:t>Fit network/PCA/scalers</a:t>
                      </a:r>
                    </a:p>
                  </a:txBody>
                  <a:tcPr marL="111940" marR="111940" marT="37313" marB="37313" anchor="ctr">
                    <a:solidFill>
                      <a:srgbClr val="FFFFFF"/>
                    </a:solidFill>
                  </a:tcPr>
                </a:tc>
                <a:tc>
                  <a:txBody>
                    <a:bodyPr/>
                    <a:lstStyle/>
                    <a:p>
                      <a:r>
                        <a:rPr sz="1564" b="0">
                          <a:solidFill>
                            <a:srgbClr val="3D4756"/>
                          </a:solidFill>
                          <a:latin typeface="Calibri"/>
                        </a:rPr>
                        <a:t>Yes</a:t>
                      </a:r>
                    </a:p>
                  </a:txBody>
                  <a:tcPr marL="111940" marR="111940" marT="37313" marB="37313" anchor="ctr">
                    <a:solidFill>
                      <a:srgbClr val="FFFFFF"/>
                    </a:solidFill>
                  </a:tcPr>
                </a:tc>
                <a:tc>
                  <a:txBody>
                    <a:bodyPr/>
                    <a:lstStyle/>
                    <a:p>
                      <a:r>
                        <a:rPr sz="1564" b="0">
                          <a:solidFill>
                            <a:srgbClr val="3D4756"/>
                          </a:solidFill>
                          <a:latin typeface="Calibri"/>
                        </a:rPr>
                        <a:t>No</a:t>
                      </a:r>
                    </a:p>
                  </a:txBody>
                  <a:tcPr marL="111940" marR="111940" marT="37313" marB="37313" anchor="ctr">
                    <a:solidFill>
                      <a:srgbClr val="FFFFFF"/>
                    </a:solidFill>
                  </a:tcPr>
                </a:tc>
                <a:tc>
                  <a:txBody>
                    <a:bodyPr/>
                    <a:lstStyle/>
                    <a:p>
                      <a:r>
                        <a:rPr sz="1564" b="0">
                          <a:solidFill>
                            <a:srgbClr val="3D4756"/>
                          </a:solidFill>
                          <a:latin typeface="Calibri"/>
                        </a:rPr>
                        <a:t>No</a:t>
                      </a:r>
                    </a:p>
                  </a:txBody>
                  <a:tcPr marL="111940" marR="111940" marT="37313" marB="37313" anchor="ctr">
                    <a:solidFill>
                      <a:srgbClr val="FFFFFF"/>
                    </a:solidFill>
                  </a:tcPr>
                </a:tc>
                <a:tc>
                  <a:txBody>
                    <a:bodyPr/>
                    <a:lstStyle/>
                    <a:p>
                      <a:r>
                        <a:rPr sz="1564" b="0">
                          <a:solidFill>
                            <a:srgbClr val="3D4756"/>
                          </a:solidFill>
                          <a:latin typeface="Calibri"/>
                        </a:rPr>
                        <a:t>No</a:t>
                      </a:r>
                    </a:p>
                  </a:txBody>
                  <a:tcPr marL="111940" marR="111940" marT="37313" marB="37313" anchor="ctr">
                    <a:solidFill>
                      <a:srgbClr val="FFFFFF"/>
                    </a:solidFill>
                  </a:tcPr>
                </a:tc>
              </a:tr>
              <a:tr h="597014">
                <a:tc>
                  <a:txBody>
                    <a:bodyPr/>
                    <a:lstStyle/>
                    <a:p>
                      <a:r>
                        <a:rPr sz="1564" b="1">
                          <a:solidFill>
                            <a:srgbClr val="161E2E"/>
                          </a:solidFill>
                          <a:latin typeface="Calibri"/>
                        </a:rPr>
                        <a:t>Select checkpoint/settings</a:t>
                      </a:r>
                    </a:p>
                  </a:txBody>
                  <a:tcPr marL="111940" marR="111940" marT="37313" marB="37313" anchor="ctr">
                    <a:solidFill>
                      <a:srgbClr val="F8FAFC"/>
                    </a:solidFill>
                  </a:tcPr>
                </a:tc>
                <a:tc>
                  <a:txBody>
                    <a:bodyPr/>
                    <a:lstStyle/>
                    <a:p>
                      <a:r>
                        <a:rPr sz="1564" b="0">
                          <a:solidFill>
                            <a:srgbClr val="3D4756"/>
                          </a:solidFill>
                          <a:latin typeface="Calibri"/>
                        </a:rPr>
                        <a:t>No</a:t>
                      </a:r>
                    </a:p>
                  </a:txBody>
                  <a:tcPr marL="111940" marR="111940" marT="37313" marB="37313" anchor="ctr">
                    <a:solidFill>
                      <a:srgbClr val="F8FAFC"/>
                    </a:solidFill>
                  </a:tcPr>
                </a:tc>
                <a:tc>
                  <a:txBody>
                    <a:bodyPr/>
                    <a:lstStyle/>
                    <a:p>
                      <a:r>
                        <a:rPr sz="1564" b="0">
                          <a:solidFill>
                            <a:srgbClr val="3D4756"/>
                          </a:solidFill>
                          <a:latin typeface="Calibri"/>
                        </a:rPr>
                        <a:t>Yes</a:t>
                      </a:r>
                    </a:p>
                  </a:txBody>
                  <a:tcPr marL="111940" marR="111940" marT="37313" marB="37313" anchor="ctr">
                    <a:solidFill>
                      <a:srgbClr val="F8FAFC"/>
                    </a:solidFill>
                  </a:tcPr>
                </a:tc>
                <a:tc>
                  <a:txBody>
                    <a:bodyPr/>
                    <a:lstStyle/>
                    <a:p>
                      <a:r>
                        <a:rPr sz="1564" b="0">
                          <a:solidFill>
                            <a:srgbClr val="3D4756"/>
                          </a:solidFill>
                          <a:latin typeface="Calibri"/>
                        </a:rPr>
                        <a:t>No</a:t>
                      </a:r>
                    </a:p>
                  </a:txBody>
                  <a:tcPr marL="111940" marR="111940" marT="37313" marB="37313" anchor="ctr">
                    <a:solidFill>
                      <a:srgbClr val="F8FAFC"/>
                    </a:solidFill>
                  </a:tcPr>
                </a:tc>
                <a:tc>
                  <a:txBody>
                    <a:bodyPr/>
                    <a:lstStyle/>
                    <a:p>
                      <a:r>
                        <a:rPr sz="1564" b="0">
                          <a:solidFill>
                            <a:srgbClr val="3D4756"/>
                          </a:solidFill>
                          <a:latin typeface="Calibri"/>
                        </a:rPr>
                        <a:t>No</a:t>
                      </a:r>
                    </a:p>
                  </a:txBody>
                  <a:tcPr marL="111940" marR="111940" marT="37313" marB="37313" anchor="ctr">
                    <a:solidFill>
                      <a:srgbClr val="F8FAFC"/>
                    </a:solidFill>
                  </a:tcPr>
                </a:tc>
              </a:tr>
              <a:tr h="597014">
                <a:tc>
                  <a:txBody>
                    <a:bodyPr/>
                    <a:lstStyle/>
                    <a:p>
                      <a:r>
                        <a:rPr sz="1564" b="1">
                          <a:solidFill>
                            <a:srgbClr val="161E2E"/>
                          </a:solidFill>
                          <a:latin typeface="Calibri"/>
                        </a:rPr>
                        <a:t>Personal center</a:t>
                      </a:r>
                    </a:p>
                  </a:txBody>
                  <a:tcPr marL="111940" marR="111940" marT="37313" marB="37313" anchor="ctr">
                    <a:solidFill>
                      <a:srgbClr val="FFFFFF"/>
                    </a:solidFill>
                  </a:tcPr>
                </a:tc>
                <a:tc>
                  <a:txBody>
                    <a:bodyPr/>
                    <a:lstStyle/>
                    <a:p>
                      <a:r>
                        <a:rPr sz="1564" b="0">
                          <a:solidFill>
                            <a:srgbClr val="3D4756"/>
                          </a:solidFill>
                          <a:latin typeface="Calibri"/>
                        </a:rPr>
                        <a:t>No</a:t>
                      </a:r>
                    </a:p>
                  </a:txBody>
                  <a:tcPr marL="111940" marR="111940" marT="37313" marB="37313" anchor="ctr">
                    <a:solidFill>
                      <a:srgbClr val="FFFFFF"/>
                    </a:solidFill>
                  </a:tcPr>
                </a:tc>
                <a:tc>
                  <a:txBody>
                    <a:bodyPr/>
                    <a:lstStyle/>
                    <a:p>
                      <a:r>
                        <a:rPr sz="1564" b="0">
                          <a:solidFill>
                            <a:srgbClr val="3D4756"/>
                          </a:solidFill>
                          <a:latin typeface="Calibri"/>
                        </a:rPr>
                        <a:t>No</a:t>
                      </a:r>
                    </a:p>
                  </a:txBody>
                  <a:tcPr marL="111940" marR="111940" marT="37313" marB="37313" anchor="ctr">
                    <a:solidFill>
                      <a:srgbClr val="FFFFFF"/>
                    </a:solidFill>
                  </a:tcPr>
                </a:tc>
                <a:tc>
                  <a:txBody>
                    <a:bodyPr/>
                    <a:lstStyle/>
                    <a:p>
                      <a:r>
                        <a:rPr sz="1564" b="0">
                          <a:solidFill>
                            <a:srgbClr val="3D4756"/>
                          </a:solidFill>
                          <a:latin typeface="Calibri"/>
                        </a:rPr>
                        <a:t>Yes</a:t>
                      </a:r>
                    </a:p>
                  </a:txBody>
                  <a:tcPr marL="111940" marR="111940" marT="37313" marB="37313" anchor="ctr">
                    <a:solidFill>
                      <a:srgbClr val="FFFFFF"/>
                    </a:solidFill>
                  </a:tcPr>
                </a:tc>
                <a:tc>
                  <a:txBody>
                    <a:bodyPr/>
                    <a:lstStyle/>
                    <a:p>
                      <a:r>
                        <a:rPr sz="1564" b="0">
                          <a:solidFill>
                            <a:srgbClr val="3D4756"/>
                          </a:solidFill>
                          <a:latin typeface="Calibri"/>
                        </a:rPr>
                        <a:t>No</a:t>
                      </a:r>
                    </a:p>
                  </a:txBody>
                  <a:tcPr marL="111940" marR="111940" marT="37313" marB="37313" anchor="ctr">
                    <a:solidFill>
                      <a:srgbClr val="FFFFFF"/>
                    </a:solidFill>
                  </a:tcPr>
                </a:tc>
              </a:tr>
              <a:tr h="597014">
                <a:tc>
                  <a:txBody>
                    <a:bodyPr/>
                    <a:lstStyle/>
                    <a:p>
                      <a:r>
                        <a:rPr sz="1564" b="1">
                          <a:solidFill>
                            <a:srgbClr val="161E2E"/>
                          </a:solidFill>
                          <a:latin typeface="Calibri"/>
                        </a:rPr>
                        <a:t>Reconstruction input</a:t>
                      </a:r>
                    </a:p>
                  </a:txBody>
                  <a:tcPr marL="111940" marR="111940" marT="37313" marB="37313" anchor="ctr">
                    <a:solidFill>
                      <a:srgbClr val="F8FAFC"/>
                    </a:solidFill>
                  </a:tcPr>
                </a:tc>
                <a:tc>
                  <a:txBody>
                    <a:bodyPr/>
                    <a:lstStyle/>
                    <a:p>
                      <a:r>
                        <a:rPr sz="1564" b="0">
                          <a:solidFill>
                            <a:srgbClr val="3D4756"/>
                          </a:solidFill>
                          <a:latin typeface="Calibri"/>
                        </a:rPr>
                        <a:t>No</a:t>
                      </a:r>
                    </a:p>
                  </a:txBody>
                  <a:tcPr marL="111940" marR="111940" marT="37313" marB="37313" anchor="ctr">
                    <a:solidFill>
                      <a:srgbClr val="F8FAFC"/>
                    </a:solidFill>
                  </a:tcPr>
                </a:tc>
                <a:tc>
                  <a:txBody>
                    <a:bodyPr/>
                    <a:lstStyle/>
                    <a:p>
                      <a:r>
                        <a:rPr sz="1564" b="0">
                          <a:solidFill>
                            <a:srgbClr val="3D4756"/>
                          </a:solidFill>
                          <a:latin typeface="Calibri"/>
                        </a:rPr>
                        <a:t>No</a:t>
                      </a:r>
                    </a:p>
                  </a:txBody>
                  <a:tcPr marL="111940" marR="111940" marT="37313" marB="37313" anchor="ctr">
                    <a:solidFill>
                      <a:srgbClr val="F8FAFC"/>
                    </a:solidFill>
                  </a:tcPr>
                </a:tc>
                <a:tc>
                  <a:txBody>
                    <a:bodyPr/>
                    <a:lstStyle/>
                    <a:p>
                      <a:r>
                        <a:rPr sz="1564" b="0">
                          <a:solidFill>
                            <a:srgbClr val="3D4756"/>
                          </a:solidFill>
                          <a:latin typeface="Calibri"/>
                        </a:rPr>
                        <a:t>No</a:t>
                      </a:r>
                    </a:p>
                  </a:txBody>
                  <a:tcPr marL="111940" marR="111940" marT="37313" marB="37313" anchor="ctr">
                    <a:solidFill>
                      <a:srgbClr val="F8FAFC"/>
                    </a:solidFill>
                  </a:tcPr>
                </a:tc>
                <a:tc>
                  <a:txBody>
                    <a:bodyPr/>
                    <a:lstStyle/>
                    <a:p>
                      <a:r>
                        <a:rPr sz="1564" b="0">
                          <a:solidFill>
                            <a:srgbClr val="3D4756"/>
                          </a:solidFill>
                          <a:latin typeface="Calibri"/>
                        </a:rPr>
                        <a:t>Observed path</a:t>
                      </a:r>
                    </a:p>
                  </a:txBody>
                  <a:tcPr marL="111940" marR="111940" marT="37313" marB="37313" anchor="ctr">
                    <a:solidFill>
                      <a:srgbClr val="F8FAFC"/>
                    </a:solidFill>
                  </a:tcPr>
                </a:tc>
              </a:tr>
              <a:tr h="597014">
                <a:tc>
                  <a:txBody>
                    <a:bodyPr/>
                    <a:lstStyle/>
                    <a:p>
                      <a:r>
                        <a:rPr sz="1564" b="1">
                          <a:solidFill>
                            <a:srgbClr val="161E2E"/>
                          </a:solidFill>
                          <a:latin typeface="Calibri"/>
                        </a:rPr>
                        <a:t>Generation task mixture</a:t>
                      </a:r>
                    </a:p>
                  </a:txBody>
                  <a:tcPr marL="111940" marR="111940" marT="37313" marB="37313" anchor="ctr">
                    <a:solidFill>
                      <a:srgbClr val="FFFFFF"/>
                    </a:solidFill>
                  </a:tcPr>
                </a:tc>
                <a:tc>
                  <a:txBody>
                    <a:bodyPr/>
                    <a:lstStyle/>
                    <a:p>
                      <a:r>
                        <a:rPr sz="1564" b="0">
                          <a:solidFill>
                            <a:srgbClr val="3D4756"/>
                          </a:solidFill>
                          <a:latin typeface="Calibri"/>
                        </a:rPr>
                        <a:t>No</a:t>
                      </a:r>
                    </a:p>
                  </a:txBody>
                  <a:tcPr marL="111940" marR="111940" marT="37313" marB="37313" anchor="ctr">
                    <a:solidFill>
                      <a:srgbClr val="FFFFFF"/>
                    </a:solidFill>
                  </a:tcPr>
                </a:tc>
                <a:tc>
                  <a:txBody>
                    <a:bodyPr/>
                    <a:lstStyle/>
                    <a:p>
                      <a:r>
                        <a:rPr sz="1564" b="0">
                          <a:solidFill>
                            <a:srgbClr val="3D4756"/>
                          </a:solidFill>
                          <a:latin typeface="Calibri"/>
                        </a:rPr>
                        <a:t>No</a:t>
                      </a:r>
                    </a:p>
                  </a:txBody>
                  <a:tcPr marL="111940" marR="111940" marT="37313" marB="37313" anchor="ctr">
                    <a:solidFill>
                      <a:srgbClr val="FFFFFF"/>
                    </a:solidFill>
                  </a:tcPr>
                </a:tc>
                <a:tc>
                  <a:txBody>
                    <a:bodyPr/>
                    <a:lstStyle/>
                    <a:p>
                      <a:r>
                        <a:rPr sz="1564" b="0">
                          <a:solidFill>
                            <a:srgbClr val="3D4756"/>
                          </a:solidFill>
                          <a:latin typeface="Calibri"/>
                        </a:rPr>
                        <a:t>No</a:t>
                      </a:r>
                    </a:p>
                  </a:txBody>
                  <a:tcPr marL="111940" marR="111940" marT="37313" marB="37313" anchor="ctr">
                    <a:solidFill>
                      <a:srgbClr val="FFFFFF"/>
                    </a:solidFill>
                  </a:tcPr>
                </a:tc>
                <a:tc>
                  <a:txBody>
                    <a:bodyPr/>
                    <a:lstStyle/>
                    <a:p>
                      <a:r>
                        <a:rPr sz="1564" b="0">
                          <a:solidFill>
                            <a:srgbClr val="3D4756"/>
                          </a:solidFill>
                          <a:latin typeface="Calibri"/>
                        </a:rPr>
                        <a:t>Metadata only</a:t>
                      </a:r>
                    </a:p>
                  </a:txBody>
                  <a:tcPr marL="111940" marR="111940" marT="37313" marB="37313" anchor="ctr">
                    <a:solidFill>
                      <a:srgbClr val="FFFFFF"/>
                    </a:solidFill>
                  </a:tcPr>
                </a:tc>
              </a:tr>
              <a:tr h="597014">
                <a:tc>
                  <a:txBody>
                    <a:bodyPr/>
                    <a:lstStyle/>
                    <a:p>
                      <a:r>
                        <a:rPr sz="1564" b="1">
                          <a:solidFill>
                            <a:srgbClr val="161E2E"/>
                          </a:solidFill>
                          <a:latin typeface="Calibri"/>
                        </a:rPr>
                        <a:t>Generation scoring</a:t>
                      </a:r>
                    </a:p>
                  </a:txBody>
                  <a:tcPr marL="111940" marR="111940" marT="37313" marB="37313" anchor="ctr">
                    <a:solidFill>
                      <a:srgbClr val="F8FAFC"/>
                    </a:solidFill>
                  </a:tcPr>
                </a:tc>
                <a:tc>
                  <a:txBody>
                    <a:bodyPr/>
                    <a:lstStyle/>
                    <a:p>
                      <a:r>
                        <a:rPr sz="1564" b="0">
                          <a:solidFill>
                            <a:srgbClr val="3D4756"/>
                          </a:solidFill>
                          <a:latin typeface="Calibri"/>
                        </a:rPr>
                        <a:t>No</a:t>
                      </a:r>
                    </a:p>
                  </a:txBody>
                  <a:tcPr marL="111940" marR="111940" marT="37313" marB="37313" anchor="ctr">
                    <a:solidFill>
                      <a:srgbClr val="F8FAFC"/>
                    </a:solidFill>
                  </a:tcPr>
                </a:tc>
                <a:tc>
                  <a:txBody>
                    <a:bodyPr/>
                    <a:lstStyle/>
                    <a:p>
                      <a:r>
                        <a:rPr sz="1564" b="0">
                          <a:solidFill>
                            <a:srgbClr val="3D4756"/>
                          </a:solidFill>
                          <a:latin typeface="Calibri"/>
                        </a:rPr>
                        <a:t>No</a:t>
                      </a:r>
                    </a:p>
                  </a:txBody>
                  <a:tcPr marL="111940" marR="111940" marT="37313" marB="37313" anchor="ctr">
                    <a:solidFill>
                      <a:srgbClr val="F8FAFC"/>
                    </a:solidFill>
                  </a:tcPr>
                </a:tc>
                <a:tc>
                  <a:txBody>
                    <a:bodyPr/>
                    <a:lstStyle/>
                    <a:p>
                      <a:r>
                        <a:rPr sz="1564" b="0">
                          <a:solidFill>
                            <a:srgbClr val="3D4756"/>
                          </a:solidFill>
                          <a:latin typeface="Calibri"/>
                        </a:rPr>
                        <a:t>No</a:t>
                      </a:r>
                    </a:p>
                  </a:txBody>
                  <a:tcPr marL="111940" marR="111940" marT="37313" marB="37313" anchor="ctr">
                    <a:solidFill>
                      <a:srgbClr val="F8FAFC"/>
                    </a:solidFill>
                  </a:tcPr>
                </a:tc>
                <a:tc>
                  <a:txBody>
                    <a:bodyPr/>
                    <a:lstStyle/>
                    <a:p>
                      <a:r>
                        <a:rPr sz="1564" b="0">
                          <a:solidFill>
                            <a:srgbClr val="3D4756"/>
                          </a:solidFill>
                          <a:latin typeface="Calibri"/>
                        </a:rPr>
                        <a:t>Paths and timings</a:t>
                      </a:r>
                    </a:p>
                  </a:txBody>
                  <a:tcPr marL="111940" marR="111940" marT="37313" marB="37313" anchor="ctr">
                    <a:solidFill>
                      <a:srgbClr val="F8FAFC"/>
                    </a:solidFill>
                  </a:tcPr>
                </a:tc>
              </a:tr>
            </a:tbl>
          </a:graphicData>
        </a:graphic>
      </p:graphicFrame>
      <p:sp>
        <p:nvSpPr>
          <p:cNvPr id="9" name="Rectangle 8"/>
          <p:cNvSpPr/>
          <p:nvPr/>
        </p:nvSpPr>
        <p:spPr>
          <a:xfrm>
            <a:off x="777240" y="5616573"/>
            <a:ext cx="10637215" cy="694788"/>
          </a:xfrm>
          <a:prstGeom prst="rect">
            <a:avLst/>
          </a:prstGeom>
          <a:solidFill>
            <a:srgbClr val="EF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616573"/>
            <a:ext cx="74626" cy="694788"/>
          </a:xfrm>
          <a:prstGeom prst="rect">
            <a:avLst/>
          </a:prstGeom>
          <a:solidFill>
            <a:srgbClr val="1B6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75747" y="5815577"/>
            <a:ext cx="9915824" cy="247028"/>
          </a:xfrm>
          <a:prstGeom prst="rect">
            <a:avLst/>
          </a:prstGeom>
          <a:noFill/>
        </p:spPr>
        <p:txBody>
          <a:bodyPr wrap="square" lIns="0" rIns="0" tIns="0" bIns="0">
            <a:spAutoFit/>
          </a:bodyPr>
          <a:lstStyle/>
          <a:p>
            <a:pPr algn="l"/>
            <a:r>
              <a:rPr sz="1496" b="0">
                <a:solidFill>
                  <a:srgbClr val="3D4756"/>
                </a:solidFill>
                <a:latin typeface="Calibri"/>
              </a:rPr>
              <a:t>Population model fitting and participant enrollment are separate stages.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104847" cy="77724"/>
          </a:xfrm>
          <a:prstGeom prst="rect">
            <a:avLst/>
          </a:prstGeom>
          <a:gradFill rotWithShape="1">
            <a:gsLst>
              <a:gs pos="0">
                <a:srgbClr val="1B6FEA"/>
              </a:gs>
              <a:gs pos="100000">
                <a:srgbClr val="17A2A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847" y="0"/>
            <a:ext cx="6104847" cy="77724"/>
          </a:xfrm>
          <a:prstGeom prst="rect">
            <a:avLst/>
          </a:prstGeom>
          <a:gradFill rotWithShape="1">
            <a:gsLst>
              <a:gs pos="0">
                <a:srgbClr val="17A2A2"/>
              </a:gs>
              <a:gs pos="100000">
                <a:srgbClr val="7A5CF0"/>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92608"/>
            <a:ext cx="8716975" cy="566928"/>
          </a:xfrm>
          <a:prstGeom prst="rect">
            <a:avLst/>
          </a:prstGeom>
          <a:noFill/>
        </p:spPr>
        <p:txBody>
          <a:bodyPr wrap="square" lIns="0" rIns="0" tIns="0" bIns="0">
            <a:spAutoFit/>
          </a:bodyPr>
          <a:lstStyle/>
          <a:p>
            <a:pPr algn="l"/>
            <a:r>
              <a:rPr sz="2400" b="1">
                <a:solidFill>
                  <a:srgbClr val="161E2E"/>
                </a:solidFill>
                <a:latin typeface="Calibri"/>
              </a:rPr>
              <a:t>Backup: what the eleven features measure</a:t>
            </a:r>
          </a:p>
        </p:txBody>
      </p:sp>
      <p:sp>
        <p:nvSpPr>
          <p:cNvPr id="6" name="Rounded Rectangle 5"/>
          <p:cNvSpPr/>
          <p:nvPr/>
        </p:nvSpPr>
        <p:spPr>
          <a:xfrm>
            <a:off x="10604449" y="347472"/>
            <a:ext cx="810006" cy="327914"/>
          </a:xfrm>
          <a:prstGeom prst="roundRect">
            <a:avLst>
              <a:gd name="adj" fmla="val 50000"/>
            </a:avLst>
          </a:prstGeom>
          <a:solidFill>
            <a:srgbClr val="EF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737E8B"/>
                </a:solidFill>
                <a:latin typeface="Calibri"/>
              </a:rPr>
              <a:t>BACKUP</a:t>
            </a:r>
          </a:p>
        </p:txBody>
      </p:sp>
      <p:sp>
        <p:nvSpPr>
          <p:cNvPr id="7" name="Rectangle 6"/>
          <p:cNvSpPr/>
          <p:nvPr/>
        </p:nvSpPr>
        <p:spPr>
          <a:xfrm>
            <a:off x="777240" y="950976"/>
            <a:ext cx="10637215" cy="9525"/>
          </a:xfrm>
          <a:prstGeom prst="rect">
            <a:avLst/>
          </a:prstGeom>
          <a:solidFill>
            <a:srgbClr val="E1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777240" y="1188720"/>
          <a:ext cx="10637214" cy="3684918"/>
        </p:xfrm>
        <a:graphic>
          <a:graphicData uri="http://schemas.openxmlformats.org/drawingml/2006/table">
            <a:tbl>
              <a:tblPr firstRow="1" bandRow="1">
                <a:tableStyleId>{5C22544A-7EE6-4342-B048-85BDC9FD1C3A}</a:tableStyleId>
              </a:tblPr>
              <a:tblGrid>
                <a:gridCol w="978134"/>
                <a:gridCol w="9659080"/>
              </a:tblGrid>
              <a:tr h="703207">
                <a:tc>
                  <a:txBody>
                    <a:bodyPr/>
                    <a:lstStyle/>
                    <a:p>
                      <a:r>
                        <a:rPr sz="1842" b="1">
                          <a:solidFill>
                            <a:srgbClr val="FFFFFF"/>
                          </a:solidFill>
                          <a:latin typeface="Calibri"/>
                        </a:rPr>
                        <a:t>Group</a:t>
                      </a:r>
                    </a:p>
                  </a:txBody>
                  <a:tcPr marL="131851" marR="131851" marT="43950" marB="43950" anchor="ctr">
                    <a:solidFill>
                      <a:srgbClr val="0E1729"/>
                    </a:solidFill>
                  </a:tcPr>
                </a:tc>
                <a:tc>
                  <a:txBody>
                    <a:bodyPr/>
                    <a:lstStyle/>
                    <a:p>
                      <a:r>
                        <a:rPr sz="1842" b="1">
                          <a:solidFill>
                            <a:srgbClr val="FFFFFF"/>
                          </a:solidFill>
                          <a:latin typeface="Calibri"/>
                        </a:rPr>
                        <a:t>Features</a:t>
                      </a:r>
                    </a:p>
                  </a:txBody>
                  <a:tcPr marL="131851" marR="131851" marT="43950" marB="43950" anchor="ctr">
                    <a:solidFill>
                      <a:srgbClr val="0E1729"/>
                    </a:solidFill>
                  </a:tcPr>
                </a:tc>
              </a:tr>
              <a:tr h="703207">
                <a:tc>
                  <a:txBody>
                    <a:bodyPr/>
                    <a:lstStyle/>
                    <a:p>
                      <a:r>
                        <a:rPr sz="1842" b="1">
                          <a:solidFill>
                            <a:srgbClr val="161E2E"/>
                          </a:solidFill>
                          <a:latin typeface="Calibri"/>
                        </a:rPr>
                        <a:t>Timing</a:t>
                      </a:r>
                    </a:p>
                  </a:txBody>
                  <a:tcPr marL="131851" marR="131851" marT="43950" marB="43950" anchor="ctr">
                    <a:solidFill>
                      <a:srgbClr val="FFFFFF"/>
                    </a:solidFill>
                  </a:tcPr>
                </a:tc>
                <a:tc>
                  <a:txBody>
                    <a:bodyPr/>
                    <a:lstStyle/>
                    <a:p>
                      <a:r>
                        <a:rPr sz="1842" b="0">
                          <a:solidFill>
                            <a:srgbClr val="3D4756"/>
                          </a:solidFill>
                          <a:latin typeface="Calibri"/>
                        </a:rPr>
                        <a:t>Initiation time; movement time; relative time to peak speed</a:t>
                      </a:r>
                    </a:p>
                  </a:txBody>
                  <a:tcPr marL="131851" marR="131851" marT="43950" marB="43950" anchor="ctr">
                    <a:solidFill>
                      <a:srgbClr val="FFFFFF"/>
                    </a:solidFill>
                  </a:tcPr>
                </a:tc>
              </a:tr>
              <a:tr h="703207">
                <a:tc>
                  <a:txBody>
                    <a:bodyPr/>
                    <a:lstStyle/>
                    <a:p>
                      <a:r>
                        <a:rPr sz="1842" b="1">
                          <a:solidFill>
                            <a:srgbClr val="161E2E"/>
                          </a:solidFill>
                          <a:latin typeface="Calibri"/>
                        </a:rPr>
                        <a:t>Speed</a:t>
                      </a:r>
                    </a:p>
                  </a:txBody>
                  <a:tcPr marL="131851" marR="131851" marT="43950" marB="43950" anchor="ctr">
                    <a:solidFill>
                      <a:srgbClr val="F8FAFC"/>
                    </a:solidFill>
                  </a:tcPr>
                </a:tc>
                <a:tc>
                  <a:txBody>
                    <a:bodyPr/>
                    <a:lstStyle/>
                    <a:p>
                      <a:r>
                        <a:rPr sz="1842" b="0">
                          <a:solidFill>
                            <a:srgbClr val="3D4756"/>
                          </a:solidFill>
                          <a:latin typeface="Calibri"/>
                        </a:rPr>
                        <a:t>Peak speed; heuristic speed-peak count</a:t>
                      </a:r>
                    </a:p>
                  </a:txBody>
                  <a:tcPr marL="131851" marR="131851" marT="43950" marB="43950" anchor="ctr">
                    <a:solidFill>
                      <a:srgbClr val="F8FAFC"/>
                    </a:solidFill>
                  </a:tcPr>
                </a:tc>
              </a:tr>
              <a:tr h="872090">
                <a:tc>
                  <a:txBody>
                    <a:bodyPr/>
                    <a:lstStyle/>
                    <a:p>
                      <a:r>
                        <a:rPr sz="1842" b="1">
                          <a:solidFill>
                            <a:srgbClr val="161E2E"/>
                          </a:solidFill>
                          <a:latin typeface="Calibri"/>
                        </a:rPr>
                        <a:t>Geometry</a:t>
                      </a:r>
                    </a:p>
                  </a:txBody>
                  <a:tcPr marL="131851" marR="131851" marT="43950" marB="43950" anchor="ctr">
                    <a:solidFill>
                      <a:srgbClr val="FFFFFF"/>
                    </a:solidFill>
                  </a:tcPr>
                </a:tc>
                <a:tc>
                  <a:txBody>
                    <a:bodyPr/>
                    <a:lstStyle/>
                    <a:p>
                      <a:r>
                        <a:rPr sz="1842" b="0">
                          <a:solidFill>
                            <a:srgbClr val="3D4756"/>
                          </a:solidFill>
                          <a:latin typeface="Calibri"/>
                        </a:rPr>
                        <a:t>Path length; straight-line distance; curvature ratio; maximum lateral deviation</a:t>
                      </a:r>
                    </a:p>
                  </a:txBody>
                  <a:tcPr marL="131851" marR="131851" marT="43950" marB="43950" anchor="ctr">
                    <a:solidFill>
                      <a:srgbClr val="FFFFFF"/>
                    </a:solidFill>
                  </a:tcPr>
                </a:tc>
              </a:tr>
              <a:tr h="703207">
                <a:tc>
                  <a:txBody>
                    <a:bodyPr/>
                    <a:lstStyle/>
                    <a:p>
                      <a:r>
                        <a:rPr sz="1842" b="1">
                          <a:solidFill>
                            <a:srgbClr val="161E2E"/>
                          </a:solidFill>
                          <a:latin typeface="Calibri"/>
                        </a:rPr>
                        <a:t>Endpoint</a:t>
                      </a:r>
                    </a:p>
                  </a:txBody>
                  <a:tcPr marL="131851" marR="131851" marT="43950" marB="43950" anchor="ctr">
                    <a:solidFill>
                      <a:srgbClr val="F8FAFC"/>
                    </a:solidFill>
                  </a:tcPr>
                </a:tc>
                <a:tc>
                  <a:txBody>
                    <a:bodyPr/>
                    <a:lstStyle/>
                    <a:p>
                      <a:r>
                        <a:rPr sz="1842" b="0">
                          <a:solidFill>
                            <a:srgbClr val="3D4756"/>
                          </a:solidFill>
                          <a:latin typeface="Calibri"/>
                        </a:rPr>
                        <a:t>Final x; final y</a:t>
                      </a:r>
                    </a:p>
                  </a:txBody>
                  <a:tcPr marL="131851" marR="131851" marT="43950" marB="43950" anchor="ctr">
                    <a:solidFill>
                      <a:srgbClr val="F8FAFC"/>
                    </a:solidFill>
                  </a:tcPr>
                </a:tc>
              </a:tr>
            </a:tbl>
          </a:graphicData>
        </a:graphic>
      </p:graphicFrame>
      <p:sp>
        <p:nvSpPr>
          <p:cNvPr id="9" name="Rectangle 8"/>
          <p:cNvSpPr/>
          <p:nvPr/>
        </p:nvSpPr>
        <p:spPr>
          <a:xfrm>
            <a:off x="777240" y="5166641"/>
            <a:ext cx="10637215" cy="1109340"/>
          </a:xfrm>
          <a:prstGeom prst="rect">
            <a:avLst/>
          </a:prstGeom>
          <a:solidFill>
            <a:srgbClr val="EF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166641"/>
            <a:ext cx="87900" cy="1109340"/>
          </a:xfrm>
          <a:prstGeom prst="rect">
            <a:avLst/>
          </a:prstGeom>
          <a:solidFill>
            <a:srgbClr val="1B6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28843" y="5401043"/>
            <a:ext cx="9787508" cy="581936"/>
          </a:xfrm>
          <a:prstGeom prst="rect">
            <a:avLst/>
          </a:prstGeom>
          <a:noFill/>
        </p:spPr>
        <p:txBody>
          <a:bodyPr wrap="square" lIns="0" rIns="0" tIns="0" bIns="0">
            <a:spAutoFit/>
          </a:bodyPr>
          <a:lstStyle/>
          <a:p>
            <a:pPr algn="l"/>
            <a:r>
              <a:rPr sz="1762" b="0">
                <a:solidFill>
                  <a:srgbClr val="3D4756"/>
                </a:solidFill>
                <a:latin typeface="Calibri"/>
              </a:rPr>
              <a:t>Generated feature computation uses predicted timing and an onset-based movement crop.</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104847" cy="77724"/>
          </a:xfrm>
          <a:prstGeom prst="rect">
            <a:avLst/>
          </a:prstGeom>
          <a:gradFill rotWithShape="1">
            <a:gsLst>
              <a:gs pos="0">
                <a:srgbClr val="1B6FEA"/>
              </a:gs>
              <a:gs pos="100000">
                <a:srgbClr val="17A2A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847" y="0"/>
            <a:ext cx="6104847" cy="77724"/>
          </a:xfrm>
          <a:prstGeom prst="rect">
            <a:avLst/>
          </a:prstGeom>
          <a:gradFill rotWithShape="1">
            <a:gsLst>
              <a:gs pos="0">
                <a:srgbClr val="17A2A2"/>
              </a:gs>
              <a:gs pos="100000">
                <a:srgbClr val="7A5CF0"/>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92608"/>
            <a:ext cx="8716975" cy="566928"/>
          </a:xfrm>
          <a:prstGeom prst="rect">
            <a:avLst/>
          </a:prstGeom>
          <a:noFill/>
        </p:spPr>
        <p:txBody>
          <a:bodyPr wrap="square" lIns="0" rIns="0" tIns="0" bIns="0">
            <a:spAutoFit/>
          </a:bodyPr>
          <a:lstStyle/>
          <a:p>
            <a:pPr algn="l"/>
            <a:r>
              <a:rPr sz="2400" b="1">
                <a:solidFill>
                  <a:srgbClr val="161E2E"/>
                </a:solidFill>
                <a:latin typeface="Calibri"/>
              </a:rPr>
              <a:t>Backup: KS and joint distribution distances</a:t>
            </a:r>
          </a:p>
        </p:txBody>
      </p:sp>
      <p:sp>
        <p:nvSpPr>
          <p:cNvPr id="6" name="Rounded Rectangle 5"/>
          <p:cNvSpPr/>
          <p:nvPr/>
        </p:nvSpPr>
        <p:spPr>
          <a:xfrm>
            <a:off x="10604449" y="347472"/>
            <a:ext cx="810006" cy="327914"/>
          </a:xfrm>
          <a:prstGeom prst="roundRect">
            <a:avLst>
              <a:gd name="adj" fmla="val 50000"/>
            </a:avLst>
          </a:prstGeom>
          <a:solidFill>
            <a:srgbClr val="EF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737E8B"/>
                </a:solidFill>
                <a:latin typeface="Calibri"/>
              </a:rPr>
              <a:t>BACKUP</a:t>
            </a:r>
          </a:p>
        </p:txBody>
      </p:sp>
      <p:sp>
        <p:nvSpPr>
          <p:cNvPr id="7" name="Rectangle 6"/>
          <p:cNvSpPr/>
          <p:nvPr/>
        </p:nvSpPr>
        <p:spPr>
          <a:xfrm>
            <a:off x="777240" y="950976"/>
            <a:ext cx="10637215" cy="9525"/>
          </a:xfrm>
          <a:prstGeom prst="rect">
            <a:avLst/>
          </a:prstGeom>
          <a:solidFill>
            <a:srgbClr val="E1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188720"/>
            <a:ext cx="10637215" cy="372724"/>
          </a:xfrm>
          <a:prstGeom prst="rect">
            <a:avLst/>
          </a:prstGeom>
          <a:noFill/>
        </p:spPr>
        <p:txBody>
          <a:bodyPr wrap="square" lIns="0" rIns="0" tIns="0" bIns="0">
            <a:spAutoFit/>
          </a:bodyPr>
          <a:lstStyle/>
          <a:p>
            <a:pPr algn="l"/>
            <a:r>
              <a:rPr sz="2257" b="0">
                <a:solidFill>
                  <a:srgbClr val="3D4756"/>
                </a:solidFill>
                <a:latin typeface="Calibri"/>
              </a:rPr>
              <a:t>KS: largest gap between two empirical cumulative curves.</a:t>
            </a:r>
          </a:p>
        </p:txBody>
      </p:sp>
      <p:sp>
        <p:nvSpPr>
          <p:cNvPr id="9" name="TextBox 8"/>
          <p:cNvSpPr txBox="1"/>
          <p:nvPr/>
        </p:nvSpPr>
        <p:spPr>
          <a:xfrm>
            <a:off x="777240" y="1836686"/>
            <a:ext cx="10637215" cy="372724"/>
          </a:xfrm>
          <a:prstGeom prst="rect">
            <a:avLst/>
          </a:prstGeom>
          <a:noFill/>
        </p:spPr>
        <p:txBody>
          <a:bodyPr wrap="square" lIns="0" rIns="0" tIns="0" bIns="0">
            <a:spAutoFit/>
          </a:bodyPr>
          <a:lstStyle/>
          <a:p>
            <a:pPr algn="l"/>
            <a:r>
              <a:rPr sz="2257" b="0">
                <a:solidFill>
                  <a:srgbClr val="3D4756"/>
                </a:solidFill>
                <a:latin typeface="Calibri"/>
              </a:rPr>
              <a:t>Mean KS: average of eleven feature statistics.</a:t>
            </a:r>
          </a:p>
        </p:txBody>
      </p:sp>
      <p:sp>
        <p:nvSpPr>
          <p:cNvPr id="10" name="TextBox 9"/>
          <p:cNvSpPr txBox="1"/>
          <p:nvPr/>
        </p:nvSpPr>
        <p:spPr>
          <a:xfrm>
            <a:off x="777240" y="2484652"/>
            <a:ext cx="10637215" cy="372724"/>
          </a:xfrm>
          <a:prstGeom prst="rect">
            <a:avLst/>
          </a:prstGeom>
          <a:noFill/>
        </p:spPr>
        <p:txBody>
          <a:bodyPr wrap="square" lIns="0" rIns="0" tIns="0" bIns="0">
            <a:spAutoFit/>
          </a:bodyPr>
          <a:lstStyle/>
          <a:p>
            <a:pPr algn="l"/>
            <a:r>
              <a:rPr sz="2257" b="0">
                <a:solidFill>
                  <a:srgbClr val="3D4756"/>
                </a:solidFill>
                <a:latin typeface="Calibri"/>
              </a:rPr>
              <a:t>Energy and MMD: compare whole vectors and account for joint structure.</a:t>
            </a:r>
          </a:p>
        </p:txBody>
      </p:sp>
      <p:pic>
        <p:nvPicPr>
          <p:cNvPr id="11" name="Picture 10" descr="equation_ks.png"/>
          <p:cNvPicPr>
            <a:picLocks noChangeAspect="1"/>
          </p:cNvPicPr>
          <p:nvPr/>
        </p:nvPicPr>
        <p:blipFill>
          <a:blip r:embed="rId2"/>
          <a:stretch>
            <a:fillRect/>
          </a:stretch>
        </p:blipFill>
        <p:spPr>
          <a:xfrm>
            <a:off x="1513249" y="3132618"/>
            <a:ext cx="9165197" cy="1371600"/>
          </a:xfrm>
          <a:prstGeom prst="rect">
            <a:avLst/>
          </a:prstGeom>
        </p:spPr>
      </p:pic>
      <p:sp>
        <p:nvSpPr>
          <p:cNvPr id="12" name="Rectangle 11"/>
          <p:cNvSpPr/>
          <p:nvPr/>
        </p:nvSpPr>
        <p:spPr>
          <a:xfrm>
            <a:off x="777240" y="4779460"/>
            <a:ext cx="10637215" cy="1302624"/>
          </a:xfrm>
          <a:prstGeom prst="rect">
            <a:avLst/>
          </a:prstGeom>
          <a:solidFill>
            <a:srgbClr val="EF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779460"/>
            <a:ext cx="103216" cy="1302624"/>
          </a:xfrm>
          <a:prstGeom prst="rect">
            <a:avLst/>
          </a:prstGeom>
          <a:solidFill>
            <a:srgbClr val="1B6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90104" y="5054702"/>
            <a:ext cx="9639461" cy="683328"/>
          </a:xfrm>
          <a:prstGeom prst="rect">
            <a:avLst/>
          </a:prstGeom>
          <a:noFill/>
        </p:spPr>
        <p:txBody>
          <a:bodyPr wrap="square" lIns="0" rIns="0" tIns="0" bIns="0">
            <a:spAutoFit/>
          </a:bodyPr>
          <a:lstStyle/>
          <a:p>
            <a:pPr algn="l"/>
            <a:r>
              <a:rPr sz="2069" b="0">
                <a:solidFill>
                  <a:srgbClr val="3D4756"/>
                </a:solidFill>
                <a:latin typeface="Calibri"/>
              </a:rPr>
              <a:t>KS statistics are not p-values. Correlated features can affect joint geometry.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104847" cy="77724"/>
          </a:xfrm>
          <a:prstGeom prst="rect">
            <a:avLst/>
          </a:prstGeom>
          <a:gradFill rotWithShape="1">
            <a:gsLst>
              <a:gs pos="0">
                <a:srgbClr val="1B6FEA"/>
              </a:gs>
              <a:gs pos="100000">
                <a:srgbClr val="17A2A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847" y="0"/>
            <a:ext cx="6104847" cy="77724"/>
          </a:xfrm>
          <a:prstGeom prst="rect">
            <a:avLst/>
          </a:prstGeom>
          <a:gradFill rotWithShape="1">
            <a:gsLst>
              <a:gs pos="0">
                <a:srgbClr val="17A2A2"/>
              </a:gs>
              <a:gs pos="100000">
                <a:srgbClr val="7A5CF0"/>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92608"/>
            <a:ext cx="8716975" cy="566928"/>
          </a:xfrm>
          <a:prstGeom prst="rect">
            <a:avLst/>
          </a:prstGeom>
          <a:noFill/>
        </p:spPr>
        <p:txBody>
          <a:bodyPr wrap="square" lIns="0" rIns="0" tIns="0" bIns="0">
            <a:spAutoFit/>
          </a:bodyPr>
          <a:lstStyle/>
          <a:p>
            <a:pPr algn="l"/>
            <a:r>
              <a:rPr sz="2400" b="1">
                <a:solidFill>
                  <a:srgbClr val="161E2E"/>
                </a:solidFill>
                <a:latin typeface="Calibri"/>
              </a:rPr>
              <a:t>Backup: energy discrepancy and mean collapse</a:t>
            </a:r>
          </a:p>
        </p:txBody>
      </p:sp>
      <p:sp>
        <p:nvSpPr>
          <p:cNvPr id="6" name="Rounded Rectangle 5"/>
          <p:cNvSpPr/>
          <p:nvPr/>
        </p:nvSpPr>
        <p:spPr>
          <a:xfrm>
            <a:off x="10604449" y="347472"/>
            <a:ext cx="810006" cy="327914"/>
          </a:xfrm>
          <a:prstGeom prst="roundRect">
            <a:avLst>
              <a:gd name="adj" fmla="val 50000"/>
            </a:avLst>
          </a:prstGeom>
          <a:solidFill>
            <a:srgbClr val="EF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737E8B"/>
                </a:solidFill>
                <a:latin typeface="Calibri"/>
              </a:rPr>
              <a:t>BACKUP</a:t>
            </a:r>
          </a:p>
        </p:txBody>
      </p:sp>
      <p:sp>
        <p:nvSpPr>
          <p:cNvPr id="7" name="Rectangle 6"/>
          <p:cNvSpPr/>
          <p:nvPr/>
        </p:nvSpPr>
        <p:spPr>
          <a:xfrm>
            <a:off x="777240" y="950976"/>
            <a:ext cx="10637215" cy="9525"/>
          </a:xfrm>
          <a:prstGeom prst="rect">
            <a:avLst/>
          </a:prstGeom>
          <a:solidFill>
            <a:srgbClr val="E1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188720"/>
            <a:ext cx="10637215" cy="278691"/>
          </a:xfrm>
          <a:prstGeom prst="rect">
            <a:avLst/>
          </a:prstGeom>
          <a:noFill/>
        </p:spPr>
        <p:txBody>
          <a:bodyPr wrap="square" lIns="0" rIns="0" tIns="0" bIns="0">
            <a:spAutoFit/>
          </a:bodyPr>
          <a:lstStyle/>
          <a:p>
            <a:pPr algn="l"/>
            <a:r>
              <a:rPr sz="1688" b="0">
                <a:solidFill>
                  <a:srgbClr val="3D4756"/>
                </a:solidFill>
                <a:latin typeface="Calibri"/>
              </a:rPr>
              <a:t>Energy compares cross-set distances with within-set distances.</a:t>
            </a:r>
          </a:p>
        </p:txBody>
      </p:sp>
      <p:sp>
        <p:nvSpPr>
          <p:cNvPr id="9" name="TextBox 8"/>
          <p:cNvSpPr txBox="1"/>
          <p:nvPr/>
        </p:nvSpPr>
        <p:spPr>
          <a:xfrm>
            <a:off x="777240" y="1673213"/>
            <a:ext cx="10637215" cy="278691"/>
          </a:xfrm>
          <a:prstGeom prst="rect">
            <a:avLst/>
          </a:prstGeom>
          <a:noFill/>
        </p:spPr>
        <p:txBody>
          <a:bodyPr wrap="square" lIns="0" rIns="0" tIns="0" bIns="0">
            <a:spAutoFit/>
          </a:bodyPr>
          <a:lstStyle/>
          <a:p>
            <a:pPr algn="l"/>
            <a:r>
              <a:rPr sz="1688" b="0">
                <a:solidFill>
                  <a:srgbClr val="3D4756"/>
                </a:solidFill>
                <a:latin typeface="Calibri"/>
              </a:rPr>
              <a:t>A generator needs plausible variation as well as a good center.</a:t>
            </a:r>
          </a:p>
        </p:txBody>
      </p:sp>
      <p:graphicFrame>
        <p:nvGraphicFramePr>
          <p:cNvPr id="10" name="Table 9"/>
          <p:cNvGraphicFramePr>
            <a:graphicFrameLocks noGrp="1"/>
          </p:cNvGraphicFramePr>
          <p:nvPr/>
        </p:nvGraphicFramePr>
        <p:xfrm>
          <a:off x="777240" y="2157706"/>
          <a:ext cx="10637213" cy="1852224"/>
        </p:xfrm>
        <a:graphic>
          <a:graphicData uri="http://schemas.openxmlformats.org/drawingml/2006/table">
            <a:tbl>
              <a:tblPr firstRow="1" bandRow="1">
                <a:tableStyleId>{5C22544A-7EE6-4342-B048-85BDC9FD1C3A}</a:tableStyleId>
              </a:tblPr>
              <a:tblGrid>
                <a:gridCol w="4856119"/>
                <a:gridCol w="3237413"/>
                <a:gridCol w="2543681"/>
              </a:tblGrid>
              <a:tr h="617408">
                <a:tc>
                  <a:txBody>
                    <a:bodyPr/>
                    <a:lstStyle/>
                    <a:p>
                      <a:r>
                        <a:rPr sz="1617" b="1">
                          <a:solidFill>
                            <a:srgbClr val="FFFFFF"/>
                          </a:solidFill>
                          <a:latin typeface="Calibri"/>
                        </a:rPr>
                        <a:t>Example reference</a:t>
                      </a:r>
                    </a:p>
                  </a:txBody>
                  <a:tcPr marL="115764" marR="115764" marT="38588" marB="38588" anchor="ctr">
                    <a:solidFill>
                      <a:srgbClr val="0E1729"/>
                    </a:solidFill>
                  </a:tcPr>
                </a:tc>
                <a:tc>
                  <a:txBody>
                    <a:bodyPr/>
                    <a:lstStyle/>
                    <a:p>
                      <a:r>
                        <a:rPr sz="1617" b="1">
                          <a:solidFill>
                            <a:srgbClr val="FFFFFF"/>
                          </a:solidFill>
                          <a:latin typeface="Calibri"/>
                        </a:rPr>
                        <a:t>Mean-path RMSE</a:t>
                      </a:r>
                    </a:p>
                  </a:txBody>
                  <a:tcPr marL="115764" marR="115764" marT="38588" marB="38588" anchor="ctr">
                    <a:solidFill>
                      <a:srgbClr val="0E1729"/>
                    </a:solidFill>
                  </a:tcPr>
                </a:tc>
                <a:tc>
                  <a:txBody>
                    <a:bodyPr/>
                    <a:lstStyle/>
                    <a:p>
                      <a:r>
                        <a:rPr sz="1617" b="1">
                          <a:solidFill>
                            <a:srgbClr val="FFFFFF"/>
                          </a:solidFill>
                          <a:latin typeface="Calibri"/>
                        </a:rPr>
                        <a:t>Path energy</a:t>
                      </a:r>
                    </a:p>
                  </a:txBody>
                  <a:tcPr marL="115764" marR="115764" marT="38588" marB="38588" anchor="ctr">
                    <a:solidFill>
                      <a:srgbClr val="0E1729"/>
                    </a:solidFill>
                  </a:tcPr>
                </a:tc>
              </a:tr>
              <a:tr h="617408">
                <a:tc>
                  <a:txBody>
                    <a:bodyPr/>
                    <a:lstStyle/>
                    <a:p>
                      <a:r>
                        <a:rPr sz="1617" b="1">
                          <a:solidFill>
                            <a:srgbClr val="161E2E"/>
                          </a:solidFill>
                          <a:latin typeface="Calibri"/>
                        </a:rPr>
                        <a:t>VAE n=8</a:t>
                      </a:r>
                    </a:p>
                  </a:txBody>
                  <a:tcPr marL="115764" marR="115764" marT="38588" marB="38588" anchor="ctr">
                    <a:solidFill>
                      <a:srgbClr val="FFFFFF"/>
                    </a:solidFill>
                  </a:tcPr>
                </a:tc>
                <a:tc>
                  <a:txBody>
                    <a:bodyPr/>
                    <a:lstStyle/>
                    <a:p>
                      <a:r>
                        <a:rPr sz="1617" b="0">
                          <a:solidFill>
                            <a:srgbClr val="3D4756"/>
                          </a:solidFill>
                          <a:latin typeface="Calibri"/>
                        </a:rPr>
                        <a:t>0.1604</a:t>
                      </a:r>
                    </a:p>
                  </a:txBody>
                  <a:tcPr marL="115764" marR="115764" marT="38588" marB="38588" anchor="ctr">
                    <a:solidFill>
                      <a:srgbClr val="FFFFFF"/>
                    </a:solidFill>
                  </a:tcPr>
                </a:tc>
                <a:tc>
                  <a:txBody>
                    <a:bodyPr/>
                    <a:lstStyle/>
                    <a:p>
                      <a:r>
                        <a:rPr sz="1617" b="0">
                          <a:solidFill>
                            <a:srgbClr val="3D4756"/>
                          </a:solidFill>
                          <a:latin typeface="Calibri"/>
                        </a:rPr>
                        <a:t>0.0548</a:t>
                      </a:r>
                    </a:p>
                  </a:txBody>
                  <a:tcPr marL="115764" marR="115764" marT="38588" marB="38588" anchor="ctr">
                    <a:solidFill>
                      <a:srgbClr val="FFFFFF"/>
                    </a:solidFill>
                  </a:tcPr>
                </a:tc>
              </a:tr>
              <a:tr h="617408">
                <a:tc>
                  <a:txBody>
                    <a:bodyPr/>
                    <a:lstStyle/>
                    <a:p>
                      <a:r>
                        <a:rPr sz="1617" b="1">
                          <a:solidFill>
                            <a:srgbClr val="161E2E"/>
                          </a:solidFill>
                          <a:latin typeface="Calibri"/>
                        </a:rPr>
                        <a:t>Repeated context mean</a:t>
                      </a:r>
                    </a:p>
                  </a:txBody>
                  <a:tcPr marL="115764" marR="115764" marT="38588" marB="38588" anchor="ctr">
                    <a:solidFill>
                      <a:srgbClr val="F8FAFC"/>
                    </a:solidFill>
                  </a:tcPr>
                </a:tc>
                <a:tc>
                  <a:txBody>
                    <a:bodyPr/>
                    <a:lstStyle/>
                    <a:p>
                      <a:r>
                        <a:rPr sz="1617" b="0">
                          <a:solidFill>
                            <a:srgbClr val="3D4756"/>
                          </a:solidFill>
                          <a:latin typeface="Calibri"/>
                        </a:rPr>
                        <a:t>0.1146</a:t>
                      </a:r>
                    </a:p>
                  </a:txBody>
                  <a:tcPr marL="115764" marR="115764" marT="38588" marB="38588" anchor="ctr">
                    <a:solidFill>
                      <a:srgbClr val="F8FAFC"/>
                    </a:solidFill>
                  </a:tcPr>
                </a:tc>
                <a:tc>
                  <a:txBody>
                    <a:bodyPr/>
                    <a:lstStyle/>
                    <a:p>
                      <a:r>
                        <a:rPr sz="1617" b="0">
                          <a:solidFill>
                            <a:srgbClr val="3D4756"/>
                          </a:solidFill>
                          <a:latin typeface="Calibri"/>
                        </a:rPr>
                        <a:t>0.4621</a:t>
                      </a:r>
                    </a:p>
                  </a:txBody>
                  <a:tcPr marL="115764" marR="115764" marT="38588" marB="38588" anchor="ctr">
                    <a:solidFill>
                      <a:srgbClr val="F8FAFC"/>
                    </a:solidFill>
                  </a:tcPr>
                </a:tc>
              </a:tr>
            </a:tbl>
          </a:graphicData>
        </a:graphic>
      </p:graphicFrame>
      <p:pic>
        <p:nvPicPr>
          <p:cNvPr id="11" name="Picture 10" descr="equation_energy.png"/>
          <p:cNvPicPr>
            <a:picLocks noChangeAspect="1"/>
          </p:cNvPicPr>
          <p:nvPr/>
        </p:nvPicPr>
        <p:blipFill>
          <a:blip r:embed="rId2"/>
          <a:stretch>
            <a:fillRect/>
          </a:stretch>
        </p:blipFill>
        <p:spPr>
          <a:xfrm>
            <a:off x="777240" y="4267183"/>
            <a:ext cx="10637215" cy="1113196"/>
          </a:xfrm>
          <a:prstGeom prst="rect">
            <a:avLst/>
          </a:prstGeom>
        </p:spPr>
      </p:pic>
      <p:sp>
        <p:nvSpPr>
          <p:cNvPr id="12" name="Rectangle 11"/>
          <p:cNvSpPr/>
          <p:nvPr/>
        </p:nvSpPr>
        <p:spPr>
          <a:xfrm>
            <a:off x="777240" y="5586181"/>
            <a:ext cx="10637215" cy="718523"/>
          </a:xfrm>
          <a:prstGeom prst="rect">
            <a:avLst/>
          </a:prstGeom>
          <a:solidFill>
            <a:srgbClr val="EF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5586181"/>
            <a:ext cx="77176" cy="718523"/>
          </a:xfrm>
          <a:prstGeom prst="rect">
            <a:avLst/>
          </a:prstGeom>
          <a:solidFill>
            <a:srgbClr val="1B6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85944" y="5791983"/>
            <a:ext cx="9891181" cy="255467"/>
          </a:xfrm>
          <a:prstGeom prst="rect">
            <a:avLst/>
          </a:prstGeom>
          <a:noFill/>
        </p:spPr>
        <p:txBody>
          <a:bodyPr wrap="square" lIns="0" rIns="0" tIns="0" bIns="0">
            <a:spAutoFit/>
          </a:bodyPr>
          <a:lstStyle/>
          <a:p>
            <a:pPr algn="l"/>
            <a:r>
              <a:rPr sz="1547" b="0">
                <a:solidFill>
                  <a:srgbClr val="3D4756"/>
                </a:solidFill>
                <a:latin typeface="Calibri"/>
              </a:rPr>
              <a:t>Lower is better. The mean-only output has a closer mean but a much worse distribution.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104847" cy="77724"/>
          </a:xfrm>
          <a:prstGeom prst="rect">
            <a:avLst/>
          </a:prstGeom>
          <a:gradFill rotWithShape="1">
            <a:gsLst>
              <a:gs pos="0">
                <a:srgbClr val="1B6FEA"/>
              </a:gs>
              <a:gs pos="100000">
                <a:srgbClr val="17A2A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847" y="0"/>
            <a:ext cx="6104847" cy="77724"/>
          </a:xfrm>
          <a:prstGeom prst="rect">
            <a:avLst/>
          </a:prstGeom>
          <a:gradFill rotWithShape="1">
            <a:gsLst>
              <a:gs pos="0">
                <a:srgbClr val="17A2A2"/>
              </a:gs>
              <a:gs pos="100000">
                <a:srgbClr val="7A5CF0"/>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92608"/>
            <a:ext cx="8716975" cy="566928"/>
          </a:xfrm>
          <a:prstGeom prst="rect">
            <a:avLst/>
          </a:prstGeom>
          <a:noFill/>
        </p:spPr>
        <p:txBody>
          <a:bodyPr wrap="square" lIns="0" rIns="0" tIns="0" bIns="0">
            <a:spAutoFit/>
          </a:bodyPr>
          <a:lstStyle/>
          <a:p>
            <a:pPr algn="l"/>
            <a:r>
              <a:rPr sz="2400" b="1">
                <a:solidFill>
                  <a:srgbClr val="161E2E"/>
                </a:solidFill>
                <a:latin typeface="Calibri"/>
              </a:rPr>
              <a:t>Backup: Gaussian-kernel MMD</a:t>
            </a:r>
          </a:p>
        </p:txBody>
      </p:sp>
      <p:sp>
        <p:nvSpPr>
          <p:cNvPr id="6" name="Rounded Rectangle 5"/>
          <p:cNvSpPr/>
          <p:nvPr/>
        </p:nvSpPr>
        <p:spPr>
          <a:xfrm>
            <a:off x="10604449" y="347472"/>
            <a:ext cx="810006" cy="327914"/>
          </a:xfrm>
          <a:prstGeom prst="roundRect">
            <a:avLst>
              <a:gd name="adj" fmla="val 50000"/>
            </a:avLst>
          </a:prstGeom>
          <a:solidFill>
            <a:srgbClr val="EF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737E8B"/>
                </a:solidFill>
                <a:latin typeface="Calibri"/>
              </a:rPr>
              <a:t>BACKUP</a:t>
            </a:r>
          </a:p>
        </p:txBody>
      </p:sp>
      <p:sp>
        <p:nvSpPr>
          <p:cNvPr id="7" name="Rectangle 6"/>
          <p:cNvSpPr/>
          <p:nvPr/>
        </p:nvSpPr>
        <p:spPr>
          <a:xfrm>
            <a:off x="777240" y="950976"/>
            <a:ext cx="10637215" cy="9525"/>
          </a:xfrm>
          <a:prstGeom prst="rect">
            <a:avLst/>
          </a:prstGeom>
          <a:solidFill>
            <a:srgbClr val="E1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188720"/>
            <a:ext cx="10637215" cy="387757"/>
          </a:xfrm>
          <a:prstGeom prst="rect">
            <a:avLst/>
          </a:prstGeom>
          <a:noFill/>
        </p:spPr>
        <p:txBody>
          <a:bodyPr wrap="square" lIns="0" rIns="0" tIns="0" bIns="0">
            <a:spAutoFit/>
          </a:bodyPr>
          <a:lstStyle/>
          <a:p>
            <a:pPr algn="l"/>
            <a:r>
              <a:rPr sz="2348" b="0">
                <a:solidFill>
                  <a:srgbClr val="3D4756"/>
                </a:solidFill>
                <a:latin typeface="Calibri"/>
              </a:rPr>
              <a:t>Kernel: exp(-gamma x squared Euclidean distance).</a:t>
            </a:r>
          </a:p>
        </p:txBody>
      </p:sp>
      <p:sp>
        <p:nvSpPr>
          <p:cNvPr id="9" name="TextBox 8"/>
          <p:cNvSpPr txBox="1"/>
          <p:nvPr/>
        </p:nvSpPr>
        <p:spPr>
          <a:xfrm>
            <a:off x="777240" y="1862820"/>
            <a:ext cx="10637215" cy="387757"/>
          </a:xfrm>
          <a:prstGeom prst="rect">
            <a:avLst/>
          </a:prstGeom>
          <a:noFill/>
        </p:spPr>
        <p:txBody>
          <a:bodyPr wrap="square" lIns="0" rIns="0" tIns="0" bIns="0">
            <a:spAutoFit/>
          </a:bodyPr>
          <a:lstStyle/>
          <a:p>
            <a:pPr algn="l"/>
            <a:r>
              <a:rPr sz="2348" b="0">
                <a:solidFill>
                  <a:srgbClr val="3D4756"/>
                </a:solidFill>
                <a:latin typeface="Calibri"/>
              </a:rPr>
              <a:t>Gamma comes from the median positive training pair distance.</a:t>
            </a:r>
          </a:p>
        </p:txBody>
      </p:sp>
      <p:sp>
        <p:nvSpPr>
          <p:cNvPr id="10" name="TextBox 9"/>
          <p:cNvSpPr txBox="1"/>
          <p:nvPr/>
        </p:nvSpPr>
        <p:spPr>
          <a:xfrm>
            <a:off x="777240" y="2536920"/>
            <a:ext cx="10637215" cy="387757"/>
          </a:xfrm>
          <a:prstGeom prst="rect">
            <a:avLst/>
          </a:prstGeom>
          <a:noFill/>
        </p:spPr>
        <p:txBody>
          <a:bodyPr wrap="square" lIns="0" rIns="0" tIns="0" bIns="0">
            <a:spAutoFit/>
          </a:bodyPr>
          <a:lstStyle/>
          <a:p>
            <a:pPr algn="l"/>
            <a:r>
              <a:rPr sz="2348" b="0">
                <a:solidFill>
                  <a:srgbClr val="3D4756"/>
                </a:solidFill>
                <a:latin typeface="Calibri"/>
              </a:rPr>
              <a:t>Within-set diagonals are excluded in the unbiased estimator.</a:t>
            </a:r>
          </a:p>
        </p:txBody>
      </p:sp>
      <p:pic>
        <p:nvPicPr>
          <p:cNvPr id="11" name="Picture 10" descr="equation_mmd.png"/>
          <p:cNvPicPr>
            <a:picLocks noChangeAspect="1"/>
          </p:cNvPicPr>
          <p:nvPr/>
        </p:nvPicPr>
        <p:blipFill>
          <a:blip r:embed="rId2"/>
          <a:stretch>
            <a:fillRect/>
          </a:stretch>
        </p:blipFill>
        <p:spPr>
          <a:xfrm>
            <a:off x="1262845" y="3211020"/>
            <a:ext cx="9666005" cy="1371600"/>
          </a:xfrm>
          <a:prstGeom prst="rect">
            <a:avLst/>
          </a:prstGeom>
        </p:spPr>
      </p:pic>
      <p:sp>
        <p:nvSpPr>
          <p:cNvPr id="12" name="Rectangle 11"/>
          <p:cNvSpPr/>
          <p:nvPr/>
        </p:nvSpPr>
        <p:spPr>
          <a:xfrm>
            <a:off x="777240" y="4868963"/>
            <a:ext cx="10637215" cy="1355160"/>
          </a:xfrm>
          <a:prstGeom prst="rect">
            <a:avLst/>
          </a:prstGeom>
          <a:solidFill>
            <a:srgbClr val="EF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868963"/>
            <a:ext cx="107378" cy="1355160"/>
          </a:xfrm>
          <a:prstGeom prst="rect">
            <a:avLst/>
          </a:prstGeom>
          <a:solidFill>
            <a:srgbClr val="1B6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06755" y="5155306"/>
            <a:ext cx="9599221" cy="710888"/>
          </a:xfrm>
          <a:prstGeom prst="rect">
            <a:avLst/>
          </a:prstGeom>
          <a:noFill/>
        </p:spPr>
        <p:txBody>
          <a:bodyPr wrap="square" lIns="0" rIns="0" tIns="0" bIns="0">
            <a:spAutoFit/>
          </a:bodyPr>
          <a:lstStyle/>
          <a:p>
            <a:pPr algn="l"/>
            <a:r>
              <a:rPr sz="2152" b="0">
                <a:solidFill>
                  <a:srgbClr val="3D4756"/>
                </a:solidFill>
                <a:latin typeface="Calibri"/>
              </a:rPr>
              <a:t>Finite-sample unbiased MMD squared may be slightly negative. It is not an accuracy percentage.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104847" cy="77724"/>
          </a:xfrm>
          <a:prstGeom prst="rect">
            <a:avLst/>
          </a:prstGeom>
          <a:gradFill rotWithShape="1">
            <a:gsLst>
              <a:gs pos="0">
                <a:srgbClr val="1B6FEA"/>
              </a:gs>
              <a:gs pos="100000">
                <a:srgbClr val="17A2A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847" y="0"/>
            <a:ext cx="6104847" cy="77724"/>
          </a:xfrm>
          <a:prstGeom prst="rect">
            <a:avLst/>
          </a:prstGeom>
          <a:gradFill rotWithShape="1">
            <a:gsLst>
              <a:gs pos="0">
                <a:srgbClr val="17A2A2"/>
              </a:gs>
              <a:gs pos="100000">
                <a:srgbClr val="7A5CF0"/>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92608"/>
            <a:ext cx="8716975" cy="566928"/>
          </a:xfrm>
          <a:prstGeom prst="rect">
            <a:avLst/>
          </a:prstGeom>
          <a:noFill/>
        </p:spPr>
        <p:txBody>
          <a:bodyPr wrap="square" lIns="0" rIns="0" tIns="0" bIns="0">
            <a:spAutoFit/>
          </a:bodyPr>
          <a:lstStyle/>
          <a:p>
            <a:pPr algn="l"/>
            <a:r>
              <a:rPr sz="2400" b="1">
                <a:solidFill>
                  <a:srgbClr val="161E2E"/>
                </a:solidFill>
                <a:latin typeface="Calibri"/>
              </a:rPr>
              <a:t>Backup: 28 paired scores, not thousands of independent trials</a:t>
            </a:r>
          </a:p>
        </p:txBody>
      </p:sp>
      <p:sp>
        <p:nvSpPr>
          <p:cNvPr id="6" name="Rounded Rectangle 5"/>
          <p:cNvSpPr/>
          <p:nvPr/>
        </p:nvSpPr>
        <p:spPr>
          <a:xfrm>
            <a:off x="10604449" y="347472"/>
            <a:ext cx="810006" cy="327914"/>
          </a:xfrm>
          <a:prstGeom prst="roundRect">
            <a:avLst>
              <a:gd name="adj" fmla="val 50000"/>
            </a:avLst>
          </a:prstGeom>
          <a:solidFill>
            <a:srgbClr val="EF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737E8B"/>
                </a:solidFill>
                <a:latin typeface="Calibri"/>
              </a:rPr>
              <a:t>BACKUP</a:t>
            </a:r>
          </a:p>
        </p:txBody>
      </p:sp>
      <p:sp>
        <p:nvSpPr>
          <p:cNvPr id="7" name="Rectangle 6"/>
          <p:cNvSpPr/>
          <p:nvPr/>
        </p:nvSpPr>
        <p:spPr>
          <a:xfrm>
            <a:off x="777240" y="950976"/>
            <a:ext cx="10637215" cy="9525"/>
          </a:xfrm>
          <a:prstGeom prst="rect">
            <a:avLst/>
          </a:prstGeom>
          <a:solidFill>
            <a:srgbClr val="E1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188720"/>
            <a:ext cx="10637215" cy="248111"/>
          </a:xfrm>
          <a:prstGeom prst="rect">
            <a:avLst/>
          </a:prstGeom>
          <a:noFill/>
        </p:spPr>
        <p:txBody>
          <a:bodyPr wrap="square" lIns="0" rIns="0" tIns="0" bIns="0">
            <a:spAutoFit/>
          </a:bodyPr>
          <a:lstStyle/>
          <a:p>
            <a:pPr algn="l"/>
            <a:r>
              <a:rPr sz="1502" b="0">
                <a:solidFill>
                  <a:srgbClr val="3D4756"/>
                </a:solidFill>
                <a:latin typeface="Calibri"/>
              </a:rPr>
              <a:t>First average neural seeds within each participant.</a:t>
            </a:r>
          </a:p>
        </p:txBody>
      </p:sp>
      <p:sp>
        <p:nvSpPr>
          <p:cNvPr id="9" name="TextBox 8"/>
          <p:cNvSpPr txBox="1"/>
          <p:nvPr/>
        </p:nvSpPr>
        <p:spPr>
          <a:xfrm>
            <a:off x="777240" y="1620052"/>
            <a:ext cx="10637215" cy="248111"/>
          </a:xfrm>
          <a:prstGeom prst="rect">
            <a:avLst/>
          </a:prstGeom>
          <a:noFill/>
        </p:spPr>
        <p:txBody>
          <a:bodyPr wrap="square" lIns="0" rIns="0" tIns="0" bIns="0">
            <a:spAutoFit/>
          </a:bodyPr>
          <a:lstStyle/>
          <a:p>
            <a:pPr algn="l"/>
            <a:r>
              <a:rPr sz="1502" b="0">
                <a:solidFill>
                  <a:srgbClr val="3D4756"/>
                </a:solidFill>
                <a:latin typeface="Calibri"/>
              </a:rPr>
              <a:t>Then compare paired participant scores using two-sided Pratt Wilcoxon.</a:t>
            </a:r>
          </a:p>
        </p:txBody>
      </p:sp>
      <p:sp>
        <p:nvSpPr>
          <p:cNvPr id="10" name="TextBox 9"/>
          <p:cNvSpPr txBox="1"/>
          <p:nvPr/>
        </p:nvSpPr>
        <p:spPr>
          <a:xfrm>
            <a:off x="777240" y="2051384"/>
            <a:ext cx="10637215" cy="248111"/>
          </a:xfrm>
          <a:prstGeom prst="rect">
            <a:avLst/>
          </a:prstGeom>
          <a:noFill/>
        </p:spPr>
        <p:txBody>
          <a:bodyPr wrap="square" lIns="0" rIns="0" tIns="0" bIns="0">
            <a:spAutoFit/>
          </a:bodyPr>
          <a:lstStyle/>
          <a:p>
            <a:pPr algn="l"/>
            <a:r>
              <a:rPr sz="1502" b="0">
                <a:solidFill>
                  <a:srgbClr val="3D4756"/>
                </a:solidFill>
                <a:latin typeface="Calibri"/>
              </a:rPr>
              <a:t>Round differences to 12 decimals before ranking.</a:t>
            </a:r>
          </a:p>
        </p:txBody>
      </p:sp>
      <p:graphicFrame>
        <p:nvGraphicFramePr>
          <p:cNvPr id="11" name="Table 10"/>
          <p:cNvGraphicFramePr>
            <a:graphicFrameLocks noGrp="1"/>
          </p:cNvGraphicFramePr>
          <p:nvPr/>
        </p:nvGraphicFramePr>
        <p:xfrm>
          <a:off x="777240" y="2482716"/>
          <a:ext cx="10637214" cy="2748315"/>
        </p:xfrm>
        <a:graphic>
          <a:graphicData uri="http://schemas.openxmlformats.org/drawingml/2006/table">
            <a:tbl>
              <a:tblPr firstRow="1" bandRow="1">
                <a:tableStyleId>{5C22544A-7EE6-4342-B048-85BDC9FD1C3A}</a:tableStyleId>
              </a:tblPr>
              <a:tblGrid>
                <a:gridCol w="9908638"/>
                <a:gridCol w="728576"/>
              </a:tblGrid>
              <a:tr h="549663">
                <a:tc>
                  <a:txBody>
                    <a:bodyPr/>
                    <a:lstStyle/>
                    <a:p>
                      <a:r>
                        <a:rPr sz="1440" b="1">
                          <a:solidFill>
                            <a:srgbClr val="FFFFFF"/>
                          </a:solidFill>
                          <a:latin typeface="Calibri"/>
                        </a:rPr>
                        <a:t>Correction family</a:t>
                      </a:r>
                    </a:p>
                  </a:txBody>
                  <a:tcPr marL="103061" marR="103061" marT="34353" marB="34353" anchor="ctr">
                    <a:solidFill>
                      <a:srgbClr val="0E1729"/>
                    </a:solidFill>
                  </a:tcPr>
                </a:tc>
                <a:tc>
                  <a:txBody>
                    <a:bodyPr/>
                    <a:lstStyle/>
                    <a:p>
                      <a:r>
                        <a:rPr sz="1440" b="1">
                          <a:solidFill>
                            <a:srgbClr val="FFFFFF"/>
                          </a:solidFill>
                          <a:latin typeface="Calibri"/>
                        </a:rPr>
                        <a:t>Tests</a:t>
                      </a:r>
                    </a:p>
                  </a:txBody>
                  <a:tcPr marL="103061" marR="103061" marT="34353" marB="34353" anchor="ctr">
                    <a:solidFill>
                      <a:srgbClr val="0E1729"/>
                    </a:solidFill>
                  </a:tcPr>
                </a:tc>
              </a:tr>
              <a:tr h="549663">
                <a:tc>
                  <a:txBody>
                    <a:bodyPr/>
                    <a:lstStyle/>
                    <a:p>
                      <a:r>
                        <a:rPr sz="1440" b="1">
                          <a:solidFill>
                            <a:srgbClr val="161E2E"/>
                          </a:solidFill>
                          <a:latin typeface="Calibri"/>
                        </a:rPr>
                        <a:t>Original seven endpoints x ten pairs x two dimensions</a:t>
                      </a:r>
                    </a:p>
                  </a:txBody>
                  <a:tcPr marL="103061" marR="103061" marT="34353" marB="34353" anchor="ctr">
                    <a:solidFill>
                      <a:srgbClr val="FFFFFF"/>
                    </a:solidFill>
                  </a:tcPr>
                </a:tc>
                <a:tc>
                  <a:txBody>
                    <a:bodyPr/>
                    <a:lstStyle/>
                    <a:p>
                      <a:r>
                        <a:rPr sz="1440" b="0">
                          <a:solidFill>
                            <a:srgbClr val="3D4756"/>
                          </a:solidFill>
                          <a:latin typeface="Calibri"/>
                        </a:rPr>
                        <a:t>140</a:t>
                      </a:r>
                    </a:p>
                  </a:txBody>
                  <a:tcPr marL="103061" marR="103061" marT="34353" marB="34353" anchor="ctr">
                    <a:solidFill>
                      <a:srgbClr val="FFFFFF"/>
                    </a:solidFill>
                  </a:tcPr>
                </a:tc>
              </a:tr>
              <a:tr h="549663">
                <a:tc>
                  <a:txBody>
                    <a:bodyPr/>
                    <a:lstStyle/>
                    <a:p>
                      <a:r>
                        <a:rPr sz="1440" b="1">
                          <a:solidFill>
                            <a:srgbClr val="161E2E"/>
                          </a:solidFill>
                          <a:latin typeface="Calibri"/>
                        </a:rPr>
                        <a:t>New two path endpoints x ten pairs x two dimensions x two geometries</a:t>
                      </a:r>
                    </a:p>
                  </a:txBody>
                  <a:tcPr marL="103061" marR="103061" marT="34353" marB="34353" anchor="ctr">
                    <a:solidFill>
                      <a:srgbClr val="F8FAFC"/>
                    </a:solidFill>
                  </a:tcPr>
                </a:tc>
                <a:tc>
                  <a:txBody>
                    <a:bodyPr/>
                    <a:lstStyle/>
                    <a:p>
                      <a:r>
                        <a:rPr sz="1440" b="0">
                          <a:solidFill>
                            <a:srgbClr val="3D4756"/>
                          </a:solidFill>
                          <a:latin typeface="Calibri"/>
                        </a:rPr>
                        <a:t>80</a:t>
                      </a:r>
                    </a:p>
                  </a:txBody>
                  <a:tcPr marL="103061" marR="103061" marT="34353" marB="34353" anchor="ctr">
                    <a:solidFill>
                      <a:srgbClr val="F8FAFC"/>
                    </a:solidFill>
                  </a:tcPr>
                </a:tc>
              </a:tr>
              <a:tr h="549663">
                <a:tc>
                  <a:txBody>
                    <a:bodyPr/>
                    <a:lstStyle/>
                    <a:p>
                      <a:r>
                        <a:rPr sz="1440" b="1">
                          <a:solidFill>
                            <a:srgbClr val="161E2E"/>
                          </a:solidFill>
                          <a:latin typeface="Calibri"/>
                        </a:rPr>
                        <a:t>VAE replacement controls</a:t>
                      </a:r>
                    </a:p>
                  </a:txBody>
                  <a:tcPr marL="103061" marR="103061" marT="34353" marB="34353" anchor="ctr">
                    <a:solidFill>
                      <a:srgbClr val="FFFFFF"/>
                    </a:solidFill>
                  </a:tcPr>
                </a:tc>
                <a:tc>
                  <a:txBody>
                    <a:bodyPr/>
                    <a:lstStyle/>
                    <a:p>
                      <a:r>
                        <a:rPr sz="1440" b="0">
                          <a:solidFill>
                            <a:srgbClr val="3D4756"/>
                          </a:solidFill>
                          <a:latin typeface="Calibri"/>
                        </a:rPr>
                        <a:t>6</a:t>
                      </a:r>
                    </a:p>
                  </a:txBody>
                  <a:tcPr marL="103061" marR="103061" marT="34353" marB="34353" anchor="ctr">
                    <a:solidFill>
                      <a:srgbClr val="FFFFFF"/>
                    </a:solidFill>
                  </a:tcPr>
                </a:tc>
              </a:tr>
              <a:tr h="549663">
                <a:tc>
                  <a:txBody>
                    <a:bodyPr/>
                    <a:lstStyle/>
                    <a:p>
                      <a:r>
                        <a:rPr sz="1440" b="1">
                          <a:solidFill>
                            <a:srgbClr val="161E2E"/>
                          </a:solidFill>
                          <a:latin typeface="Calibri"/>
                        </a:rPr>
                        <a:t>CVAE replacement controls</a:t>
                      </a:r>
                    </a:p>
                  </a:txBody>
                  <a:tcPr marL="103061" marR="103061" marT="34353" marB="34353" anchor="ctr">
                    <a:solidFill>
                      <a:srgbClr val="F8FAFC"/>
                    </a:solidFill>
                  </a:tcPr>
                </a:tc>
                <a:tc>
                  <a:txBody>
                    <a:bodyPr/>
                    <a:lstStyle/>
                    <a:p>
                      <a:r>
                        <a:rPr sz="1440" b="0">
                          <a:solidFill>
                            <a:srgbClr val="3D4756"/>
                          </a:solidFill>
                          <a:latin typeface="Calibri"/>
                        </a:rPr>
                        <a:t>12</a:t>
                      </a:r>
                    </a:p>
                  </a:txBody>
                  <a:tcPr marL="103061" marR="103061" marT="34353" marB="34353" anchor="ctr">
                    <a:solidFill>
                      <a:srgbClr val="F8FAFC"/>
                    </a:solidFill>
                  </a:tcPr>
                </a:tc>
              </a:tr>
            </a:tbl>
          </a:graphicData>
        </a:graphic>
      </p:graphicFrame>
      <p:sp>
        <p:nvSpPr>
          <p:cNvPr id="12" name="Rectangle 11"/>
          <p:cNvSpPr/>
          <p:nvPr/>
        </p:nvSpPr>
        <p:spPr>
          <a:xfrm>
            <a:off x="777240" y="5460057"/>
            <a:ext cx="10637215" cy="867116"/>
          </a:xfrm>
          <a:prstGeom prst="rect">
            <a:avLst/>
          </a:prstGeom>
          <a:solidFill>
            <a:srgbClr val="EF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5460057"/>
            <a:ext cx="68707" cy="867116"/>
          </a:xfrm>
          <a:prstGeom prst="rect">
            <a:avLst/>
          </a:prstGeom>
          <a:solidFill>
            <a:srgbClr val="1B6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2071" y="5643278"/>
            <a:ext cx="9973040" cy="454870"/>
          </a:xfrm>
          <a:prstGeom prst="rect">
            <a:avLst/>
          </a:prstGeom>
          <a:noFill/>
        </p:spPr>
        <p:txBody>
          <a:bodyPr wrap="square" lIns="0" rIns="0" tIns="0" bIns="0">
            <a:spAutoFit/>
          </a:bodyPr>
          <a:lstStyle/>
          <a:p>
            <a:pPr algn="l"/>
            <a:r>
              <a:rPr sz="1377" b="0">
                <a:solidFill>
                  <a:srgbClr val="3D4756"/>
                </a:solidFill>
                <a:latin typeface="Calibri"/>
              </a:rPr>
              <a:t>BH controls false discoveries under its assumptions. Holm is a familywise-error sensitivity. Nonsignificance is not equivalence.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104847" cy="77724"/>
          </a:xfrm>
          <a:prstGeom prst="rect">
            <a:avLst/>
          </a:prstGeom>
          <a:gradFill rotWithShape="1">
            <a:gsLst>
              <a:gs pos="0">
                <a:srgbClr val="1B6FEA"/>
              </a:gs>
              <a:gs pos="100000">
                <a:srgbClr val="17A2A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847" y="0"/>
            <a:ext cx="6104847" cy="77724"/>
          </a:xfrm>
          <a:prstGeom prst="rect">
            <a:avLst/>
          </a:prstGeom>
          <a:gradFill rotWithShape="1">
            <a:gsLst>
              <a:gs pos="0">
                <a:srgbClr val="17A2A2"/>
              </a:gs>
              <a:gs pos="100000">
                <a:srgbClr val="7A5CF0"/>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92608"/>
            <a:ext cx="8716975" cy="566928"/>
          </a:xfrm>
          <a:prstGeom prst="rect">
            <a:avLst/>
          </a:prstGeom>
          <a:noFill/>
        </p:spPr>
        <p:txBody>
          <a:bodyPr wrap="square" lIns="0" rIns="0" tIns="0" bIns="0">
            <a:spAutoFit/>
          </a:bodyPr>
          <a:lstStyle/>
          <a:p>
            <a:pPr algn="l"/>
            <a:r>
              <a:rPr sz="2400" b="1">
                <a:solidFill>
                  <a:srgbClr val="161E2E"/>
                </a:solidFill>
                <a:latin typeface="Calibri"/>
              </a:rPr>
              <a:t>Backup: the boundaries of the conclusion</a:t>
            </a:r>
          </a:p>
        </p:txBody>
      </p:sp>
      <p:sp>
        <p:nvSpPr>
          <p:cNvPr id="6" name="Rounded Rectangle 5"/>
          <p:cNvSpPr/>
          <p:nvPr/>
        </p:nvSpPr>
        <p:spPr>
          <a:xfrm>
            <a:off x="10604449" y="347472"/>
            <a:ext cx="810006" cy="327914"/>
          </a:xfrm>
          <a:prstGeom prst="roundRect">
            <a:avLst>
              <a:gd name="adj" fmla="val 50000"/>
            </a:avLst>
          </a:prstGeom>
          <a:solidFill>
            <a:srgbClr val="EF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737E8B"/>
                </a:solidFill>
                <a:latin typeface="Calibri"/>
              </a:rPr>
              <a:t>BACKUP</a:t>
            </a:r>
          </a:p>
        </p:txBody>
      </p:sp>
      <p:sp>
        <p:nvSpPr>
          <p:cNvPr id="7" name="Rectangle 6"/>
          <p:cNvSpPr/>
          <p:nvPr/>
        </p:nvSpPr>
        <p:spPr>
          <a:xfrm>
            <a:off x="777240" y="950976"/>
            <a:ext cx="10637215" cy="9525"/>
          </a:xfrm>
          <a:prstGeom prst="rect">
            <a:avLst/>
          </a:prstGeom>
          <a:solidFill>
            <a:srgbClr val="E1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188720"/>
            <a:ext cx="10637215" cy="383682"/>
          </a:xfrm>
          <a:prstGeom prst="rect">
            <a:avLst/>
          </a:prstGeom>
          <a:noFill/>
        </p:spPr>
        <p:txBody>
          <a:bodyPr wrap="square" lIns="0" rIns="0" tIns="0" bIns="0">
            <a:spAutoFit/>
          </a:bodyPr>
          <a:lstStyle/>
          <a:p>
            <a:pPr algn="l"/>
            <a:r>
              <a:rPr sz="2323" b="0">
                <a:solidFill>
                  <a:srgbClr val="3D4756"/>
                </a:solidFill>
                <a:latin typeface="Calibri"/>
              </a:rPr>
              <a:t>Useful same-session personal centers do not establish stable traits.</a:t>
            </a:r>
          </a:p>
        </p:txBody>
      </p:sp>
      <p:sp>
        <p:nvSpPr>
          <p:cNvPr id="9" name="TextBox 8"/>
          <p:cNvSpPr txBox="1"/>
          <p:nvPr/>
        </p:nvSpPr>
        <p:spPr>
          <a:xfrm>
            <a:off x="777240" y="1855736"/>
            <a:ext cx="10637215" cy="767364"/>
          </a:xfrm>
          <a:prstGeom prst="rect">
            <a:avLst/>
          </a:prstGeom>
          <a:noFill/>
        </p:spPr>
        <p:txBody>
          <a:bodyPr wrap="square" lIns="0" rIns="0" tIns="0" bIns="0">
            <a:spAutoFit/>
          </a:bodyPr>
          <a:lstStyle/>
          <a:p>
            <a:pPr algn="l"/>
            <a:r>
              <a:rPr sz="2323" b="0">
                <a:solidFill>
                  <a:srgbClr val="3D4756"/>
                </a:solidFill>
                <a:latin typeface="Calibri"/>
              </a:rPr>
              <a:t>Direct context summaries beat latent linear probes on all 14 tested targets.</a:t>
            </a:r>
          </a:p>
        </p:txBody>
      </p:sp>
      <p:sp>
        <p:nvSpPr>
          <p:cNvPr id="10" name="TextBox 9"/>
          <p:cNvSpPr txBox="1"/>
          <p:nvPr/>
        </p:nvSpPr>
        <p:spPr>
          <a:xfrm>
            <a:off x="777240" y="2906434"/>
            <a:ext cx="10637215" cy="767364"/>
          </a:xfrm>
          <a:prstGeom prst="rect">
            <a:avLst/>
          </a:prstGeom>
          <a:noFill/>
        </p:spPr>
        <p:txBody>
          <a:bodyPr wrap="square" lIns="0" rIns="0" tIns="0" bIns="0">
            <a:spAutoFit/>
          </a:bodyPr>
          <a:lstStyle/>
          <a:p>
            <a:pPr algn="l"/>
            <a:r>
              <a:rPr sz="2323" b="0">
                <a:solidFill>
                  <a:srgbClr val="3D4756"/>
                </a:solidFill>
                <a:latin typeface="Calibri"/>
              </a:rPr>
              <a:t>Condition routes work, but their value depends on the task and model.</a:t>
            </a:r>
          </a:p>
        </p:txBody>
      </p:sp>
      <p:sp>
        <p:nvSpPr>
          <p:cNvPr id="11" name="TextBox 10"/>
          <p:cNvSpPr txBox="1"/>
          <p:nvPr/>
        </p:nvSpPr>
        <p:spPr>
          <a:xfrm>
            <a:off x="777240" y="3957132"/>
            <a:ext cx="10637215" cy="383682"/>
          </a:xfrm>
          <a:prstGeom prst="rect">
            <a:avLst/>
          </a:prstGeom>
          <a:noFill/>
        </p:spPr>
        <p:txBody>
          <a:bodyPr wrap="square" lIns="0" rIns="0" tIns="0" bIns="0">
            <a:spAutoFit/>
          </a:bodyPr>
          <a:lstStyle/>
          <a:p>
            <a:pPr algn="l"/>
            <a:r>
              <a:rPr sz="2323" b="0">
                <a:solidFill>
                  <a:srgbClr val="3D4756"/>
                </a:solidFill>
                <a:latin typeface="Calibri"/>
              </a:rPr>
              <a:t>Minimum-jerk decomposition remains a separate investigation.</a:t>
            </a:r>
          </a:p>
        </p:txBody>
      </p:sp>
      <p:sp>
        <p:nvSpPr>
          <p:cNvPr id="12" name="Rectangle 11"/>
          <p:cNvSpPr/>
          <p:nvPr/>
        </p:nvSpPr>
        <p:spPr>
          <a:xfrm>
            <a:off x="777240" y="4624148"/>
            <a:ext cx="10637215" cy="1340920"/>
          </a:xfrm>
          <a:prstGeom prst="rect">
            <a:avLst/>
          </a:prstGeom>
          <a:solidFill>
            <a:srgbClr val="EF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624148"/>
            <a:ext cx="106250" cy="1340920"/>
          </a:xfrm>
          <a:prstGeom prst="rect">
            <a:avLst/>
          </a:prstGeom>
          <a:solidFill>
            <a:srgbClr val="1B6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02242" y="4907482"/>
            <a:ext cx="9610127" cy="703418"/>
          </a:xfrm>
          <a:prstGeom prst="rect">
            <a:avLst/>
          </a:prstGeom>
          <a:noFill/>
        </p:spPr>
        <p:txBody>
          <a:bodyPr wrap="square" lIns="0" rIns="0" tIns="0" bIns="0">
            <a:spAutoFit/>
          </a:bodyPr>
          <a:lstStyle/>
          <a:p>
            <a:pPr algn="l"/>
            <a:r>
              <a:rPr sz="2130" b="0">
                <a:solidFill>
                  <a:srgbClr val="3D4756"/>
                </a:solidFill>
                <a:latin typeface="Calibri"/>
              </a:rPr>
              <a:t>The 31-page laboratory report retains the extended results and Jason's open questions.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104847" cy="77724"/>
          </a:xfrm>
          <a:prstGeom prst="rect">
            <a:avLst/>
          </a:prstGeom>
          <a:gradFill rotWithShape="1">
            <a:gsLst>
              <a:gs pos="0">
                <a:srgbClr val="1B6FEA"/>
              </a:gs>
              <a:gs pos="100000">
                <a:srgbClr val="17A2A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847" y="0"/>
            <a:ext cx="6104847" cy="77724"/>
          </a:xfrm>
          <a:prstGeom prst="rect">
            <a:avLst/>
          </a:prstGeom>
          <a:gradFill rotWithShape="1">
            <a:gsLst>
              <a:gs pos="0">
                <a:srgbClr val="17A2A2"/>
              </a:gs>
              <a:gs pos="100000">
                <a:srgbClr val="7A5CF0"/>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92608"/>
            <a:ext cx="8716975" cy="566928"/>
          </a:xfrm>
          <a:prstGeom prst="rect">
            <a:avLst/>
          </a:prstGeom>
          <a:noFill/>
        </p:spPr>
        <p:txBody>
          <a:bodyPr wrap="square" lIns="0" rIns="0" tIns="0" bIns="0">
            <a:spAutoFit/>
          </a:bodyPr>
          <a:lstStyle/>
          <a:p>
            <a:pPr algn="l"/>
            <a:r>
              <a:rPr sz="2400" b="1">
                <a:solidFill>
                  <a:srgbClr val="161E2E"/>
                </a:solidFill>
                <a:latin typeface="Calibri"/>
              </a:rPr>
              <a:t>Backup: launch and source navigation</a:t>
            </a:r>
          </a:p>
        </p:txBody>
      </p:sp>
      <p:sp>
        <p:nvSpPr>
          <p:cNvPr id="6" name="Rounded Rectangle 5"/>
          <p:cNvSpPr/>
          <p:nvPr/>
        </p:nvSpPr>
        <p:spPr>
          <a:xfrm>
            <a:off x="10604449" y="347472"/>
            <a:ext cx="810006" cy="327914"/>
          </a:xfrm>
          <a:prstGeom prst="roundRect">
            <a:avLst>
              <a:gd name="adj" fmla="val 50000"/>
            </a:avLst>
          </a:prstGeom>
          <a:solidFill>
            <a:srgbClr val="EF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737E8B"/>
                </a:solidFill>
                <a:latin typeface="Calibri"/>
              </a:rPr>
              <a:t>BACKUP</a:t>
            </a:r>
          </a:p>
        </p:txBody>
      </p:sp>
      <p:sp>
        <p:nvSpPr>
          <p:cNvPr id="7" name="Rectangle 6"/>
          <p:cNvSpPr/>
          <p:nvPr/>
        </p:nvSpPr>
        <p:spPr>
          <a:xfrm>
            <a:off x="777240" y="950976"/>
            <a:ext cx="10637215" cy="9525"/>
          </a:xfrm>
          <a:prstGeom prst="rect">
            <a:avLst/>
          </a:prstGeom>
          <a:solidFill>
            <a:srgbClr val="E1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188720"/>
            <a:ext cx="10637215" cy="396240"/>
          </a:xfrm>
          <a:prstGeom prst="rect">
            <a:avLst/>
          </a:prstGeom>
          <a:noFill/>
        </p:spPr>
        <p:txBody>
          <a:bodyPr wrap="square" lIns="0" rIns="0" tIns="0" bIns="0">
            <a:spAutoFit/>
          </a:bodyPr>
          <a:lstStyle/>
          <a:p>
            <a:pPr algn="l"/>
            <a:r>
              <a:rPr sz="2400" b="0">
                <a:solidFill>
                  <a:srgbClr val="3D4756"/>
                </a:solidFill>
                <a:latin typeface="Calibri"/>
              </a:rPr>
              <a:t>Repository terminal:</a:t>
            </a:r>
          </a:p>
        </p:txBody>
      </p:sp>
      <p:sp>
        <p:nvSpPr>
          <p:cNvPr id="9" name="TextBox 8"/>
          <p:cNvSpPr txBox="1"/>
          <p:nvPr/>
        </p:nvSpPr>
        <p:spPr>
          <a:xfrm>
            <a:off x="777240" y="1877568"/>
            <a:ext cx="10637215" cy="792480"/>
          </a:xfrm>
          <a:prstGeom prst="rect">
            <a:avLst/>
          </a:prstGeom>
          <a:noFill/>
        </p:spPr>
        <p:txBody>
          <a:bodyPr wrap="square" lIns="0" rIns="0" tIns="0" bIns="0">
            <a:spAutoFit/>
          </a:bodyPr>
          <a:lstStyle/>
          <a:p>
            <a:pPr algn="l"/>
            <a:r>
              <a:rPr sz="2400" b="0">
                <a:solidFill>
                  <a:srgbClr val="3D4756"/>
                </a:solidFill>
                <a:latin typeface="Calibri"/>
              </a:rPr>
              <a:t>python -m streamlit run src/confirmatory_dashboard.py --server.port 8510</a:t>
            </a:r>
          </a:p>
        </p:txBody>
      </p:sp>
      <p:sp>
        <p:nvSpPr>
          <p:cNvPr id="10" name="TextBox 9"/>
          <p:cNvSpPr txBox="1"/>
          <p:nvPr/>
        </p:nvSpPr>
        <p:spPr>
          <a:xfrm>
            <a:off x="777240" y="2962656"/>
            <a:ext cx="10637215" cy="396240"/>
          </a:xfrm>
          <a:prstGeom prst="rect">
            <a:avLst/>
          </a:prstGeom>
          <a:noFill/>
        </p:spPr>
        <p:txBody>
          <a:bodyPr wrap="square" lIns="0" rIns="0" tIns="0" bIns="0">
            <a:spAutoFit/>
          </a:bodyPr>
          <a:lstStyle/>
          <a:p>
            <a:pPr algn="l"/>
            <a:r>
              <a:rPr sz="2400" b="0">
                <a:solidFill>
                  <a:srgbClr val="3D4756"/>
                </a:solidFill>
                <a:latin typeface="Calibri"/>
              </a:rPr>
              <a:t>Browser: http://127.0.0.1:8510</a:t>
            </a:r>
          </a:p>
        </p:txBody>
      </p:sp>
      <p:sp>
        <p:nvSpPr>
          <p:cNvPr id="11" name="TextBox 10"/>
          <p:cNvSpPr txBox="1"/>
          <p:nvPr/>
        </p:nvSpPr>
        <p:spPr>
          <a:xfrm>
            <a:off x="777240" y="3651504"/>
            <a:ext cx="10637215" cy="396240"/>
          </a:xfrm>
          <a:prstGeom prst="rect">
            <a:avLst/>
          </a:prstGeom>
          <a:noFill/>
        </p:spPr>
        <p:txBody>
          <a:bodyPr wrap="square" lIns="0" rIns="0" tIns="0" bIns="0">
            <a:spAutoFit/>
          </a:bodyPr>
          <a:lstStyle/>
          <a:p>
            <a:pPr algn="l"/>
            <a:r>
              <a:rPr sz="2400" b="0">
                <a:solidFill>
                  <a:srgbClr val="3D4756"/>
                </a:solidFill>
                <a:latin typeface="Calibri"/>
              </a:rPr>
              <a:t>Stop: Ctrl+C in that terminal</a:t>
            </a:r>
          </a:p>
        </p:txBody>
      </p:sp>
      <p:sp>
        <p:nvSpPr>
          <p:cNvPr id="12" name="Rectangle 11"/>
          <p:cNvSpPr/>
          <p:nvPr/>
        </p:nvSpPr>
        <p:spPr>
          <a:xfrm>
            <a:off x="777240" y="4340352"/>
            <a:ext cx="10637215" cy="1384808"/>
          </a:xfrm>
          <a:prstGeom prst="rect">
            <a:avLst/>
          </a:prstGeom>
          <a:solidFill>
            <a:srgbClr val="EF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340352"/>
            <a:ext cx="109728" cy="1384808"/>
          </a:xfrm>
          <a:prstGeom prst="rect">
            <a:avLst/>
          </a:prstGeom>
          <a:solidFill>
            <a:srgbClr val="1B6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16152" y="4632960"/>
            <a:ext cx="9576511" cy="726440"/>
          </a:xfrm>
          <a:prstGeom prst="rect">
            <a:avLst/>
          </a:prstGeom>
          <a:noFill/>
        </p:spPr>
        <p:txBody>
          <a:bodyPr wrap="square" lIns="0" rIns="0" tIns="0" bIns="0">
            <a:spAutoFit/>
          </a:bodyPr>
          <a:lstStyle/>
          <a:p>
            <a:pPr algn="l"/>
            <a:r>
              <a:rPr sz="2200" b="0">
                <a:solidFill>
                  <a:srgbClr val="3D4756"/>
                </a:solidFill>
                <a:latin typeface="Calibri"/>
              </a:rPr>
              <a:t>The standalone dashboard archive contains launch instructions for use without the full research checkout.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